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sldIdLst>
    <p:sldId id="256" r:id="rId2"/>
    <p:sldId id="257" r:id="rId3"/>
    <p:sldId id="258" r:id="rId4"/>
    <p:sldId id="259" r:id="rId5"/>
    <p:sldId id="260" r:id="rId6"/>
    <p:sldId id="261" r:id="rId7"/>
    <p:sldId id="262" r:id="rId8"/>
    <p:sldId id="263" r:id="rId9"/>
    <p:sldId id="267" r:id="rId10"/>
    <p:sldId id="264" r:id="rId11"/>
    <p:sldId id="265" r:id="rId12"/>
    <p:sldId id="268" r:id="rId13"/>
    <p:sldId id="272" r:id="rId14"/>
    <p:sldId id="269" r:id="rId15"/>
    <p:sldId id="273" r:id="rId16"/>
    <p:sldId id="271" r:id="rId17"/>
    <p:sldId id="274" r:id="rId18"/>
    <p:sldId id="275" r:id="rId19"/>
    <p:sldId id="276" r:id="rId20"/>
    <p:sldId id="277" r:id="rId21"/>
    <p:sldId id="278" r:id="rId22"/>
    <p:sldId id="266"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4" autoAdjust="0"/>
    <p:restoredTop sz="94660"/>
  </p:normalViewPr>
  <p:slideViewPr>
    <p:cSldViewPr snapToGrid="0">
      <p:cViewPr varScale="1">
        <p:scale>
          <a:sx n="72" d="100"/>
          <a:sy n="72" d="100"/>
        </p:scale>
        <p:origin x="654"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711200" y="1371600"/>
            <a:ext cx="10468864"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711200" y="3228536"/>
            <a:ext cx="10472928"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fld id="{1C6E12D2-DA3A-480B-BCDF-BFB6C7EBE402}" type="datetimeFigureOut">
              <a:rPr lang="en-US" smtClean="0"/>
              <a:pPr/>
              <a:t>2/18/2021</a:t>
            </a:fld>
            <a:endParaRPr lang="en-US"/>
          </a:p>
        </p:txBody>
      </p:sp>
      <p:sp>
        <p:nvSpPr>
          <p:cNvPr id="19" name="Footer Placeholder 18"/>
          <p:cNvSpPr>
            <a:spLocks noGrp="1"/>
          </p:cNvSpPr>
          <p:nvPr>
            <p:ph type="ftr" sz="quarter" idx="11"/>
          </p:nvPr>
        </p:nvSpPr>
        <p:spPr/>
        <p:txBody>
          <a:bodyPr/>
          <a:lstStyle/>
          <a:p>
            <a:endParaRPr lang="en-US"/>
          </a:p>
        </p:txBody>
      </p:sp>
      <p:sp>
        <p:nvSpPr>
          <p:cNvPr id="27" name="Slide Number Placeholder 26"/>
          <p:cNvSpPr>
            <a:spLocks noGrp="1"/>
          </p:cNvSpPr>
          <p:nvPr>
            <p:ph type="sldNum" sz="quarter" idx="12"/>
          </p:nvPr>
        </p:nvSpPr>
        <p:spPr/>
        <p:txBody>
          <a:bodyPr/>
          <a:lstStyle/>
          <a:p>
            <a:fld id="{F1BBC3DF-4D3E-4D62-AC24-223E50BCC8DF}"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C6E12D2-DA3A-480B-BCDF-BFB6C7EBE402}" type="datetimeFigureOut">
              <a:rPr lang="en-US" smtClean="0"/>
              <a:pPr/>
              <a:t>2/18/2021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07136" y="1316736"/>
            <a:ext cx="103632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707136" y="2704664"/>
            <a:ext cx="103632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fld id="{1C6E12D2-DA3A-480B-BCDF-BFB6C7EBE402}" type="datetimeFigureOut">
              <a:rPr lang="en-US" smtClean="0"/>
              <a:pPr/>
              <a:t>2/18/2021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BC3DF-4D3E-4D62-AC24-223E50BCC8DF}"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704088"/>
            <a:ext cx="10972800" cy="1143000"/>
          </a:xfrm>
        </p:spPr>
        <p:txBody>
          <a:bodyPr/>
          <a:lstStyle/>
          <a:p>
            <a:r>
              <a:rPr kumimoji="0" lang="en-US"/>
              <a:t>Click to edit Master title style</a:t>
            </a:r>
          </a:p>
        </p:txBody>
      </p:sp>
      <p:sp>
        <p:nvSpPr>
          <p:cNvPr id="3" name="Content Placeholder 2"/>
          <p:cNvSpPr>
            <a:spLocks noGrp="1"/>
          </p:cNvSpPr>
          <p:nvPr>
            <p:ph sz="half" idx="1"/>
          </p:nvPr>
        </p:nvSpPr>
        <p:spPr>
          <a:xfrm>
            <a:off x="609600" y="1920085"/>
            <a:ext cx="53848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6197600" y="1920085"/>
            <a:ext cx="53848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1C6E12D2-DA3A-480B-BCDF-BFB6C7EBE402}" type="datetimeFigureOut">
              <a:rPr lang="en-US" smtClean="0"/>
              <a:pPr/>
              <a:t>2/18/2021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704088"/>
            <a:ext cx="10972800" cy="1143000"/>
          </a:xfrm>
        </p:spPr>
        <p:txBody>
          <a:bodyPr tIns="45720" anchor="b"/>
          <a:lstStyle>
            <a:lvl1pPr>
              <a:defRPr/>
            </a:lvl1pPr>
          </a:lstStyle>
          <a:p>
            <a:r>
              <a:rPr kumimoji="0" lang="en-US"/>
              <a:t>Click to edit Master title style</a:t>
            </a:r>
          </a:p>
        </p:txBody>
      </p:sp>
      <p:sp>
        <p:nvSpPr>
          <p:cNvPr id="3" name="Text Placeholder 2"/>
          <p:cNvSpPr>
            <a:spLocks noGrp="1"/>
          </p:cNvSpPr>
          <p:nvPr>
            <p:ph type="body" idx="1"/>
          </p:nvPr>
        </p:nvSpPr>
        <p:spPr>
          <a:xfrm>
            <a:off x="609600" y="1855248"/>
            <a:ext cx="5386917"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3368" y="1859758"/>
            <a:ext cx="5389033"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609600" y="2514600"/>
            <a:ext cx="5386917"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6193368" y="2514600"/>
            <a:ext cx="5389033"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1C6E12D2-DA3A-480B-BCDF-BFB6C7EBE402}" type="datetimeFigureOut">
              <a:rPr lang="en-US" smtClean="0"/>
              <a:pPr/>
              <a:t>2/18/2021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704088"/>
            <a:ext cx="110744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fld id="{1C6E12D2-DA3A-480B-BCDF-BFB6C7EBE402}" type="datetimeFigureOut">
              <a:rPr lang="en-US" smtClean="0"/>
              <a:pPr/>
              <a:t>2/18/2021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6E12D2-DA3A-480B-BCDF-BFB6C7EBE402}" type="datetimeFigureOut">
              <a:rPr lang="en-US" smtClean="0"/>
              <a:pPr/>
              <a:t>2/18/2021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14352"/>
            <a:ext cx="36576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914400" y="1676400"/>
            <a:ext cx="36576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4766733" y="1676400"/>
            <a:ext cx="6815667"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1C6E12D2-DA3A-480B-BCDF-BFB6C7EBE402}" type="datetimeFigureOut">
              <a:rPr lang="en-US" smtClean="0"/>
              <a:pPr/>
              <a:t>2/18/2021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4221004" y="1108077"/>
            <a:ext cx="70104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ight Triangle 11"/>
          <p:cNvSpPr/>
          <p:nvPr/>
        </p:nvSpPr>
        <p:spPr>
          <a:xfrm rot="420000" flipV="1">
            <a:off x="10672179" y="5359769"/>
            <a:ext cx="207264"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812800" y="1176997"/>
            <a:ext cx="2950464" cy="1582621"/>
          </a:xfrm>
        </p:spPr>
        <p:txBody>
          <a:bodyPr vert="horz" lIns="45720" tIns="45720" rIns="45720" bIns="45720" anchor="b"/>
          <a:lstStyle>
            <a:lvl1pPr algn="l">
              <a:buNone/>
              <a:defRPr sz="20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812800" y="2828785"/>
            <a:ext cx="29464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1C6E12D2-DA3A-480B-BCDF-BFB6C7EBE402}" type="datetimeFigureOut">
              <a:rPr lang="en-US" smtClean="0"/>
              <a:pPr/>
              <a:t>2/18/2021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69600" y="6356351"/>
            <a:ext cx="812800" cy="365125"/>
          </a:xfrm>
        </p:spPr>
        <p:txBody>
          <a:bodyPr/>
          <a:lstStyle/>
          <a:p>
            <a:fld id="{F1BBC3DF-4D3E-4D62-AC24-223E50BCC8DF}" type="slidenum">
              <a:rPr lang="en-US" smtClean="0"/>
              <a:pPr/>
              <a:t>‹#›</a:t>
            </a:fld>
            <a:endParaRPr lang="en-US"/>
          </a:p>
        </p:txBody>
      </p:sp>
      <p:sp>
        <p:nvSpPr>
          <p:cNvPr id="3" name="Picture Placeholder 2"/>
          <p:cNvSpPr>
            <a:spLocks noGrp="1"/>
          </p:cNvSpPr>
          <p:nvPr>
            <p:ph type="pic" idx="1"/>
          </p:nvPr>
        </p:nvSpPr>
        <p:spPr>
          <a:xfrm rot="420000">
            <a:off x="4647724" y="1199517"/>
            <a:ext cx="615696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a:t>Click icon to add picture</a:t>
            </a:r>
            <a:endParaRPr kumimoji="0" lang="en-US" dirty="0"/>
          </a:p>
        </p:txBody>
      </p:sp>
      <p:sp>
        <p:nvSpPr>
          <p:cNvPr id="10" name="Freeform 9"/>
          <p:cNvSpPr>
            <a:spLocks/>
          </p:cNvSpPr>
          <p:nvPr/>
        </p:nvSpPr>
        <p:spPr bwMode="auto">
          <a:xfrm flipV="1">
            <a:off x="-12700" y="5816600"/>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5842000" y="6219826"/>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C6E12D2-DA3A-480B-BCDF-BFB6C7EBE402}" type="datetimeFigureOut">
              <a:rPr lang="en-US" smtClean="0"/>
              <a:pPr/>
              <a:t>2/18/2021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914402"/>
            <a:ext cx="2743200" cy="52117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914402"/>
            <a:ext cx="8026400" cy="5211763"/>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C6E12D2-DA3A-480B-BCDF-BFB6C7EBE402}" type="datetimeFigureOut">
              <a:rPr lang="en-US" smtClean="0"/>
              <a:pPr/>
              <a:t>2/18/2021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BC3DF-4D3E-4D62-AC24-223E50BCC8DF}"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12700" y="-7144"/>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5842000" y="-7144"/>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609600" y="704088"/>
            <a:ext cx="10972800" cy="1143000"/>
          </a:xfrm>
          <a:prstGeom prst="rect">
            <a:avLst/>
          </a:prstGeom>
        </p:spPr>
        <p:txBody>
          <a:bodyPr vert="horz" lIns="0" rIns="0" bIns="0" anchor="b">
            <a:normAutofit/>
          </a:bodyPr>
          <a:lstStyle/>
          <a:p>
            <a:r>
              <a:rPr kumimoji="0" lang="en-US"/>
              <a:t>Click to edit Master title style</a:t>
            </a:r>
          </a:p>
        </p:txBody>
      </p:sp>
      <p:sp>
        <p:nvSpPr>
          <p:cNvPr id="30" name="Text Placeholder 29"/>
          <p:cNvSpPr>
            <a:spLocks noGrp="1"/>
          </p:cNvSpPr>
          <p:nvPr>
            <p:ph type="body" idx="1"/>
          </p:nvPr>
        </p:nvSpPr>
        <p:spPr>
          <a:xfrm>
            <a:off x="609600" y="1935480"/>
            <a:ext cx="10972800" cy="438912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609600" y="6356351"/>
            <a:ext cx="2844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fld id="{1C6E12D2-DA3A-480B-BCDF-BFB6C7EBE402}" type="datetimeFigureOut">
              <a:rPr lang="en-US" smtClean="0"/>
              <a:pPr/>
              <a:t>2/18/2021</a:t>
            </a:fld>
            <a:endParaRPr lang="en-US"/>
          </a:p>
        </p:txBody>
      </p:sp>
      <p:sp>
        <p:nvSpPr>
          <p:cNvPr id="22" name="Footer Placeholder 21"/>
          <p:cNvSpPr>
            <a:spLocks noGrp="1"/>
          </p:cNvSpPr>
          <p:nvPr>
            <p:ph type="ftr" sz="quarter" idx="3"/>
          </p:nvPr>
        </p:nvSpPr>
        <p:spPr>
          <a:xfrm>
            <a:off x="3556000" y="6356351"/>
            <a:ext cx="44704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endParaRPr lang="en-US"/>
          </a:p>
        </p:txBody>
      </p:sp>
      <p:sp>
        <p:nvSpPr>
          <p:cNvPr id="18" name="Slide Number Placeholder 17"/>
          <p:cNvSpPr>
            <a:spLocks noGrp="1"/>
          </p:cNvSpPr>
          <p:nvPr>
            <p:ph type="sldNum" sz="quarter" idx="4"/>
          </p:nvPr>
        </p:nvSpPr>
        <p:spPr>
          <a:xfrm>
            <a:off x="10566400" y="6356351"/>
            <a:ext cx="1016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fld id="{F1BBC3DF-4D3E-4D62-AC24-223E50BCC8DF}" type="slidenum">
              <a:rPr lang="en-US" smtClean="0"/>
              <a:pPr/>
              <a:t>‹#›</a:t>
            </a:fld>
            <a:endParaRPr lang="en-US"/>
          </a:p>
        </p:txBody>
      </p:sp>
      <p:grpSp>
        <p:nvGrpSpPr>
          <p:cNvPr id="2" name="Group 1"/>
          <p:cNvGrpSpPr/>
          <p:nvPr/>
        </p:nvGrpSpPr>
        <p:grpSpPr>
          <a:xfrm>
            <a:off x="-25356" y="202408"/>
            <a:ext cx="12240731"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Lst>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7D079-2B1B-40AF-AEBC-3D4705E15124}"/>
              </a:ext>
            </a:extLst>
          </p:cNvPr>
          <p:cNvSpPr>
            <a:spLocks noGrp="1"/>
          </p:cNvSpPr>
          <p:nvPr>
            <p:ph type="ctrTitle"/>
          </p:nvPr>
        </p:nvSpPr>
        <p:spPr>
          <a:xfrm>
            <a:off x="2692398" y="2255444"/>
            <a:ext cx="6815669" cy="1515533"/>
          </a:xfrm>
        </p:spPr>
        <p:txBody>
          <a:bodyPr>
            <a:normAutofit fontScale="90000"/>
          </a:bodyPr>
          <a:lstStyle/>
          <a:p>
            <a:r>
              <a:rPr lang="en-US" dirty="0"/>
              <a:t>EMPLOYEE MANAGEMENT SYSTEM</a:t>
            </a:r>
          </a:p>
        </p:txBody>
      </p:sp>
      <p:sp>
        <p:nvSpPr>
          <p:cNvPr id="3" name="Subtitle 2">
            <a:extLst>
              <a:ext uri="{FF2B5EF4-FFF2-40B4-BE49-F238E27FC236}">
                <a16:creationId xmlns:a16="http://schemas.microsoft.com/office/drawing/2014/main" id="{B9534E64-7AE3-404E-B86A-B8C0536DD8AE}"/>
              </a:ext>
            </a:extLst>
          </p:cNvPr>
          <p:cNvSpPr>
            <a:spLocks noGrp="1"/>
          </p:cNvSpPr>
          <p:nvPr>
            <p:ph type="subTitle" idx="1"/>
          </p:nvPr>
        </p:nvSpPr>
        <p:spPr>
          <a:xfrm>
            <a:off x="2692398" y="3962397"/>
            <a:ext cx="6815669" cy="1320802"/>
          </a:xfrm>
        </p:spPr>
        <p:txBody>
          <a:bodyPr/>
          <a:lstStyle/>
          <a:p>
            <a:endParaRPr lang="en-US" dirty="0"/>
          </a:p>
        </p:txBody>
      </p:sp>
    </p:spTree>
    <p:extLst>
      <p:ext uri="{BB962C8B-B14F-4D97-AF65-F5344CB8AC3E}">
        <p14:creationId xmlns:p14="http://schemas.microsoft.com/office/powerpoint/2010/main" val="1547292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DFE3D-CF41-4632-AEB2-4BE6F92E974B}"/>
              </a:ext>
            </a:extLst>
          </p:cNvPr>
          <p:cNvSpPr>
            <a:spLocks noGrp="1"/>
          </p:cNvSpPr>
          <p:nvPr>
            <p:ph type="title"/>
          </p:nvPr>
        </p:nvSpPr>
        <p:spPr/>
        <p:txBody>
          <a:bodyPr/>
          <a:lstStyle/>
          <a:p>
            <a:r>
              <a:rPr lang="en-US" dirty="0"/>
              <a:t>ABSTRACT</a:t>
            </a:r>
          </a:p>
        </p:txBody>
      </p:sp>
      <p:sp>
        <p:nvSpPr>
          <p:cNvPr id="3" name="Content Placeholder 2">
            <a:extLst>
              <a:ext uri="{FF2B5EF4-FFF2-40B4-BE49-F238E27FC236}">
                <a16:creationId xmlns:a16="http://schemas.microsoft.com/office/drawing/2014/main" id="{5854B835-7BC2-467F-A535-7DE21884A81B}"/>
              </a:ext>
            </a:extLst>
          </p:cNvPr>
          <p:cNvSpPr>
            <a:spLocks noGrp="1"/>
          </p:cNvSpPr>
          <p:nvPr>
            <p:ph idx="1"/>
          </p:nvPr>
        </p:nvSpPr>
        <p:spPr/>
        <p:txBody>
          <a:bodyPr>
            <a:normAutofit/>
          </a:bodyPr>
          <a:lstStyle/>
          <a:p>
            <a:r>
              <a:rPr lang="en-US" sz="1800" dirty="0">
                <a:latin typeface="Calibri" panose="020F0502020204030204" pitchFamily="34" charset="0"/>
                <a:ea typeface="Times New Roman" panose="02020603050405020304" pitchFamily="18" charset="0"/>
                <a:cs typeface="Calibri" panose="020F0502020204030204" pitchFamily="34" charset="0"/>
              </a:rPr>
              <a:t>Employee management System is a distributed application, developed to maintain the details of employees working in any organization. It maintains the information about the personal details of their employees, also the details about the payroll system which enable to generate the pay slip.</a:t>
            </a:r>
          </a:p>
          <a:p>
            <a:r>
              <a:rPr lang="en-US" sz="1800" dirty="0">
                <a:latin typeface="Calibri" panose="020F0502020204030204" pitchFamily="34" charset="0"/>
                <a:ea typeface="Times New Roman" panose="02020603050405020304" pitchFamily="18" charset="0"/>
                <a:cs typeface="Calibri" panose="020F0502020204030204" pitchFamily="34" charset="0"/>
              </a:rPr>
              <a:t> The application is actually a suite of applications developed using Java. This software package has been developed using the powerful coding tools of JAVA at Front End and Microsoft </a:t>
            </a:r>
            <a:r>
              <a:rPr lang="en-US" sz="1800" dirty="0" err="1">
                <a:latin typeface="Calibri" panose="020F0502020204030204" pitchFamily="34" charset="0"/>
                <a:ea typeface="Times New Roman" panose="02020603050405020304" pitchFamily="18" charset="0"/>
                <a:cs typeface="Calibri" panose="020F0502020204030204" pitchFamily="34" charset="0"/>
              </a:rPr>
              <a:t>Sql</a:t>
            </a:r>
            <a:r>
              <a:rPr lang="en-US" sz="1800" dirty="0">
                <a:latin typeface="Calibri" panose="020F0502020204030204" pitchFamily="34" charset="0"/>
                <a:ea typeface="Times New Roman" panose="02020603050405020304" pitchFamily="18" charset="0"/>
                <a:cs typeface="Calibri" panose="020F0502020204030204" pitchFamily="34" charset="0"/>
              </a:rPr>
              <a:t> Server at Back End . </a:t>
            </a:r>
          </a:p>
          <a:p>
            <a:r>
              <a:rPr lang="en-US" sz="1800" dirty="0">
                <a:latin typeface="Calibri" panose="020F0502020204030204" pitchFamily="34" charset="0"/>
                <a:ea typeface="Times New Roman" panose="02020603050405020304" pitchFamily="18" charset="0"/>
                <a:cs typeface="Calibri" panose="020F0502020204030204" pitchFamily="34" charset="0"/>
              </a:rPr>
              <a:t>The software is very user friendly. The package contains different modules like Employee details. Employee management system is an application that enables users to create and store Employee Records. The application also provides facilities of a payroll system which enables user to generate Pay slips too.</a:t>
            </a:r>
          </a:p>
          <a:p>
            <a:r>
              <a:rPr lang="en-US" sz="1800" dirty="0">
                <a:latin typeface="Calibri" panose="020F0502020204030204" pitchFamily="34" charset="0"/>
                <a:ea typeface="Times New Roman" panose="02020603050405020304" pitchFamily="18" charset="0"/>
                <a:cs typeface="Calibri" panose="020F0502020204030204" pitchFamily="34" charset="0"/>
              </a:rPr>
              <a:t> This application is helpful to department of the organization which maintains data of employees related to an organization .</a:t>
            </a:r>
            <a:endParaRPr lang="en-IN" sz="1800" dirty="0">
              <a:latin typeface="Calibri" panose="020F0502020204030204" pitchFamily="34" charset="0"/>
              <a:ea typeface="Times New Roman" panose="02020603050405020304" pitchFamily="18" charset="0"/>
              <a:cs typeface="Calibri" panose="020F0502020204030204" pitchFamily="34" charset="0"/>
            </a:endParaRPr>
          </a:p>
        </p:txBody>
      </p:sp>
    </p:spTree>
    <p:extLst>
      <p:ext uri="{BB962C8B-B14F-4D97-AF65-F5344CB8AC3E}">
        <p14:creationId xmlns:p14="http://schemas.microsoft.com/office/powerpoint/2010/main" val="1446555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8D01C-8D37-4F3A-B329-D9C66B48A509}"/>
              </a:ext>
            </a:extLst>
          </p:cNvPr>
          <p:cNvSpPr>
            <a:spLocks noGrp="1"/>
          </p:cNvSpPr>
          <p:nvPr>
            <p:ph type="title"/>
          </p:nvPr>
        </p:nvSpPr>
        <p:spPr/>
        <p:txBody>
          <a:bodyPr/>
          <a:lstStyle/>
          <a:p>
            <a:r>
              <a:rPr lang="en-US" sz="1800" b="1" dirty="0">
                <a:effectLst/>
                <a:latin typeface="Times New Roman" panose="02020603050405020304" pitchFamily="18" charset="0"/>
                <a:ea typeface="Calibri" panose="020F0502020204030204" pitchFamily="34" charset="0"/>
              </a:rPr>
              <a:t> HARDWARE SPECFICATION</a:t>
            </a:r>
            <a:endParaRPr lang="en-US" dirty="0"/>
          </a:p>
        </p:txBody>
      </p:sp>
      <p:sp>
        <p:nvSpPr>
          <p:cNvPr id="3" name="Content Placeholder 2">
            <a:extLst>
              <a:ext uri="{FF2B5EF4-FFF2-40B4-BE49-F238E27FC236}">
                <a16:creationId xmlns:a16="http://schemas.microsoft.com/office/drawing/2014/main" id="{D5EC0356-6C79-4D24-998C-29DE6C39D1B9}"/>
              </a:ext>
            </a:extLst>
          </p:cNvPr>
          <p:cNvSpPr>
            <a:spLocks noGrp="1"/>
          </p:cNvSpPr>
          <p:nvPr>
            <p:ph idx="1"/>
          </p:nvPr>
        </p:nvSpPr>
        <p:spPr/>
        <p:txBody>
          <a:bodyPr/>
          <a:lstStyle/>
          <a:p>
            <a:pPr marL="342900" marR="0" lvl="0" indent="-342900">
              <a:lnSpc>
                <a:spcPct val="150000"/>
              </a:lnSpc>
              <a:spcBef>
                <a:spcPts val="0"/>
              </a:spcBef>
              <a:spcAft>
                <a:spcPts val="1000"/>
              </a:spcAft>
              <a:buSzPts val="1200"/>
              <a:buFont typeface="Wingdings" panose="05000000000000000000" pitchFamily="2" charset="2"/>
              <a:buChar char=""/>
              <a:tabLst>
                <a:tab pos="266700" algn="l"/>
              </a:tabLst>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Processor				:  P 4 700 GHz.</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SzPts val="1200"/>
              <a:buFont typeface="Wingdings" panose="05000000000000000000" pitchFamily="2" charset="2"/>
              <a:buChar char=""/>
              <a:tabLst>
                <a:tab pos="266700" algn="l"/>
              </a:tabLst>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RAM					:  4 GB RAM</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SzPts val="1200"/>
              <a:buFont typeface="Wingdings" panose="05000000000000000000" pitchFamily="2" charset="2"/>
              <a:buChar char=""/>
              <a:tabLst>
                <a:tab pos="266700" algn="l"/>
              </a:tabLst>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Hard Disk Drive			:  180 GB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448134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503AC-872F-4E85-AEE2-7A8E7C5BC087}"/>
              </a:ext>
            </a:extLst>
          </p:cNvPr>
          <p:cNvSpPr>
            <a:spLocks noGrp="1"/>
          </p:cNvSpPr>
          <p:nvPr>
            <p:ph type="title"/>
          </p:nvPr>
        </p:nvSpPr>
        <p:spPr/>
        <p:txBody>
          <a:bodyPr/>
          <a:lstStyle/>
          <a:p>
            <a:r>
              <a:rPr lang="en-US" sz="1800" b="1" dirty="0">
                <a:latin typeface="Times New Roman" panose="02020603050405020304" pitchFamily="18" charset="0"/>
                <a:ea typeface="Calibri" panose="020F0502020204030204" pitchFamily="34" charset="0"/>
              </a:rPr>
              <a:t> SOFTWARE SPECIFICATION</a:t>
            </a:r>
            <a:br>
              <a:rPr lang="en-US" sz="1800" dirty="0">
                <a:effectLst/>
                <a:latin typeface="Times New Roman" panose="02020603050405020304" pitchFamily="18" charset="0"/>
                <a:ea typeface="Times New Roman" panose="02020603050405020304" pitchFamily="18" charset="0"/>
              </a:rPr>
            </a:br>
            <a:endParaRPr lang="en-US" dirty="0"/>
          </a:p>
        </p:txBody>
      </p:sp>
      <p:sp>
        <p:nvSpPr>
          <p:cNvPr id="3" name="Content Placeholder 2">
            <a:extLst>
              <a:ext uri="{FF2B5EF4-FFF2-40B4-BE49-F238E27FC236}">
                <a16:creationId xmlns:a16="http://schemas.microsoft.com/office/drawing/2014/main" id="{7F785B1C-3FC4-43FE-88A7-4F680B15B227}"/>
              </a:ext>
            </a:extLst>
          </p:cNvPr>
          <p:cNvSpPr>
            <a:spLocks noGrp="1"/>
          </p:cNvSpPr>
          <p:nvPr>
            <p:ph idx="1"/>
          </p:nvPr>
        </p:nvSpPr>
        <p:spPr/>
        <p:txBody>
          <a:bodyPr/>
          <a:lstStyle/>
          <a:p>
            <a:pPr marL="342900" marR="0" lvl="0" indent="-342900">
              <a:lnSpc>
                <a:spcPct val="150000"/>
              </a:lnSpc>
              <a:spcBef>
                <a:spcPts val="0"/>
              </a:spcBef>
              <a:spcAft>
                <a:spcPts val="1000"/>
              </a:spcAft>
              <a:buFont typeface="Symbol" panose="05050102010706020507" pitchFamily="18" charset="2"/>
              <a:buChar char=""/>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Operating System 			:  Windows 7/8/10</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Font typeface="Symbol" panose="05050102010706020507" pitchFamily="18" charset="2"/>
              <a:buChar char=""/>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Front End					:  JAVA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Font typeface="Symbol" panose="05050102010706020507" pitchFamily="18" charset="2"/>
              <a:buChar char=""/>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Back End					:  SQL</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13000"/>
              </a:lnSpc>
              <a:spcAft>
                <a:spcPts val="1000"/>
              </a:spcAft>
              <a:buNone/>
            </a:pPr>
            <a:br>
              <a:rPr lang="en-US" sz="1800" b="1" dirty="0">
                <a:effectLst/>
                <a:latin typeface="Times New Roman" panose="02020603050405020304" pitchFamily="18" charset="0"/>
                <a:ea typeface="Calibri" panose="020F0502020204030204" pitchFamily="34" charset="0"/>
              </a:rPr>
            </a:b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447836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6AEBB-53AB-4615-9F17-8505694A5C4F}"/>
              </a:ext>
            </a:extLst>
          </p:cNvPr>
          <p:cNvSpPr>
            <a:spLocks noGrp="1"/>
          </p:cNvSpPr>
          <p:nvPr>
            <p:ph type="title"/>
          </p:nvPr>
        </p:nvSpPr>
        <p:spPr/>
        <p:txBody>
          <a:bodyPr/>
          <a:lstStyle/>
          <a:p>
            <a:r>
              <a:rPr lang="en-US" dirty="0"/>
              <a:t>EXISTING SYSTEM</a:t>
            </a:r>
          </a:p>
        </p:txBody>
      </p:sp>
      <p:sp>
        <p:nvSpPr>
          <p:cNvPr id="3" name="Content Placeholder 2">
            <a:extLst>
              <a:ext uri="{FF2B5EF4-FFF2-40B4-BE49-F238E27FC236}">
                <a16:creationId xmlns:a16="http://schemas.microsoft.com/office/drawing/2014/main" id="{B678DDFF-0C1F-4E6A-A7AF-6FD81C2BA9CF}"/>
              </a:ext>
            </a:extLst>
          </p:cNvPr>
          <p:cNvSpPr>
            <a:spLocks noGrp="1"/>
          </p:cNvSpPr>
          <p:nvPr>
            <p:ph idx="1"/>
          </p:nvPr>
        </p:nvSpPr>
        <p:spPr/>
        <p:txBody>
          <a:bodyPr>
            <a:normAutofit/>
          </a:bodyPr>
          <a:lstStyle/>
          <a:p>
            <a:r>
              <a:rPr lang="en-US" sz="1800" dirty="0">
                <a:latin typeface="Calibri" panose="020F0502020204030204" pitchFamily="34" charset="0"/>
                <a:ea typeface="Times New Roman" panose="02020603050405020304" pitchFamily="18" charset="0"/>
              </a:rPr>
              <a:t>In this existing system very hard to managing the employees manually. Sometimes it has taken more to search one particular employees. This will take too much time to find one employee. </a:t>
            </a:r>
          </a:p>
          <a:p>
            <a:endParaRPr lang="en-IN" sz="1800" dirty="0">
              <a:latin typeface="Calibri" panose="020F0502020204030204" pitchFamily="34" charset="0"/>
              <a:ea typeface="Times New Roman" panose="02020603050405020304" pitchFamily="18" charset="0"/>
            </a:endParaRPr>
          </a:p>
          <a:p>
            <a:pPr marL="0" indent="0">
              <a:buNone/>
            </a:pPr>
            <a:r>
              <a:rPr lang="en-US" sz="1800" b="1" kern="100" dirty="0">
                <a:latin typeface="Times New Roman" panose="02020603050405020304" pitchFamily="18" charset="0"/>
              </a:rPr>
              <a:t>Disadvantages</a:t>
            </a:r>
          </a:p>
          <a:p>
            <a:pPr marL="0" indent="0">
              <a:buNone/>
            </a:pPr>
            <a:endParaRPr lang="en-US" sz="1800" b="1" kern="100" dirty="0">
              <a:latin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It takes too much time to find employee</a:t>
            </a:r>
            <a:endParaRPr lang="en-IN" sz="1800" dirty="0">
              <a:latin typeface="Calibri" panose="020F0502020204030204" pitchFamily="34" charset="0"/>
              <a:ea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Can’t handle employee working hours</a:t>
            </a:r>
            <a:endParaRPr lang="en-IN" sz="1800" dirty="0">
              <a:latin typeface="Calibri" panose="020F0502020204030204" pitchFamily="34" charset="0"/>
              <a:ea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We can’t track the employee </a:t>
            </a:r>
            <a:endParaRPr lang="en-IN" sz="1800" dirty="0">
              <a:latin typeface="Calibri" panose="020F0502020204030204" pitchFamily="34" charset="0"/>
              <a:ea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Wasting paper based period</a:t>
            </a:r>
            <a:endParaRPr lang="en-IN" sz="1800" dirty="0">
              <a:latin typeface="Calibri" panose="020F0502020204030204" pitchFamily="34" charset="0"/>
              <a:ea typeface="Times New Roman" panose="02020603050405020304" pitchFamily="18" charset="0"/>
            </a:endParaRPr>
          </a:p>
          <a:p>
            <a:pPr marL="0" indent="0">
              <a:buNone/>
            </a:pPr>
            <a:endParaRPr lang="en-US" dirty="0"/>
          </a:p>
        </p:txBody>
      </p:sp>
    </p:spTree>
    <p:extLst>
      <p:ext uri="{BB962C8B-B14F-4D97-AF65-F5344CB8AC3E}">
        <p14:creationId xmlns:p14="http://schemas.microsoft.com/office/powerpoint/2010/main" val="159029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4710-71A8-410A-85F1-3F6B0BE3FAC7}"/>
              </a:ext>
            </a:extLst>
          </p:cNvPr>
          <p:cNvSpPr>
            <a:spLocks noGrp="1"/>
          </p:cNvSpPr>
          <p:nvPr>
            <p:ph type="title"/>
          </p:nvPr>
        </p:nvSpPr>
        <p:spPr/>
        <p:txBody>
          <a:bodyPr/>
          <a:lstStyle/>
          <a:p>
            <a:r>
              <a:rPr lang="en-US" dirty="0"/>
              <a:t>PROPOSED SYSTEM</a:t>
            </a:r>
          </a:p>
        </p:txBody>
      </p:sp>
      <p:sp>
        <p:nvSpPr>
          <p:cNvPr id="3" name="Content Placeholder 2">
            <a:extLst>
              <a:ext uri="{FF2B5EF4-FFF2-40B4-BE49-F238E27FC236}">
                <a16:creationId xmlns:a16="http://schemas.microsoft.com/office/drawing/2014/main" id="{76E19CB4-FA1C-4ED5-AFF1-B82455ED53A4}"/>
              </a:ext>
            </a:extLst>
          </p:cNvPr>
          <p:cNvSpPr>
            <a:spLocks noGrp="1"/>
          </p:cNvSpPr>
          <p:nvPr>
            <p:ph idx="1"/>
          </p:nvPr>
        </p:nvSpPr>
        <p:spPr/>
        <p:txBody>
          <a:bodyPr>
            <a:normAutofit/>
          </a:bodyPr>
          <a:lstStyle/>
          <a:p>
            <a:pPr marL="0" indent="0">
              <a:buNone/>
            </a:pPr>
            <a:r>
              <a:rPr lang="en-US" sz="1800" dirty="0">
                <a:effectLst/>
                <a:latin typeface="Calibri" panose="020F0502020204030204" pitchFamily="34" charset="0"/>
                <a:ea typeface="Times New Roman" panose="02020603050405020304" pitchFamily="18" charset="0"/>
              </a:rPr>
              <a:t>	</a:t>
            </a:r>
            <a:r>
              <a:rPr lang="en-US" sz="1800" dirty="0">
                <a:latin typeface="Calibri" panose="020F0502020204030204" pitchFamily="34" charset="0"/>
                <a:ea typeface="Times New Roman" panose="02020603050405020304" pitchFamily="18" charset="0"/>
              </a:rPr>
              <a:t>This system will be overcome these kind of issue, which makes to find and employees details at any time. We can track the employee immediately.  We can easily find the employee working hours also which may helps to find the employee who are taken leave on that day.</a:t>
            </a:r>
            <a:endParaRPr lang="en-IN" sz="1800" dirty="0">
              <a:latin typeface="Calibri" panose="020F0502020204030204" pitchFamily="34" charset="0"/>
              <a:ea typeface="Times New Roman" panose="02020603050405020304" pitchFamily="18" charset="0"/>
            </a:endParaRPr>
          </a:p>
          <a:p>
            <a:pPr marL="0" indent="0">
              <a:buNone/>
            </a:pPr>
            <a:endParaRPr lang="en-US" sz="1800" dirty="0">
              <a:effectLst/>
              <a:latin typeface="Calibri" panose="020F0502020204030204" pitchFamily="34" charset="0"/>
              <a:ea typeface="Times New Roman" panose="02020603050405020304" pitchFamily="18" charset="0"/>
            </a:endParaRPr>
          </a:p>
          <a:p>
            <a:pPr marL="0" indent="0">
              <a:buNone/>
            </a:pPr>
            <a:r>
              <a:rPr lang="en-US" sz="1800" b="1" kern="100" dirty="0">
                <a:latin typeface="Times New Roman" panose="02020603050405020304" pitchFamily="18" charset="0"/>
              </a:rPr>
              <a:t>Advantages</a:t>
            </a:r>
          </a:p>
          <a:p>
            <a:pPr marL="0" indent="0">
              <a:buNone/>
            </a:pPr>
            <a:endParaRPr lang="en-US" sz="1800" b="1" kern="100" dirty="0">
              <a:latin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Tracking employees details</a:t>
            </a:r>
            <a:endParaRPr lang="en-IN" sz="1800" dirty="0">
              <a:latin typeface="Calibri" panose="020F0502020204030204" pitchFamily="34" charset="0"/>
              <a:ea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Attractive interface</a:t>
            </a:r>
            <a:endParaRPr lang="en-IN" sz="1800" dirty="0">
              <a:latin typeface="Calibri" panose="020F0502020204030204" pitchFamily="34" charset="0"/>
              <a:ea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Every one can using this software.</a:t>
            </a:r>
            <a:endParaRPr lang="en-IN" sz="1800" dirty="0">
              <a:latin typeface="Calibri" panose="020F0502020204030204" pitchFamily="34" charset="0"/>
              <a:ea typeface="Times New Roman" panose="02020603050405020304" pitchFamily="18" charset="0"/>
            </a:endParaRPr>
          </a:p>
          <a:p>
            <a:pPr lvl="0"/>
            <a:r>
              <a:rPr lang="en-US" sz="1800" dirty="0">
                <a:latin typeface="Calibri" panose="020F0502020204030204" pitchFamily="34" charset="0"/>
                <a:ea typeface="Times New Roman" panose="02020603050405020304" pitchFamily="18" charset="0"/>
              </a:rPr>
              <a:t>Low cost and high benefit</a:t>
            </a:r>
            <a:endParaRPr lang="en-IN" sz="1800" dirty="0">
              <a:latin typeface="Calibri" panose="020F0502020204030204" pitchFamily="34" charset="0"/>
              <a:ea typeface="Times New Roman" panose="02020603050405020304" pitchFamily="18" charset="0"/>
            </a:endParaRPr>
          </a:p>
          <a:p>
            <a:pPr marL="0" indent="0">
              <a:buNone/>
            </a:pPr>
            <a:endParaRPr lang="en-US" b="1" dirty="0"/>
          </a:p>
        </p:txBody>
      </p:sp>
    </p:spTree>
    <p:extLst>
      <p:ext uri="{BB962C8B-B14F-4D97-AF65-F5344CB8AC3E}">
        <p14:creationId xmlns:p14="http://schemas.microsoft.com/office/powerpoint/2010/main" val="1860635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82E879-44E2-4AFC-91C1-A644CA698A8B}"/>
              </a:ext>
            </a:extLst>
          </p:cNvPr>
          <p:cNvSpPr>
            <a:spLocks noGrp="1"/>
          </p:cNvSpPr>
          <p:nvPr>
            <p:ph type="title"/>
          </p:nvPr>
        </p:nvSpPr>
        <p:spPr/>
        <p:txBody>
          <a:bodyPr/>
          <a:lstStyle/>
          <a:p>
            <a:r>
              <a:rPr lang="en-US" dirty="0"/>
              <a:t>Modules</a:t>
            </a:r>
          </a:p>
        </p:txBody>
      </p:sp>
      <p:sp>
        <p:nvSpPr>
          <p:cNvPr id="3" name="Content Placeholder 2">
            <a:extLst>
              <a:ext uri="{FF2B5EF4-FFF2-40B4-BE49-F238E27FC236}">
                <a16:creationId xmlns:a16="http://schemas.microsoft.com/office/drawing/2014/main" id="{C08555ED-5306-4AC3-82F6-94DC618DC81F}"/>
              </a:ext>
            </a:extLst>
          </p:cNvPr>
          <p:cNvSpPr>
            <a:spLocks noGrp="1"/>
          </p:cNvSpPr>
          <p:nvPr>
            <p:ph idx="1"/>
          </p:nvPr>
        </p:nvSpPr>
        <p:spPr/>
        <p:txBody>
          <a:bodyPr>
            <a:normAutofit/>
          </a:bodyPr>
          <a:lstStyle/>
          <a:p>
            <a:pPr lvl="0"/>
            <a:endParaRPr lang="en-US" sz="1800" dirty="0">
              <a:latin typeface="Calibri" panose="020F0502020204030204" pitchFamily="34" charset="0"/>
              <a:ea typeface="Times New Roman" panose="02020603050405020304" pitchFamily="18" charset="0"/>
              <a:cs typeface="Calibri" panose="020F0502020204030204" pitchFamily="34" charset="0"/>
            </a:endParaRPr>
          </a:p>
          <a:p>
            <a:pPr marL="342900" marR="0" lvl="0" indent="-342900">
              <a:lnSpc>
                <a:spcPct val="150000"/>
              </a:lnSpc>
              <a:spcBef>
                <a:spcPts val="0"/>
              </a:spcBef>
              <a:spcAft>
                <a:spcPts val="1000"/>
              </a:spcAft>
              <a:buFont typeface="+mj-lt"/>
              <a:buAutoNum type="arabicPeriod"/>
            </a:pPr>
            <a:r>
              <a:rPr lang="en-US" sz="1800"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Login Module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Font typeface="+mj-lt"/>
              <a:buAutoNum type="arabicPeriod"/>
            </a:pPr>
            <a:r>
              <a:rPr lang="en-US" sz="1800"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Employee Registration</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Font typeface="+mj-lt"/>
              <a:buAutoNum type="arabicPeriod"/>
            </a:pPr>
            <a:r>
              <a:rPr lang="en-US" sz="1800"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Leave type entry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Font typeface="+mj-lt"/>
              <a:buAutoNum type="arabicPeriod"/>
            </a:pPr>
            <a:r>
              <a:rPr lang="en-US" sz="1800"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Leave Module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a:buNone/>
            </a:pPr>
            <a:endParaRPr lang="en-US" sz="1800" dirty="0">
              <a:latin typeface="Calibri" panose="020F0502020204030204" pitchFamily="34" charset="0"/>
              <a:ea typeface="Times New Roman" panose="02020603050405020304" pitchFamily="18" charset="0"/>
              <a:cs typeface="Calibri" panose="020F0502020204030204" pitchFamily="34" charset="0"/>
            </a:endParaRPr>
          </a:p>
          <a:p>
            <a:endParaRPr lang="en-IN" sz="1800" dirty="0"/>
          </a:p>
        </p:txBody>
      </p:sp>
    </p:spTree>
    <p:extLst>
      <p:ext uri="{BB962C8B-B14F-4D97-AF65-F5344CB8AC3E}">
        <p14:creationId xmlns:p14="http://schemas.microsoft.com/office/powerpoint/2010/main" val="4215025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0C2D7-81D8-4BA8-8D90-F0EA842C950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B8F9E25-F29C-4FEA-ACB4-6D6057146BE7}"/>
              </a:ext>
            </a:extLst>
          </p:cNvPr>
          <p:cNvSpPr>
            <a:spLocks noGrp="1"/>
          </p:cNvSpPr>
          <p:nvPr>
            <p:ph idx="1"/>
          </p:nvPr>
        </p:nvSpPr>
        <p:spPr/>
        <p:txBody>
          <a:bodyPr>
            <a:normAutofit/>
          </a:bodyPr>
          <a:lstStyle/>
          <a:p>
            <a:pPr marL="0" marR="0" indent="0">
              <a:lnSpc>
                <a:spcPct val="150000"/>
              </a:lnSpc>
              <a:spcBef>
                <a:spcPts val="0"/>
              </a:spcBef>
              <a:spcAft>
                <a:spcPts val="800"/>
              </a:spcAft>
              <a:buNone/>
            </a:pPr>
            <a:r>
              <a:rPr lang="en-US" sz="1800" b="1" dirty="0">
                <a:effectLst/>
                <a:latin typeface="Calibri" panose="020F0502020204030204" pitchFamily="34" charset="0"/>
                <a:ea typeface="Calibri" panose="020F0502020204030204" pitchFamily="34" charset="0"/>
                <a:cs typeface="Calibri" panose="020F0502020204030204" pitchFamily="34" charset="0"/>
              </a:rPr>
              <a:t>Login Module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	Admin and employee both can login this portal. Every user has own credential. Which make secure to display the details. Users can’t see others users’ details.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50000"/>
              </a:lnSpc>
              <a:spcBef>
                <a:spcPts val="0"/>
              </a:spcBef>
              <a:spcAft>
                <a:spcPts val="800"/>
              </a:spcAft>
              <a:buNone/>
            </a:pPr>
            <a:r>
              <a:rPr lang="en-US" sz="1800" b="1"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Employee Registration</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r>
              <a:rPr lang="en-US" sz="1800" b="1"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	</a:t>
            </a:r>
            <a:r>
              <a:rPr lang="en-US" sz="1800"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This module has to use to collect the employee information and save into the database. Once the employee registration has been completed, they will get username and password, when need to login just use this credential to move login page.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24169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42F69-923A-4F80-8469-FB9067E30D8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8DDDC8A-04BB-42C9-B0EC-BF82D0492888}"/>
              </a:ext>
            </a:extLst>
          </p:cNvPr>
          <p:cNvSpPr>
            <a:spLocks noGrp="1"/>
          </p:cNvSpPr>
          <p:nvPr>
            <p:ph idx="1"/>
          </p:nvPr>
        </p:nvSpPr>
        <p:spPr/>
        <p:txBody>
          <a:bodyPr>
            <a:normAutofit/>
          </a:bodyPr>
          <a:lstStyle/>
          <a:p>
            <a:pPr marL="0" marR="0" indent="0">
              <a:lnSpc>
                <a:spcPct val="150000"/>
              </a:lnSpc>
              <a:spcBef>
                <a:spcPts val="0"/>
              </a:spcBef>
              <a:spcAft>
                <a:spcPts val="800"/>
              </a:spcAft>
              <a:buNone/>
            </a:pPr>
            <a:r>
              <a:rPr lang="en-US" sz="1800" b="1"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Leave Type Entry: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	This module has been created by manager, this will in casual leave, marriage leave, sick leave or anything. The employee can choose the leave type and sending leave request to the manager.</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50000"/>
              </a:lnSpc>
              <a:spcBef>
                <a:spcPts val="0"/>
              </a:spcBef>
              <a:spcAft>
                <a:spcPts val="800"/>
              </a:spcAft>
              <a:buNone/>
            </a:pPr>
            <a:r>
              <a:rPr lang="en-US" sz="1800" b="1" dirty="0">
                <a:solidFill>
                  <a:srgbClr val="333333"/>
                </a:solidFill>
                <a:effectLst/>
                <a:latin typeface="Calibri" panose="020F0502020204030204" pitchFamily="34" charset="0"/>
                <a:ea typeface="Times New Roman" panose="02020603050405020304" pitchFamily="18" charset="0"/>
                <a:cs typeface="Calibri" panose="020F0502020204030204" pitchFamily="34" charset="0"/>
              </a:rPr>
              <a:t>Leave Module: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	Employee should send the leave request before taking a leave. The request was accepting by administrator. If the administrator does not accept the leave request employee can’t to take a leave. So, manager can find who are all taking a leave on today.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121811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0D388-6C07-4546-918A-2B5A67408456}"/>
              </a:ext>
            </a:extLst>
          </p:cNvPr>
          <p:cNvSpPr>
            <a:spLocks noGrp="1"/>
          </p:cNvSpPr>
          <p:nvPr>
            <p:ph type="title"/>
          </p:nvPr>
        </p:nvSpPr>
        <p:spPr/>
        <p:txBody>
          <a:bodyPr/>
          <a:lstStyle/>
          <a:p>
            <a:r>
              <a:rPr lang="en-US" dirty="0"/>
              <a:t>Data Flow Diagram</a:t>
            </a:r>
          </a:p>
        </p:txBody>
      </p:sp>
      <p:sp>
        <p:nvSpPr>
          <p:cNvPr id="3" name="Content Placeholder 2">
            <a:extLst>
              <a:ext uri="{FF2B5EF4-FFF2-40B4-BE49-F238E27FC236}">
                <a16:creationId xmlns:a16="http://schemas.microsoft.com/office/drawing/2014/main" id="{4302C280-D2B7-46AA-9A87-E36DB7A0CB3D}"/>
              </a:ext>
            </a:extLst>
          </p:cNvPr>
          <p:cNvSpPr>
            <a:spLocks noGrp="1"/>
          </p:cNvSpPr>
          <p:nvPr>
            <p:ph idx="1"/>
          </p:nvPr>
        </p:nvSpPr>
        <p:spPr/>
        <p:txBody>
          <a:bodyPr/>
          <a:lstStyle/>
          <a:p>
            <a:r>
              <a:rPr lang="en-US" sz="3600" dirty="0">
                <a:solidFill>
                  <a:schemeClr val="tx2"/>
                </a:solidFill>
                <a:latin typeface="+mj-lt"/>
                <a:ea typeface="+mj-ea"/>
                <a:cs typeface="+mj-cs"/>
              </a:rPr>
              <a:t>Level 0:</a:t>
            </a:r>
          </a:p>
          <a:p>
            <a:pPr marL="0" indent="0">
              <a:buNone/>
            </a:pPr>
            <a:endParaRPr lang="en-US" sz="3600" dirty="0">
              <a:solidFill>
                <a:schemeClr val="bg2"/>
              </a:solidFill>
              <a:latin typeface="+mj-lt"/>
              <a:ea typeface="+mj-ea"/>
              <a:cs typeface="+mj-cs"/>
            </a:endParaRPr>
          </a:p>
          <a:p>
            <a:pPr marL="0" indent="0">
              <a:buNone/>
            </a:pPr>
            <a:endParaRPr lang="en-US" dirty="0"/>
          </a:p>
        </p:txBody>
      </p:sp>
      <p:pic>
        <p:nvPicPr>
          <p:cNvPr id="5" name="Picture 4">
            <a:extLst>
              <a:ext uri="{FF2B5EF4-FFF2-40B4-BE49-F238E27FC236}">
                <a16:creationId xmlns:a16="http://schemas.microsoft.com/office/drawing/2014/main" id="{17C38BF2-34ED-4DC8-8475-AF9EB3711AD2}"/>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19842" y="3015615"/>
            <a:ext cx="4552315" cy="826770"/>
          </a:xfrm>
          <a:prstGeom prst="rect">
            <a:avLst/>
          </a:prstGeom>
          <a:noFill/>
          <a:ln>
            <a:noFill/>
          </a:ln>
        </p:spPr>
      </p:pic>
    </p:spTree>
    <p:extLst>
      <p:ext uri="{BB962C8B-B14F-4D97-AF65-F5344CB8AC3E}">
        <p14:creationId xmlns:p14="http://schemas.microsoft.com/office/powerpoint/2010/main" val="3590689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1EEFF-B3ED-40E0-9C29-20B24F396040}"/>
              </a:ext>
            </a:extLst>
          </p:cNvPr>
          <p:cNvSpPr>
            <a:spLocks noGrp="1"/>
          </p:cNvSpPr>
          <p:nvPr>
            <p:ph type="title"/>
          </p:nvPr>
        </p:nvSpPr>
        <p:spPr/>
        <p:txBody>
          <a:bodyPr/>
          <a:lstStyle/>
          <a:p>
            <a:pPr algn="l"/>
            <a:r>
              <a:rPr lang="en-US" dirty="0"/>
              <a:t>Level 1:</a:t>
            </a:r>
          </a:p>
        </p:txBody>
      </p:sp>
      <p:sp>
        <p:nvSpPr>
          <p:cNvPr id="4" name="Content Placeholder 3"/>
          <p:cNvSpPr>
            <a:spLocks noGrp="1"/>
          </p:cNvSpPr>
          <p:nvPr>
            <p:ph idx="1"/>
          </p:nvPr>
        </p:nvSpPr>
        <p:spPr/>
        <p:txBody>
          <a:bodyPr/>
          <a:lstStyle/>
          <a:p>
            <a:endParaRPr lang="en-IN" dirty="0"/>
          </a:p>
        </p:txBody>
      </p:sp>
      <p:pic>
        <p:nvPicPr>
          <p:cNvPr id="6" name="Picture 5">
            <a:extLst>
              <a:ext uri="{FF2B5EF4-FFF2-40B4-BE49-F238E27FC236}">
                <a16:creationId xmlns:a16="http://schemas.microsoft.com/office/drawing/2014/main" id="{74733B49-DA02-45FC-9D0E-0C11214BDAA2}"/>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304857" y="1281112"/>
            <a:ext cx="5945160" cy="4536592"/>
          </a:xfrm>
          <a:prstGeom prst="rect">
            <a:avLst/>
          </a:prstGeom>
          <a:noFill/>
          <a:ln>
            <a:noFill/>
          </a:ln>
        </p:spPr>
      </p:pic>
    </p:spTree>
    <p:extLst>
      <p:ext uri="{BB962C8B-B14F-4D97-AF65-F5344CB8AC3E}">
        <p14:creationId xmlns:p14="http://schemas.microsoft.com/office/powerpoint/2010/main" val="15354048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A2C25-BB55-49DF-B712-B6EFCA86996D}"/>
              </a:ext>
            </a:extLst>
          </p:cNvPr>
          <p:cNvSpPr>
            <a:spLocks noGrp="1"/>
          </p:cNvSpPr>
          <p:nvPr>
            <p:ph type="title"/>
          </p:nvPr>
        </p:nvSpPr>
        <p:spPr/>
        <p:txBody>
          <a:bodyPr/>
          <a:lstStyle/>
          <a:p>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TABLE NAME: MANAGER</a:t>
            </a:r>
            <a:br>
              <a:rPr lang="en-US" sz="1800" dirty="0">
                <a:effectLst/>
                <a:latin typeface="Calibri" panose="020F0502020204030204" pitchFamily="34" charset="0"/>
                <a:ea typeface="Calibri" panose="020F0502020204030204" pitchFamily="34" charset="0"/>
                <a:cs typeface="Times New Roman" panose="02020603050405020304" pitchFamily="18" charset="0"/>
              </a:rPr>
            </a:br>
            <a:endParaRPr lang="en-US" dirty="0"/>
          </a:p>
        </p:txBody>
      </p:sp>
      <p:graphicFrame>
        <p:nvGraphicFramePr>
          <p:cNvPr id="8" name="Content Placeholder 7">
            <a:extLst>
              <a:ext uri="{FF2B5EF4-FFF2-40B4-BE49-F238E27FC236}">
                <a16:creationId xmlns:a16="http://schemas.microsoft.com/office/drawing/2014/main" id="{E10BC3F3-9133-48D6-9ADC-95202BB265BC}"/>
              </a:ext>
            </a:extLst>
          </p:cNvPr>
          <p:cNvGraphicFramePr>
            <a:graphicFrameLocks noGrp="1"/>
          </p:cNvGraphicFramePr>
          <p:nvPr>
            <p:ph idx="1"/>
            <p:extLst>
              <p:ext uri="{D42A27DB-BD31-4B8C-83A1-F6EECF244321}">
                <p14:modId xmlns:p14="http://schemas.microsoft.com/office/powerpoint/2010/main" val="3502017115"/>
              </p:ext>
            </p:extLst>
          </p:nvPr>
        </p:nvGraphicFramePr>
        <p:xfrm>
          <a:off x="2226365" y="2438400"/>
          <a:ext cx="6803334" cy="2185384"/>
        </p:xfrm>
        <a:graphic>
          <a:graphicData uri="http://schemas.openxmlformats.org/drawingml/2006/table">
            <a:tbl>
              <a:tblPr firstRow="1" firstCol="1" bandRow="1">
                <a:tableStyleId>{5C22544A-7EE6-4342-B048-85BDC9FD1C3A}</a:tableStyleId>
              </a:tblPr>
              <a:tblGrid>
                <a:gridCol w="1700466">
                  <a:extLst>
                    <a:ext uri="{9D8B030D-6E8A-4147-A177-3AD203B41FA5}">
                      <a16:colId xmlns:a16="http://schemas.microsoft.com/office/drawing/2014/main" val="2434640122"/>
                    </a:ext>
                  </a:extLst>
                </a:gridCol>
                <a:gridCol w="1700466">
                  <a:extLst>
                    <a:ext uri="{9D8B030D-6E8A-4147-A177-3AD203B41FA5}">
                      <a16:colId xmlns:a16="http://schemas.microsoft.com/office/drawing/2014/main" val="1981477330"/>
                    </a:ext>
                  </a:extLst>
                </a:gridCol>
                <a:gridCol w="1701201">
                  <a:extLst>
                    <a:ext uri="{9D8B030D-6E8A-4147-A177-3AD203B41FA5}">
                      <a16:colId xmlns:a16="http://schemas.microsoft.com/office/drawing/2014/main" val="2038869405"/>
                    </a:ext>
                  </a:extLst>
                </a:gridCol>
                <a:gridCol w="1701201">
                  <a:extLst>
                    <a:ext uri="{9D8B030D-6E8A-4147-A177-3AD203B41FA5}">
                      <a16:colId xmlns:a16="http://schemas.microsoft.com/office/drawing/2014/main" val="1490714716"/>
                    </a:ext>
                  </a:extLst>
                </a:gridCol>
              </a:tblGrid>
              <a:tr h="546346">
                <a:tc>
                  <a:txBody>
                    <a:bodyPr/>
                    <a:lstStyle/>
                    <a:p>
                      <a:pPr marL="0" marR="0">
                        <a:lnSpc>
                          <a:spcPct val="150000"/>
                        </a:lnSpc>
                        <a:spcBef>
                          <a:spcPts val="0"/>
                        </a:spcBef>
                        <a:spcAft>
                          <a:spcPts val="0"/>
                        </a:spcAft>
                      </a:pPr>
                      <a:r>
                        <a:rPr lang="en-US" sz="1200">
                          <a:effectLst/>
                        </a:rPr>
                        <a:t>FIELD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DATA TYPE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SIZE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CONSTRAINT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45441767"/>
                  </a:ext>
                </a:extLst>
              </a:tr>
              <a:tr h="546346">
                <a:tc>
                  <a:txBody>
                    <a:bodyPr/>
                    <a:lstStyle/>
                    <a:p>
                      <a:pPr marL="0" marR="0">
                        <a:lnSpc>
                          <a:spcPct val="150000"/>
                        </a:lnSpc>
                        <a:spcBef>
                          <a:spcPts val="0"/>
                        </a:spcBef>
                        <a:spcAft>
                          <a:spcPts val="0"/>
                        </a:spcAft>
                      </a:pPr>
                      <a:r>
                        <a:rPr lang="en-US" sz="1200">
                          <a:effectLst/>
                        </a:rPr>
                        <a:t>Manager id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Primary key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54552601"/>
                  </a:ext>
                </a:extLst>
              </a:tr>
              <a:tr h="546346">
                <a:tc>
                  <a:txBody>
                    <a:bodyPr/>
                    <a:lstStyle/>
                    <a:p>
                      <a:pPr marL="0" marR="0">
                        <a:lnSpc>
                          <a:spcPct val="150000"/>
                        </a:lnSpc>
                        <a:spcBef>
                          <a:spcPts val="0"/>
                        </a:spcBef>
                        <a:spcAft>
                          <a:spcPts val="0"/>
                        </a:spcAft>
                      </a:pPr>
                      <a:r>
                        <a:rPr lang="en-US" sz="1200">
                          <a:effectLst/>
                        </a:rPr>
                        <a:t>Username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43614912"/>
                  </a:ext>
                </a:extLst>
              </a:tr>
              <a:tr h="546346">
                <a:tc>
                  <a:txBody>
                    <a:bodyPr/>
                    <a:lstStyle/>
                    <a:p>
                      <a:pPr marL="0" marR="0">
                        <a:lnSpc>
                          <a:spcPct val="150000"/>
                        </a:lnSpc>
                        <a:spcBef>
                          <a:spcPts val="0"/>
                        </a:spcBef>
                        <a:spcAft>
                          <a:spcPts val="0"/>
                        </a:spcAft>
                      </a:pPr>
                      <a:r>
                        <a:rPr lang="en-US" sz="1200">
                          <a:effectLst/>
                        </a:rPr>
                        <a:t>password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dirty="0">
                          <a:effectLst/>
                        </a:rPr>
                        <a:t>Not null</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06428226"/>
                  </a:ext>
                </a:extLst>
              </a:tr>
            </a:tbl>
          </a:graphicData>
        </a:graphic>
      </p:graphicFrame>
    </p:spTree>
    <p:extLst>
      <p:ext uri="{BB962C8B-B14F-4D97-AF65-F5344CB8AC3E}">
        <p14:creationId xmlns:p14="http://schemas.microsoft.com/office/powerpoint/2010/main" val="20582107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D4C74-7712-4D63-B10D-DECF6B52E7E6}"/>
              </a:ext>
            </a:extLst>
          </p:cNvPr>
          <p:cNvSpPr>
            <a:spLocks noGrp="1"/>
          </p:cNvSpPr>
          <p:nvPr>
            <p:ph type="title"/>
          </p:nvPr>
        </p:nvSpPr>
        <p:spPr/>
        <p:txBody>
          <a:bodyPr/>
          <a:lstStyle/>
          <a:p>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TABLE NAME: EMPLOYEES</a:t>
            </a:r>
            <a:br>
              <a:rPr lang="en-US" sz="1800" dirty="0">
                <a:effectLst/>
                <a:latin typeface="Calibri" panose="020F0502020204030204" pitchFamily="34" charset="0"/>
                <a:ea typeface="Calibri" panose="020F0502020204030204" pitchFamily="34" charset="0"/>
                <a:cs typeface="Times New Roman" panose="02020603050405020304" pitchFamily="18" charset="0"/>
              </a:rPr>
            </a:br>
            <a:endParaRPr lang="en-US" dirty="0"/>
          </a:p>
        </p:txBody>
      </p:sp>
      <p:graphicFrame>
        <p:nvGraphicFramePr>
          <p:cNvPr id="4" name="Content Placeholder 3">
            <a:extLst>
              <a:ext uri="{FF2B5EF4-FFF2-40B4-BE49-F238E27FC236}">
                <a16:creationId xmlns:a16="http://schemas.microsoft.com/office/drawing/2014/main" id="{334A03E2-0F59-4433-81A9-A0E8407C25E7}"/>
              </a:ext>
            </a:extLst>
          </p:cNvPr>
          <p:cNvGraphicFramePr>
            <a:graphicFrameLocks noGrp="1"/>
          </p:cNvGraphicFramePr>
          <p:nvPr>
            <p:ph idx="1"/>
            <p:extLst>
              <p:ext uri="{D42A27DB-BD31-4B8C-83A1-F6EECF244321}">
                <p14:modId xmlns:p14="http://schemas.microsoft.com/office/powerpoint/2010/main" val="1871156098"/>
              </p:ext>
            </p:extLst>
          </p:nvPr>
        </p:nvGraphicFramePr>
        <p:xfrm>
          <a:off x="2107095" y="1643271"/>
          <a:ext cx="7739268" cy="4200933"/>
        </p:xfrm>
        <a:graphic>
          <a:graphicData uri="http://schemas.openxmlformats.org/drawingml/2006/table">
            <a:tbl>
              <a:tblPr firstRow="1" firstCol="1" bandRow="1">
                <a:tableStyleId>{5C22544A-7EE6-4342-B048-85BDC9FD1C3A}</a:tableStyleId>
              </a:tblPr>
              <a:tblGrid>
                <a:gridCol w="1934399">
                  <a:extLst>
                    <a:ext uri="{9D8B030D-6E8A-4147-A177-3AD203B41FA5}">
                      <a16:colId xmlns:a16="http://schemas.microsoft.com/office/drawing/2014/main" val="4145594946"/>
                    </a:ext>
                  </a:extLst>
                </a:gridCol>
                <a:gridCol w="1934399">
                  <a:extLst>
                    <a:ext uri="{9D8B030D-6E8A-4147-A177-3AD203B41FA5}">
                      <a16:colId xmlns:a16="http://schemas.microsoft.com/office/drawing/2014/main" val="408023587"/>
                    </a:ext>
                  </a:extLst>
                </a:gridCol>
                <a:gridCol w="1935235">
                  <a:extLst>
                    <a:ext uri="{9D8B030D-6E8A-4147-A177-3AD203B41FA5}">
                      <a16:colId xmlns:a16="http://schemas.microsoft.com/office/drawing/2014/main" val="299953754"/>
                    </a:ext>
                  </a:extLst>
                </a:gridCol>
                <a:gridCol w="1935235">
                  <a:extLst>
                    <a:ext uri="{9D8B030D-6E8A-4147-A177-3AD203B41FA5}">
                      <a16:colId xmlns:a16="http://schemas.microsoft.com/office/drawing/2014/main" val="1145213899"/>
                    </a:ext>
                  </a:extLst>
                </a:gridCol>
              </a:tblGrid>
              <a:tr h="381903">
                <a:tc>
                  <a:txBody>
                    <a:bodyPr/>
                    <a:lstStyle/>
                    <a:p>
                      <a:pPr marL="0" marR="0">
                        <a:lnSpc>
                          <a:spcPct val="150000"/>
                        </a:lnSpc>
                        <a:spcBef>
                          <a:spcPts val="0"/>
                        </a:spcBef>
                        <a:spcAft>
                          <a:spcPts val="0"/>
                        </a:spcAft>
                      </a:pPr>
                      <a:r>
                        <a:rPr lang="en-US" sz="1200">
                          <a:effectLst/>
                        </a:rPr>
                        <a:t>FIELD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DATA TYPE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SIZE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CONSTRAINT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88801202"/>
                  </a:ext>
                </a:extLst>
              </a:tr>
              <a:tr h="381903">
                <a:tc>
                  <a:txBody>
                    <a:bodyPr/>
                    <a:lstStyle/>
                    <a:p>
                      <a:pPr marL="0" marR="0">
                        <a:lnSpc>
                          <a:spcPct val="150000"/>
                        </a:lnSpc>
                        <a:spcBef>
                          <a:spcPts val="0"/>
                        </a:spcBef>
                        <a:spcAft>
                          <a:spcPts val="0"/>
                        </a:spcAft>
                      </a:pPr>
                      <a:r>
                        <a:rPr lang="en-US" sz="1200">
                          <a:effectLst/>
                        </a:rPr>
                        <a:t>Employee id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Primary key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20176977"/>
                  </a:ext>
                </a:extLst>
              </a:tr>
              <a:tr h="381903">
                <a:tc>
                  <a:txBody>
                    <a:bodyPr/>
                    <a:lstStyle/>
                    <a:p>
                      <a:pPr marL="0" marR="0">
                        <a:lnSpc>
                          <a:spcPct val="150000"/>
                        </a:lnSpc>
                        <a:spcBef>
                          <a:spcPts val="0"/>
                        </a:spcBef>
                        <a:spcAft>
                          <a:spcPts val="0"/>
                        </a:spcAft>
                      </a:pPr>
                      <a:r>
                        <a:rPr lang="en-US" sz="1200">
                          <a:effectLst/>
                        </a:rPr>
                        <a:t>First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07641252"/>
                  </a:ext>
                </a:extLst>
              </a:tr>
              <a:tr h="381903">
                <a:tc>
                  <a:txBody>
                    <a:bodyPr/>
                    <a:lstStyle/>
                    <a:p>
                      <a:pPr marL="0" marR="0">
                        <a:lnSpc>
                          <a:spcPct val="150000"/>
                        </a:lnSpc>
                        <a:spcBef>
                          <a:spcPts val="0"/>
                        </a:spcBef>
                        <a:spcAft>
                          <a:spcPts val="0"/>
                        </a:spcAft>
                      </a:pPr>
                      <a:r>
                        <a:rPr lang="en-US" sz="1200">
                          <a:effectLst/>
                        </a:rPr>
                        <a:t>Last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39377385"/>
                  </a:ext>
                </a:extLst>
              </a:tr>
              <a:tr h="381903">
                <a:tc>
                  <a:txBody>
                    <a:bodyPr/>
                    <a:lstStyle/>
                    <a:p>
                      <a:pPr marL="0" marR="0">
                        <a:lnSpc>
                          <a:spcPct val="150000"/>
                        </a:lnSpc>
                        <a:spcBef>
                          <a:spcPts val="0"/>
                        </a:spcBef>
                        <a:spcAft>
                          <a:spcPts val="0"/>
                        </a:spcAft>
                      </a:pPr>
                      <a:r>
                        <a:rPr lang="en-US" sz="1200">
                          <a:effectLst/>
                        </a:rPr>
                        <a:t>Email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86982580"/>
                  </a:ext>
                </a:extLst>
              </a:tr>
              <a:tr h="381903">
                <a:tc>
                  <a:txBody>
                    <a:bodyPr/>
                    <a:lstStyle/>
                    <a:p>
                      <a:pPr marL="0" marR="0">
                        <a:lnSpc>
                          <a:spcPct val="150000"/>
                        </a:lnSpc>
                        <a:spcBef>
                          <a:spcPts val="0"/>
                        </a:spcBef>
                        <a:spcAft>
                          <a:spcPts val="0"/>
                        </a:spcAft>
                      </a:pPr>
                      <a:r>
                        <a:rPr lang="en-US" sz="1200">
                          <a:effectLst/>
                        </a:rPr>
                        <a:t>Password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4232989"/>
                  </a:ext>
                </a:extLst>
              </a:tr>
              <a:tr h="381903">
                <a:tc>
                  <a:txBody>
                    <a:bodyPr/>
                    <a:lstStyle/>
                    <a:p>
                      <a:pPr marL="0" marR="0">
                        <a:lnSpc>
                          <a:spcPct val="150000"/>
                        </a:lnSpc>
                        <a:spcBef>
                          <a:spcPts val="0"/>
                        </a:spcBef>
                        <a:spcAft>
                          <a:spcPts val="0"/>
                        </a:spcAft>
                      </a:pPr>
                      <a:r>
                        <a:rPr lang="en-US" sz="1200">
                          <a:effectLst/>
                        </a:rPr>
                        <a:t>Gender</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79498656"/>
                  </a:ext>
                </a:extLst>
              </a:tr>
              <a:tr h="381903">
                <a:tc>
                  <a:txBody>
                    <a:bodyPr/>
                    <a:lstStyle/>
                    <a:p>
                      <a:pPr marL="0" marR="0">
                        <a:lnSpc>
                          <a:spcPct val="150000"/>
                        </a:lnSpc>
                        <a:spcBef>
                          <a:spcPts val="0"/>
                        </a:spcBef>
                        <a:spcAft>
                          <a:spcPts val="0"/>
                        </a:spcAft>
                      </a:pPr>
                      <a:r>
                        <a:rPr lang="en-US" sz="1200">
                          <a:effectLst/>
                        </a:rPr>
                        <a:t>City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52382151"/>
                  </a:ext>
                </a:extLst>
              </a:tr>
              <a:tr h="381903">
                <a:tc>
                  <a:txBody>
                    <a:bodyPr/>
                    <a:lstStyle/>
                    <a:p>
                      <a:pPr marL="0" marR="0">
                        <a:lnSpc>
                          <a:spcPct val="150000"/>
                        </a:lnSpc>
                        <a:spcBef>
                          <a:spcPts val="0"/>
                        </a:spcBef>
                        <a:spcAft>
                          <a:spcPts val="0"/>
                        </a:spcAft>
                      </a:pPr>
                      <a:r>
                        <a:rPr lang="en-US" sz="1200">
                          <a:effectLst/>
                        </a:rPr>
                        <a:t>Country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67926155"/>
                  </a:ext>
                </a:extLst>
              </a:tr>
              <a:tr h="381903">
                <a:tc>
                  <a:txBody>
                    <a:bodyPr/>
                    <a:lstStyle/>
                    <a:p>
                      <a:pPr marL="0" marR="0">
                        <a:lnSpc>
                          <a:spcPct val="150000"/>
                        </a:lnSpc>
                        <a:spcBef>
                          <a:spcPts val="0"/>
                        </a:spcBef>
                        <a:spcAft>
                          <a:spcPts val="0"/>
                        </a:spcAft>
                      </a:pPr>
                      <a:r>
                        <a:rPr lang="en-US" sz="1200">
                          <a:effectLst/>
                        </a:rPr>
                        <a:t>address</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30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45773375"/>
                  </a:ext>
                </a:extLst>
              </a:tr>
              <a:tr h="381903">
                <a:tc>
                  <a:txBody>
                    <a:bodyPr/>
                    <a:lstStyle/>
                    <a:p>
                      <a:pPr marL="0" marR="0">
                        <a:lnSpc>
                          <a:spcPct val="150000"/>
                        </a:lnSpc>
                        <a:spcBef>
                          <a:spcPts val="0"/>
                        </a:spcBef>
                        <a:spcAft>
                          <a:spcPts val="0"/>
                        </a:spcAft>
                      </a:pPr>
                      <a:r>
                        <a:rPr lang="en-US" sz="1200">
                          <a:effectLst/>
                        </a:rPr>
                        <a:t>Phone number</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dirty="0">
                          <a:effectLst/>
                        </a:rPr>
                        <a:t>Not null</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57579953"/>
                  </a:ext>
                </a:extLst>
              </a:tr>
            </a:tbl>
          </a:graphicData>
        </a:graphic>
      </p:graphicFrame>
    </p:spTree>
    <p:extLst>
      <p:ext uri="{BB962C8B-B14F-4D97-AF65-F5344CB8AC3E}">
        <p14:creationId xmlns:p14="http://schemas.microsoft.com/office/powerpoint/2010/main" val="40193259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2FE37-C5E9-4C6D-B1B3-EA938A4F5140}"/>
              </a:ext>
            </a:extLst>
          </p:cNvPr>
          <p:cNvSpPr>
            <a:spLocks noGrp="1"/>
          </p:cNvSpPr>
          <p:nvPr>
            <p:ph type="title"/>
          </p:nvPr>
        </p:nvSpPr>
        <p:spPr/>
        <p:txBody>
          <a:bodyPr/>
          <a:lstStyle/>
          <a:p>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TABLE NAME: LEAVE TYPE</a:t>
            </a:r>
            <a:br>
              <a:rPr lang="en-US" sz="1800" dirty="0">
                <a:effectLst/>
                <a:latin typeface="Calibri" panose="020F0502020204030204" pitchFamily="34" charset="0"/>
                <a:ea typeface="Calibri" panose="020F0502020204030204" pitchFamily="34" charset="0"/>
                <a:cs typeface="Times New Roman" panose="02020603050405020304" pitchFamily="18" charset="0"/>
              </a:rPr>
            </a:br>
            <a:endParaRPr lang="en-US" dirty="0"/>
          </a:p>
        </p:txBody>
      </p:sp>
      <p:graphicFrame>
        <p:nvGraphicFramePr>
          <p:cNvPr id="8" name="Content Placeholder 7">
            <a:extLst>
              <a:ext uri="{FF2B5EF4-FFF2-40B4-BE49-F238E27FC236}">
                <a16:creationId xmlns:a16="http://schemas.microsoft.com/office/drawing/2014/main" id="{DB4BF4CC-0FB9-429B-BD48-D0CAD4491A13}"/>
              </a:ext>
            </a:extLst>
          </p:cNvPr>
          <p:cNvGraphicFramePr>
            <a:graphicFrameLocks noGrp="1"/>
          </p:cNvGraphicFramePr>
          <p:nvPr>
            <p:ph idx="1"/>
            <p:extLst>
              <p:ext uri="{D42A27DB-BD31-4B8C-83A1-F6EECF244321}">
                <p14:modId xmlns:p14="http://schemas.microsoft.com/office/powerpoint/2010/main" val="3474581883"/>
              </p:ext>
            </p:extLst>
          </p:nvPr>
        </p:nvGraphicFramePr>
        <p:xfrm>
          <a:off x="2464904" y="2504661"/>
          <a:ext cx="6564796" cy="2119124"/>
        </p:xfrm>
        <a:graphic>
          <a:graphicData uri="http://schemas.openxmlformats.org/drawingml/2006/table">
            <a:tbl>
              <a:tblPr firstRow="1" firstCol="1" bandRow="1">
                <a:tableStyleId>{5C22544A-7EE6-4342-B048-85BDC9FD1C3A}</a:tableStyleId>
              </a:tblPr>
              <a:tblGrid>
                <a:gridCol w="1640844">
                  <a:extLst>
                    <a:ext uri="{9D8B030D-6E8A-4147-A177-3AD203B41FA5}">
                      <a16:colId xmlns:a16="http://schemas.microsoft.com/office/drawing/2014/main" val="2717274333"/>
                    </a:ext>
                  </a:extLst>
                </a:gridCol>
                <a:gridCol w="1640844">
                  <a:extLst>
                    <a:ext uri="{9D8B030D-6E8A-4147-A177-3AD203B41FA5}">
                      <a16:colId xmlns:a16="http://schemas.microsoft.com/office/drawing/2014/main" val="1080612417"/>
                    </a:ext>
                  </a:extLst>
                </a:gridCol>
                <a:gridCol w="1641554">
                  <a:extLst>
                    <a:ext uri="{9D8B030D-6E8A-4147-A177-3AD203B41FA5}">
                      <a16:colId xmlns:a16="http://schemas.microsoft.com/office/drawing/2014/main" val="3062297583"/>
                    </a:ext>
                  </a:extLst>
                </a:gridCol>
                <a:gridCol w="1641554">
                  <a:extLst>
                    <a:ext uri="{9D8B030D-6E8A-4147-A177-3AD203B41FA5}">
                      <a16:colId xmlns:a16="http://schemas.microsoft.com/office/drawing/2014/main" val="1556528550"/>
                    </a:ext>
                  </a:extLst>
                </a:gridCol>
              </a:tblGrid>
              <a:tr h="529781">
                <a:tc>
                  <a:txBody>
                    <a:bodyPr/>
                    <a:lstStyle/>
                    <a:p>
                      <a:pPr marL="0" marR="0">
                        <a:lnSpc>
                          <a:spcPct val="150000"/>
                        </a:lnSpc>
                        <a:spcBef>
                          <a:spcPts val="0"/>
                        </a:spcBef>
                        <a:spcAft>
                          <a:spcPts val="0"/>
                        </a:spcAft>
                      </a:pPr>
                      <a:r>
                        <a:rPr lang="en-US" sz="1200">
                          <a:effectLst/>
                        </a:rPr>
                        <a:t>FIELD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DATA TYPE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SIZE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CONSTRAINT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30894205"/>
                  </a:ext>
                </a:extLst>
              </a:tr>
              <a:tr h="529781">
                <a:tc>
                  <a:txBody>
                    <a:bodyPr/>
                    <a:lstStyle/>
                    <a:p>
                      <a:pPr marL="0" marR="0">
                        <a:lnSpc>
                          <a:spcPct val="150000"/>
                        </a:lnSpc>
                        <a:spcBef>
                          <a:spcPts val="0"/>
                        </a:spcBef>
                        <a:spcAft>
                          <a:spcPts val="0"/>
                        </a:spcAft>
                      </a:pPr>
                      <a:r>
                        <a:rPr lang="en-US" sz="1200">
                          <a:effectLst/>
                        </a:rPr>
                        <a:t>Type id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Primary key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43132895"/>
                  </a:ext>
                </a:extLst>
              </a:tr>
              <a:tr h="529781">
                <a:tc>
                  <a:txBody>
                    <a:bodyPr/>
                    <a:lstStyle/>
                    <a:p>
                      <a:pPr marL="0" marR="0">
                        <a:lnSpc>
                          <a:spcPct val="150000"/>
                        </a:lnSpc>
                        <a:spcBef>
                          <a:spcPts val="0"/>
                        </a:spcBef>
                        <a:spcAft>
                          <a:spcPts val="0"/>
                        </a:spcAft>
                      </a:pPr>
                      <a:r>
                        <a:rPr lang="en-US" sz="1200">
                          <a:effectLst/>
                        </a:rPr>
                        <a:t>Leave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14141068"/>
                  </a:ext>
                </a:extLst>
              </a:tr>
              <a:tr h="529781">
                <a:tc>
                  <a:txBody>
                    <a:bodyPr/>
                    <a:lstStyle/>
                    <a:p>
                      <a:pPr marL="0" marR="0">
                        <a:lnSpc>
                          <a:spcPct val="150000"/>
                        </a:lnSpc>
                        <a:spcBef>
                          <a:spcPts val="0"/>
                        </a:spcBef>
                        <a:spcAft>
                          <a:spcPts val="0"/>
                        </a:spcAft>
                      </a:pPr>
                      <a:r>
                        <a:rPr lang="en-US" sz="1200">
                          <a:effectLst/>
                        </a:rPr>
                        <a:t>Leave category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dirty="0">
                          <a:effectLst/>
                        </a:rPr>
                        <a:t>Not null</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66463564"/>
                  </a:ext>
                </a:extLst>
              </a:tr>
            </a:tbl>
          </a:graphicData>
        </a:graphic>
      </p:graphicFrame>
    </p:spTree>
    <p:extLst>
      <p:ext uri="{BB962C8B-B14F-4D97-AF65-F5344CB8AC3E}">
        <p14:creationId xmlns:p14="http://schemas.microsoft.com/office/powerpoint/2010/main" val="3226985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ED728-0590-4D79-A830-0EE5A130B96E}"/>
              </a:ext>
            </a:extLst>
          </p:cNvPr>
          <p:cNvSpPr>
            <a:spLocks noGrp="1"/>
          </p:cNvSpPr>
          <p:nvPr>
            <p:ph type="title"/>
          </p:nvPr>
        </p:nvSpPr>
        <p:spPr/>
        <p:txBody>
          <a:bodyPr/>
          <a:lstStyle/>
          <a:p>
            <a:pPr marL="0" marR="0">
              <a:lnSpc>
                <a:spcPct val="150000"/>
              </a:lnSpc>
              <a:spcBef>
                <a:spcPts val="0"/>
              </a:spcBef>
              <a:spcAft>
                <a:spcPts val="800"/>
              </a:spcAft>
            </a:pPr>
            <a:r>
              <a:rPr lang="en-US" sz="1800" b="1">
                <a:effectLst/>
                <a:latin typeface="Times New Roman" panose="02020603050405020304" pitchFamily="18" charset="0"/>
                <a:ea typeface="Calibri" panose="020F0502020204030204" pitchFamily="34" charset="0"/>
                <a:cs typeface="Times New Roman" panose="02020603050405020304" pitchFamily="18" charset="0"/>
              </a:rPr>
              <a:t>TABLE NAME: LEAVE</a:t>
            </a:r>
            <a:endParaRPr lang="en-US" sz="1800">
              <a:effectLst/>
              <a:latin typeface="Calibri" panose="020F0502020204030204" pitchFamily="34" charset="0"/>
              <a:ea typeface="Calibri" panose="020F0502020204030204" pitchFamily="34" charset="0"/>
              <a:cs typeface="Times New Roman" panose="02020603050405020304" pitchFamily="18" charset="0"/>
            </a:endParaRPr>
          </a:p>
        </p:txBody>
      </p:sp>
      <p:graphicFrame>
        <p:nvGraphicFramePr>
          <p:cNvPr id="4" name="Content Placeholder 3">
            <a:extLst>
              <a:ext uri="{FF2B5EF4-FFF2-40B4-BE49-F238E27FC236}">
                <a16:creationId xmlns:a16="http://schemas.microsoft.com/office/drawing/2014/main" id="{90C123BD-6B03-4A49-BEC0-AECEA3DB4C63}"/>
              </a:ext>
            </a:extLst>
          </p:cNvPr>
          <p:cNvGraphicFramePr>
            <a:graphicFrameLocks noGrp="1"/>
          </p:cNvGraphicFramePr>
          <p:nvPr>
            <p:ph idx="1"/>
            <p:extLst>
              <p:ext uri="{D42A27DB-BD31-4B8C-83A1-F6EECF244321}">
                <p14:modId xmlns:p14="http://schemas.microsoft.com/office/powerpoint/2010/main" val="4243590726"/>
              </p:ext>
            </p:extLst>
          </p:nvPr>
        </p:nvGraphicFramePr>
        <p:xfrm>
          <a:off x="2239617" y="2584174"/>
          <a:ext cx="6790084" cy="2286558"/>
        </p:xfrm>
        <a:graphic>
          <a:graphicData uri="http://schemas.openxmlformats.org/drawingml/2006/table">
            <a:tbl>
              <a:tblPr firstRow="1" firstCol="1" bandRow="1">
                <a:tableStyleId>{5C22544A-7EE6-4342-B048-85BDC9FD1C3A}</a:tableStyleId>
              </a:tblPr>
              <a:tblGrid>
                <a:gridCol w="1697154">
                  <a:extLst>
                    <a:ext uri="{9D8B030D-6E8A-4147-A177-3AD203B41FA5}">
                      <a16:colId xmlns:a16="http://schemas.microsoft.com/office/drawing/2014/main" val="2197708053"/>
                    </a:ext>
                  </a:extLst>
                </a:gridCol>
                <a:gridCol w="1697154">
                  <a:extLst>
                    <a:ext uri="{9D8B030D-6E8A-4147-A177-3AD203B41FA5}">
                      <a16:colId xmlns:a16="http://schemas.microsoft.com/office/drawing/2014/main" val="2080168429"/>
                    </a:ext>
                  </a:extLst>
                </a:gridCol>
                <a:gridCol w="1697888">
                  <a:extLst>
                    <a:ext uri="{9D8B030D-6E8A-4147-A177-3AD203B41FA5}">
                      <a16:colId xmlns:a16="http://schemas.microsoft.com/office/drawing/2014/main" val="3404686949"/>
                    </a:ext>
                  </a:extLst>
                </a:gridCol>
                <a:gridCol w="1697888">
                  <a:extLst>
                    <a:ext uri="{9D8B030D-6E8A-4147-A177-3AD203B41FA5}">
                      <a16:colId xmlns:a16="http://schemas.microsoft.com/office/drawing/2014/main" val="3709644190"/>
                    </a:ext>
                  </a:extLst>
                </a:gridCol>
              </a:tblGrid>
              <a:tr h="381093">
                <a:tc>
                  <a:txBody>
                    <a:bodyPr/>
                    <a:lstStyle/>
                    <a:p>
                      <a:pPr marL="0" marR="0">
                        <a:lnSpc>
                          <a:spcPct val="150000"/>
                        </a:lnSpc>
                        <a:spcBef>
                          <a:spcPts val="0"/>
                        </a:spcBef>
                        <a:spcAft>
                          <a:spcPts val="0"/>
                        </a:spcAft>
                      </a:pPr>
                      <a:r>
                        <a:rPr lang="en-US" sz="1200">
                          <a:effectLst/>
                        </a:rPr>
                        <a:t>FIELD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DATA TYPE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SIZE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CONSTRAINT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40703456"/>
                  </a:ext>
                </a:extLst>
              </a:tr>
              <a:tr h="381093">
                <a:tc>
                  <a:txBody>
                    <a:bodyPr/>
                    <a:lstStyle/>
                    <a:p>
                      <a:pPr marL="0" marR="0">
                        <a:lnSpc>
                          <a:spcPct val="150000"/>
                        </a:lnSpc>
                        <a:spcBef>
                          <a:spcPts val="0"/>
                        </a:spcBef>
                        <a:spcAft>
                          <a:spcPts val="0"/>
                        </a:spcAft>
                      </a:pPr>
                      <a:r>
                        <a:rPr lang="en-US" sz="1200">
                          <a:effectLst/>
                        </a:rPr>
                        <a:t>Leave id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Primary key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5843371"/>
                  </a:ext>
                </a:extLst>
              </a:tr>
              <a:tr h="381093">
                <a:tc>
                  <a:txBody>
                    <a:bodyPr/>
                    <a:lstStyle/>
                    <a:p>
                      <a:pPr marL="0" marR="0">
                        <a:lnSpc>
                          <a:spcPct val="150000"/>
                        </a:lnSpc>
                        <a:spcBef>
                          <a:spcPts val="0"/>
                        </a:spcBef>
                        <a:spcAft>
                          <a:spcPts val="0"/>
                        </a:spcAft>
                      </a:pPr>
                      <a:r>
                        <a:rPr lang="en-US" sz="1200">
                          <a:effectLst/>
                        </a:rPr>
                        <a:t>Leave type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20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8706003"/>
                  </a:ext>
                </a:extLst>
              </a:tr>
              <a:tr h="381093">
                <a:tc>
                  <a:txBody>
                    <a:bodyPr/>
                    <a:lstStyle/>
                    <a:p>
                      <a:pPr marL="0" marR="0">
                        <a:lnSpc>
                          <a:spcPct val="150000"/>
                        </a:lnSpc>
                        <a:spcBef>
                          <a:spcPts val="0"/>
                        </a:spcBef>
                        <a:spcAft>
                          <a:spcPts val="0"/>
                        </a:spcAft>
                      </a:pPr>
                      <a:r>
                        <a:rPr lang="en-US" sz="1200">
                          <a:effectLst/>
                        </a:rPr>
                        <a:t>From 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48437602"/>
                  </a:ext>
                </a:extLst>
              </a:tr>
              <a:tr h="381093">
                <a:tc>
                  <a:txBody>
                    <a:bodyPr/>
                    <a:lstStyle/>
                    <a:p>
                      <a:pPr marL="0" marR="0">
                        <a:lnSpc>
                          <a:spcPct val="150000"/>
                        </a:lnSpc>
                        <a:spcBef>
                          <a:spcPts val="0"/>
                        </a:spcBef>
                        <a:spcAft>
                          <a:spcPts val="0"/>
                        </a:spcAft>
                      </a:pPr>
                      <a:r>
                        <a:rPr lang="en-US" sz="1200">
                          <a:effectLst/>
                        </a:rPr>
                        <a:t>To 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81881503"/>
                  </a:ext>
                </a:extLst>
              </a:tr>
              <a:tr h="381093">
                <a:tc>
                  <a:txBody>
                    <a:bodyPr/>
                    <a:lstStyle/>
                    <a:p>
                      <a:pPr marL="0" marR="0">
                        <a:lnSpc>
                          <a:spcPct val="150000"/>
                        </a:lnSpc>
                        <a:spcBef>
                          <a:spcPts val="0"/>
                        </a:spcBef>
                        <a:spcAft>
                          <a:spcPts val="0"/>
                        </a:spcAft>
                      </a:pPr>
                      <a:r>
                        <a:rPr lang="en-US" sz="1200">
                          <a:effectLst/>
                        </a:rPr>
                        <a:t>Description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30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dirty="0">
                          <a:effectLst/>
                        </a:rPr>
                        <a:t>Not null</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00879563"/>
                  </a:ext>
                </a:extLst>
              </a:tr>
            </a:tbl>
          </a:graphicData>
        </a:graphic>
      </p:graphicFrame>
    </p:spTree>
    <p:extLst>
      <p:ext uri="{BB962C8B-B14F-4D97-AF65-F5344CB8AC3E}">
        <p14:creationId xmlns:p14="http://schemas.microsoft.com/office/powerpoint/2010/main" val="1447152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2761E-C5C2-4BB7-BBE0-ED6D2B3D5694}"/>
              </a:ext>
            </a:extLst>
          </p:cNvPr>
          <p:cNvSpPr>
            <a:spLocks noGrp="1"/>
          </p:cNvSpPr>
          <p:nvPr>
            <p:ph type="title"/>
          </p:nvPr>
        </p:nvSpPr>
        <p:spPr/>
        <p:txBody>
          <a:bodyPr/>
          <a:lstStyle/>
          <a:p>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TABLE NAME: LEAVE APPROVE</a:t>
            </a:r>
            <a:br>
              <a:rPr lang="en-US" sz="1800" dirty="0">
                <a:effectLst/>
                <a:latin typeface="Calibri" panose="020F0502020204030204" pitchFamily="34" charset="0"/>
                <a:ea typeface="Calibri" panose="020F0502020204030204" pitchFamily="34" charset="0"/>
                <a:cs typeface="Times New Roman" panose="02020603050405020304" pitchFamily="18" charset="0"/>
              </a:rPr>
            </a:br>
            <a:endParaRPr lang="en-US" dirty="0"/>
          </a:p>
        </p:txBody>
      </p:sp>
      <p:graphicFrame>
        <p:nvGraphicFramePr>
          <p:cNvPr id="8" name="Content Placeholder 7">
            <a:extLst>
              <a:ext uri="{FF2B5EF4-FFF2-40B4-BE49-F238E27FC236}">
                <a16:creationId xmlns:a16="http://schemas.microsoft.com/office/drawing/2014/main" id="{774417D4-09A7-4053-865F-2EFC1F801E57}"/>
              </a:ext>
            </a:extLst>
          </p:cNvPr>
          <p:cNvGraphicFramePr>
            <a:graphicFrameLocks noGrp="1"/>
          </p:cNvGraphicFramePr>
          <p:nvPr>
            <p:ph idx="1"/>
            <p:extLst>
              <p:ext uri="{D42A27DB-BD31-4B8C-83A1-F6EECF244321}">
                <p14:modId xmlns:p14="http://schemas.microsoft.com/office/powerpoint/2010/main" val="1588526479"/>
              </p:ext>
            </p:extLst>
          </p:nvPr>
        </p:nvGraphicFramePr>
        <p:xfrm>
          <a:off x="1961322" y="1961322"/>
          <a:ext cx="7068378" cy="2909412"/>
        </p:xfrm>
        <a:graphic>
          <a:graphicData uri="http://schemas.openxmlformats.org/drawingml/2006/table">
            <a:tbl>
              <a:tblPr firstRow="1" firstCol="1" bandRow="1">
                <a:tableStyleId>{5C22544A-7EE6-4342-B048-85BDC9FD1C3A}</a:tableStyleId>
              </a:tblPr>
              <a:tblGrid>
                <a:gridCol w="1766713">
                  <a:extLst>
                    <a:ext uri="{9D8B030D-6E8A-4147-A177-3AD203B41FA5}">
                      <a16:colId xmlns:a16="http://schemas.microsoft.com/office/drawing/2014/main" val="3658752624"/>
                    </a:ext>
                  </a:extLst>
                </a:gridCol>
                <a:gridCol w="1766713">
                  <a:extLst>
                    <a:ext uri="{9D8B030D-6E8A-4147-A177-3AD203B41FA5}">
                      <a16:colId xmlns:a16="http://schemas.microsoft.com/office/drawing/2014/main" val="2906800215"/>
                    </a:ext>
                  </a:extLst>
                </a:gridCol>
                <a:gridCol w="1767476">
                  <a:extLst>
                    <a:ext uri="{9D8B030D-6E8A-4147-A177-3AD203B41FA5}">
                      <a16:colId xmlns:a16="http://schemas.microsoft.com/office/drawing/2014/main" val="2864190937"/>
                    </a:ext>
                  </a:extLst>
                </a:gridCol>
                <a:gridCol w="1767476">
                  <a:extLst>
                    <a:ext uri="{9D8B030D-6E8A-4147-A177-3AD203B41FA5}">
                      <a16:colId xmlns:a16="http://schemas.microsoft.com/office/drawing/2014/main" val="3093440969"/>
                    </a:ext>
                  </a:extLst>
                </a:gridCol>
              </a:tblGrid>
              <a:tr h="484902">
                <a:tc>
                  <a:txBody>
                    <a:bodyPr/>
                    <a:lstStyle/>
                    <a:p>
                      <a:pPr marL="0" marR="0">
                        <a:lnSpc>
                          <a:spcPct val="150000"/>
                        </a:lnSpc>
                        <a:spcBef>
                          <a:spcPts val="0"/>
                        </a:spcBef>
                        <a:spcAft>
                          <a:spcPts val="0"/>
                        </a:spcAft>
                      </a:pPr>
                      <a:r>
                        <a:rPr lang="en-US" sz="1200">
                          <a:effectLst/>
                        </a:rPr>
                        <a:t>FIELD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DATA TYPE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SIZE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CONSTRAINT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17680808"/>
                  </a:ext>
                </a:extLst>
              </a:tr>
              <a:tr h="484902">
                <a:tc>
                  <a:txBody>
                    <a:bodyPr/>
                    <a:lstStyle/>
                    <a:p>
                      <a:pPr marL="0" marR="0">
                        <a:lnSpc>
                          <a:spcPct val="150000"/>
                        </a:lnSpc>
                        <a:spcBef>
                          <a:spcPts val="0"/>
                        </a:spcBef>
                        <a:spcAft>
                          <a:spcPts val="0"/>
                        </a:spcAft>
                      </a:pPr>
                      <a:r>
                        <a:rPr lang="en-US" sz="1200">
                          <a:effectLst/>
                        </a:rPr>
                        <a:t>Leave id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Primary key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81813823"/>
                  </a:ext>
                </a:extLst>
              </a:tr>
              <a:tr h="484902">
                <a:tc>
                  <a:txBody>
                    <a:bodyPr/>
                    <a:lstStyle/>
                    <a:p>
                      <a:pPr marL="0" marR="0">
                        <a:lnSpc>
                          <a:spcPct val="150000"/>
                        </a:lnSpc>
                        <a:spcBef>
                          <a:spcPts val="0"/>
                        </a:spcBef>
                        <a:spcAft>
                          <a:spcPts val="0"/>
                        </a:spcAft>
                      </a:pPr>
                      <a:r>
                        <a:rPr lang="en-US" sz="1200">
                          <a:effectLst/>
                        </a:rPr>
                        <a:t>Employee id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Int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Foreign key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07420808"/>
                  </a:ext>
                </a:extLst>
              </a:tr>
              <a:tr h="484902">
                <a:tc>
                  <a:txBody>
                    <a:bodyPr/>
                    <a:lstStyle/>
                    <a:p>
                      <a:pPr marL="0" marR="0">
                        <a:lnSpc>
                          <a:spcPct val="150000"/>
                        </a:lnSpc>
                        <a:spcBef>
                          <a:spcPts val="0"/>
                        </a:spcBef>
                        <a:spcAft>
                          <a:spcPts val="0"/>
                        </a:spcAft>
                      </a:pPr>
                      <a:r>
                        <a:rPr lang="en-US" sz="1200">
                          <a:effectLst/>
                        </a:rPr>
                        <a:t>From 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8849728"/>
                  </a:ext>
                </a:extLst>
              </a:tr>
              <a:tr h="484902">
                <a:tc>
                  <a:txBody>
                    <a:bodyPr/>
                    <a:lstStyle/>
                    <a:p>
                      <a:pPr marL="0" marR="0">
                        <a:lnSpc>
                          <a:spcPct val="150000"/>
                        </a:lnSpc>
                        <a:spcBef>
                          <a:spcPts val="0"/>
                        </a:spcBef>
                        <a:spcAft>
                          <a:spcPts val="0"/>
                        </a:spcAft>
                      </a:pPr>
                      <a:r>
                        <a:rPr lang="en-US" sz="1200">
                          <a:effectLst/>
                        </a:rPr>
                        <a:t>To 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Date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Not null</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80881385"/>
                  </a:ext>
                </a:extLst>
              </a:tr>
              <a:tr h="484902">
                <a:tc>
                  <a:txBody>
                    <a:bodyPr/>
                    <a:lstStyle/>
                    <a:p>
                      <a:pPr marL="0" marR="0">
                        <a:lnSpc>
                          <a:spcPct val="150000"/>
                        </a:lnSpc>
                        <a:spcBef>
                          <a:spcPts val="0"/>
                        </a:spcBef>
                        <a:spcAft>
                          <a:spcPts val="0"/>
                        </a:spcAft>
                      </a:pPr>
                      <a:r>
                        <a:rPr lang="en-US" sz="1200">
                          <a:effectLst/>
                        </a:rPr>
                        <a:t>Leave status</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Varchar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50000"/>
                        </a:lnSpc>
                        <a:spcBef>
                          <a:spcPts val="0"/>
                        </a:spcBef>
                        <a:spcAft>
                          <a:spcPts val="0"/>
                        </a:spcAft>
                      </a:pPr>
                      <a:r>
                        <a:rPr lang="en-US" sz="1200" dirty="0">
                          <a:effectLst/>
                        </a:rPr>
                        <a:t>Not null</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54751688"/>
                  </a:ext>
                </a:extLst>
              </a:tr>
            </a:tbl>
          </a:graphicData>
        </a:graphic>
      </p:graphicFrame>
    </p:spTree>
    <p:extLst>
      <p:ext uri="{BB962C8B-B14F-4D97-AF65-F5344CB8AC3E}">
        <p14:creationId xmlns:p14="http://schemas.microsoft.com/office/powerpoint/2010/main" val="30948526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D2EE0-5AC8-45F4-8554-24732871004A}"/>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2EB2D3A9-F6A9-4FE1-A06B-07BC4B96131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74090" y="1391479"/>
            <a:ext cx="10307788" cy="4933122"/>
          </a:xfrm>
        </p:spPr>
      </p:pic>
    </p:spTree>
    <p:extLst>
      <p:ext uri="{BB962C8B-B14F-4D97-AF65-F5344CB8AC3E}">
        <p14:creationId xmlns:p14="http://schemas.microsoft.com/office/powerpoint/2010/main" val="16438206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096AF-3A99-4974-90F7-1BA2E6421628}"/>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B5160903-2090-48C6-93C9-A6CADD43F4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53674" y="1192697"/>
            <a:ext cx="7761714" cy="5131904"/>
          </a:xfrm>
        </p:spPr>
      </p:pic>
    </p:spTree>
    <p:extLst>
      <p:ext uri="{BB962C8B-B14F-4D97-AF65-F5344CB8AC3E}">
        <p14:creationId xmlns:p14="http://schemas.microsoft.com/office/powerpoint/2010/main" val="16071396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62463-33D8-4E1A-958D-CCBB225CD6E3}"/>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F19721C3-22A6-4DCD-AAC2-A883A327A1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74090" y="1391479"/>
            <a:ext cx="10307788" cy="4933122"/>
          </a:xfrm>
        </p:spPr>
      </p:pic>
    </p:spTree>
    <p:extLst>
      <p:ext uri="{BB962C8B-B14F-4D97-AF65-F5344CB8AC3E}">
        <p14:creationId xmlns:p14="http://schemas.microsoft.com/office/powerpoint/2010/main" val="5555226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65D19-DD92-4862-BB01-234A9DD5B379}"/>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61F32E52-AEC4-4556-A889-B2F774AB041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80200" y="1364975"/>
            <a:ext cx="8817846" cy="4959626"/>
          </a:xfrm>
        </p:spPr>
      </p:pic>
    </p:spTree>
    <p:extLst>
      <p:ext uri="{BB962C8B-B14F-4D97-AF65-F5344CB8AC3E}">
        <p14:creationId xmlns:p14="http://schemas.microsoft.com/office/powerpoint/2010/main" val="35417816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96141-EDF2-419B-B023-7C58508B64E8}"/>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6D4F102F-8254-4E20-9D79-C989FCEBC43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75963" y="704088"/>
            <a:ext cx="10640074" cy="5092148"/>
          </a:xfrm>
        </p:spPr>
      </p:pic>
    </p:spTree>
    <p:extLst>
      <p:ext uri="{BB962C8B-B14F-4D97-AF65-F5344CB8AC3E}">
        <p14:creationId xmlns:p14="http://schemas.microsoft.com/office/powerpoint/2010/main" val="9714950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B6BD-6029-4719-B606-0057CD8A37C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B7A32F1A-EEE9-4FAF-8505-D230D3A96A6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22466778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Flow">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800</TotalTime>
  <Words>751</Words>
  <Application>Microsoft Office PowerPoint</Application>
  <PresentationFormat>Widescreen</PresentationFormat>
  <Paragraphs>181</Paragraphs>
  <Slides>22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Calibri</vt:lpstr>
      <vt:lpstr>Constantia</vt:lpstr>
      <vt:lpstr>Symbol</vt:lpstr>
      <vt:lpstr>Times New Roman</vt:lpstr>
      <vt:lpstr>Wingdings</vt:lpstr>
      <vt:lpstr>Wingdings 2</vt:lpstr>
      <vt:lpstr>Flow</vt:lpstr>
      <vt:lpstr>EMPLOYEE MANAGEMENT SYSTEM</vt:lpstr>
      <vt:lpstr>ABSTRACT</vt:lpstr>
      <vt:lpstr> HARDWARE SPECFICATION</vt:lpstr>
      <vt:lpstr> SOFTWARE SPECIFICATION </vt:lpstr>
      <vt:lpstr>EXISTING SYSTEM</vt:lpstr>
      <vt:lpstr>PROPOSED SYSTEM</vt:lpstr>
      <vt:lpstr>Modules</vt:lpstr>
      <vt:lpstr>PowerPoint Presentation</vt:lpstr>
      <vt:lpstr>PowerPoint Presentation</vt:lpstr>
      <vt:lpstr>Data Flow Diagram</vt:lpstr>
      <vt:lpstr>Level 1:</vt:lpstr>
      <vt:lpstr>TABLE NAME: MANAGER </vt:lpstr>
      <vt:lpstr>TABLE NAME: EMPLOYEES </vt:lpstr>
      <vt:lpstr>TABLE NAME: LEAVE TYPE </vt:lpstr>
      <vt:lpstr>TABLE NAME: LEAVE</vt:lpstr>
      <vt:lpstr>TABLE NAME: LEAVE APPROVE </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COLLEGE VOTING SYSTEM</dc:title>
  <dc:creator>Gokul Balasubramaniyam</dc:creator>
  <cp:lastModifiedBy>Gokul Balasubramaniyam</cp:lastModifiedBy>
  <cp:revision>25</cp:revision>
  <dcterms:created xsi:type="dcterms:W3CDTF">2021-01-26T14:06:30Z</dcterms:created>
  <dcterms:modified xsi:type="dcterms:W3CDTF">2021-02-18T17:38:07Z</dcterms:modified>
</cp:coreProperties>
</file>