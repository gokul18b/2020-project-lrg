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C6E12D2-DA3A-480B-BCDF-BFB6C7EBE402}" type="datetimeFigureOut">
              <a:rPr lang="en-US" smtClean="0"/>
              <a:pPr/>
              <a:t>1/26/2021</a:t>
            </a:fld>
            <a:endParaRPr lang="en-US"/>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8978603" y="6555112"/>
            <a:ext cx="784448" cy="228600"/>
          </a:xfrm>
        </p:spPr>
        <p:txBody>
          <a:bodyPr/>
          <a:lstStyle>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3"/>
            <a:ext cx="8026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a:xfrm>
            <a:off x="609600" y="6556248"/>
            <a:ext cx="4876800" cy="228600"/>
          </a:xfrm>
        </p:spPr>
        <p:txBody>
          <a:bodyPr/>
          <a:lstStyle>
            <a:extLst/>
          </a:lstStyle>
          <a:p>
            <a:endParaRPr lang="en-US"/>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C6E12D2-DA3A-480B-BCDF-BFB6C7EBE402}" type="datetimeFigureOut">
              <a:rPr lang="en-US" smtClean="0"/>
              <a:pPr/>
              <a:t>1/26/2021</a:t>
            </a:fld>
            <a:endParaRPr lang="en-US"/>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smtClean="0"/>
              <a:t>COLLAGE AUTOMATION SYSTEM</a:t>
            </a:r>
            <a:endParaRPr lang="en-US" dirty="0"/>
          </a:p>
        </p:txBody>
      </p:sp>
      <p:sp>
        <p:nvSpPr>
          <p:cNvPr id="3" name="Subtitle 2">
            <a:extLst>
              <a:ext uri="{FF2B5EF4-FFF2-40B4-BE49-F238E27FC236}">
                <a16:creationId xmlns=""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 xmlns:p14="http://schemas.microsoft.com/office/powerpoint/2010/main" val="15472922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 xmlns:a16="http://schemas.microsoft.com/office/drawing/2014/main" id="{5854B835-7BC2-467F-A535-7DE21884A81B}"/>
              </a:ext>
            </a:extLst>
          </p:cNvPr>
          <p:cNvSpPr>
            <a:spLocks noGrp="1"/>
          </p:cNvSpPr>
          <p:nvPr>
            <p:ph idx="1"/>
          </p:nvPr>
        </p:nvSpPr>
        <p:spPr/>
        <p:txBody>
          <a:bodyPr>
            <a:normAutofit fontScale="92500"/>
          </a:bodyPr>
          <a:lstStyle/>
          <a:p>
            <a:r>
              <a:rPr lang="en-US" sz="1800" dirty="0" smtClean="0">
                <a:latin typeface="Calibri" panose="020F0502020204030204" pitchFamily="34" charset="0"/>
                <a:ea typeface="Times New Roman" panose="02020603050405020304" pitchFamily="18" charset="0"/>
                <a:cs typeface="Calibri" panose="020F0502020204030204" pitchFamily="34" charset="0"/>
              </a:rPr>
              <a:t>Today all the work at the time of admission of the students is done manually by ink and paper, which is very slow and consuming much efforts and time. It is required to Design of a Computerized Automated Student Admission System, to speed up and make it easy to use system. </a:t>
            </a:r>
            <a:r>
              <a:rPr lang="en-US" sz="1800" dirty="0" smtClean="0">
                <a:latin typeface="Calibri" panose="020F0502020204030204" pitchFamily="34" charset="0"/>
                <a:ea typeface="Times New Roman" panose="02020603050405020304" pitchFamily="18" charset="0"/>
                <a:cs typeface="Calibri" panose="020F0502020204030204" pitchFamily="34" charset="0"/>
              </a:rPr>
              <a:t>Student admissions are a vital part of any university’s running because students are what keep a University alive.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The </a:t>
            </a:r>
            <a:r>
              <a:rPr lang="en-US" sz="1800" dirty="0" smtClean="0">
                <a:latin typeface="Calibri" panose="020F0502020204030204" pitchFamily="34" charset="0"/>
                <a:ea typeface="Times New Roman" panose="02020603050405020304" pitchFamily="18" charset="0"/>
                <a:cs typeface="Calibri" panose="020F0502020204030204" pitchFamily="34" charset="0"/>
              </a:rPr>
              <a:t>student admission is one of the most important activities within a university as one cannot survive without students. </a:t>
            </a:r>
            <a:r>
              <a:rPr lang="en-US" sz="1800" dirty="0" smtClean="0">
                <a:latin typeface="Calibri" panose="020F0502020204030204" pitchFamily="34" charset="0"/>
                <a:ea typeface="Times New Roman" panose="02020603050405020304" pitchFamily="18" charset="0"/>
                <a:cs typeface="Calibri" panose="020F0502020204030204" pitchFamily="34" charset="0"/>
              </a:rPr>
              <a:t>A poor admissions system can mean fewer students being admitted into a university because of mistakes or an overly slow response time.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process begins with a potential student completing an application form through the Universities and Colleges Admissions Service, the first step for students is to apply directly to the university through a custom online form</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project’s aim is to automate the system, </a:t>
            </a:r>
            <a:r>
              <a:rPr lang="en-US" sz="1800" dirty="0" err="1" smtClean="0">
                <a:latin typeface="Calibri" panose="020F0502020204030204" pitchFamily="34" charset="0"/>
                <a:ea typeface="Times New Roman" panose="02020603050405020304" pitchFamily="18" charset="0"/>
                <a:cs typeface="Calibri" panose="020F0502020204030204" pitchFamily="34" charset="0"/>
              </a:rPr>
              <a:t>prechecking</a:t>
            </a:r>
            <a:r>
              <a:rPr lang="en-US" sz="1800" dirty="0" smtClean="0">
                <a:latin typeface="Calibri" panose="020F0502020204030204" pitchFamily="34" charset="0"/>
                <a:ea typeface="Times New Roman" panose="02020603050405020304" pitchFamily="18" charset="0"/>
                <a:cs typeface="Calibri" panose="020F0502020204030204" pitchFamily="34" charset="0"/>
              </a:rPr>
              <a:t> the inclusion of all required material and automatically ranking each student’s application based on a number of criteria. These criteria include the ranking of their university, their grade at said university and their language grade Certificate.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data used by the system is stored in a database that will be the center of all information held about students and the base for the remainder of the process after the initial application has been made</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enables things to be simplified and considerably quickened, making the jobs of the people involved easier. </a:t>
            </a:r>
            <a:r>
              <a:rPr lang="en-US" sz="1800" dirty="0" smtClean="0">
                <a:latin typeface="Calibri" panose="020F0502020204030204" pitchFamily="34" charset="0"/>
                <a:ea typeface="Times New Roman" panose="02020603050405020304" pitchFamily="18" charset="0"/>
                <a:cs typeface="Calibri" panose="020F0502020204030204" pitchFamily="34" charset="0"/>
              </a:rPr>
              <a:t>It supports the current process but centralizes it and makes it possible for decisions to be made earlier and easier way.</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 xmlns:p14="http://schemas.microsoft.com/office/powerpoint/2010/main" val="1446555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 xmlns:p14="http://schemas.microsoft.com/office/powerpoint/2010/main" val="144813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Calibri" panose="020F0502020204030204" pitchFamily="34" charset="0"/>
              </a:rPr>
              <a:t>SOFTWARE SPECIFICATION</a:t>
            </a:r>
            <a:br>
              <a:rPr lang="en-US" sz="1800" dirty="0">
                <a:latin typeface="Times New Roman" panose="02020603050405020304" pitchFamily="18" charset="0"/>
                <a:ea typeface="Calibri" panose="020F0502020204030204" pitchFamily="34" charset="0"/>
              </a:rPr>
            </a:br>
            <a:endParaRPr lang="en-US" sz="1800" dirty="0">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 xmlns:p14="http://schemas.microsoft.com/office/powerpoint/2010/main" val="24478363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 xmlns:a16="http://schemas.microsoft.com/office/drawing/2014/main" id="{B678DDFF-0C1F-4E6A-A7AF-6FD81C2BA9CF}"/>
              </a:ext>
            </a:extLst>
          </p:cNvPr>
          <p:cNvSpPr>
            <a:spLocks noGrp="1"/>
          </p:cNvSpPr>
          <p:nvPr>
            <p:ph idx="1"/>
          </p:nvPr>
        </p:nvSpPr>
        <p:spPr/>
        <p:txBody>
          <a:bodyPr>
            <a:normAutofit/>
          </a:bodyPr>
          <a:lstStyle/>
          <a:p>
            <a:r>
              <a:rPr lang="en-US" sz="1800" dirty="0" smtClean="0">
                <a:latin typeface="Calibri" panose="020F0502020204030204" pitchFamily="34" charset="0"/>
                <a:ea typeface="Times New Roman" panose="02020603050405020304" pitchFamily="18" charset="0"/>
              </a:rPr>
              <a:t>The college automation system has to handle records for many numbers of students and maintenance was difficult. Though it has used an information system, it was totally manual. </a:t>
            </a:r>
            <a:r>
              <a:rPr lang="en-US" sz="1800" dirty="0" smtClean="0">
                <a:latin typeface="Calibri" panose="020F0502020204030204" pitchFamily="34" charset="0"/>
                <a:ea typeface="Times New Roman" panose="02020603050405020304" pitchFamily="18" charset="0"/>
              </a:rPr>
              <a:t>Hence there is a need to upgrade the system with a computer-based information system</a:t>
            </a:r>
            <a:r>
              <a:rPr lang="en-US" sz="1800" dirty="0" smtClean="0">
                <a:latin typeface="Calibri" panose="020F0502020204030204" pitchFamily="34" charset="0"/>
                <a:ea typeface="Times New Roman" panose="02020603050405020304" pitchFamily="18" charset="0"/>
              </a:rPr>
              <a:t>.</a:t>
            </a:r>
          </a:p>
          <a:p>
            <a:endParaRPr lang="en-IN" sz="1800" dirty="0" smtClean="0">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Disadvantages</a:t>
            </a:r>
          </a:p>
          <a:p>
            <a:pPr marL="0" indent="0">
              <a:buNone/>
            </a:pPr>
            <a:endParaRPr lang="en-US"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Waste </a:t>
            </a:r>
            <a:r>
              <a:rPr lang="en-US" sz="1800" dirty="0" smtClean="0">
                <a:latin typeface="Calibri" panose="020F0502020204030204" pitchFamily="34" charset="0"/>
                <a:ea typeface="Times New Roman" panose="02020603050405020304" pitchFamily="18" charset="0"/>
              </a:rPr>
              <a:t>of time</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Allocate student as class wise</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Very hard to manage admission system manually</a:t>
            </a:r>
            <a:endParaRPr lang="en-IN" sz="1800" dirty="0" smtClean="0">
              <a:latin typeface="Calibri" panose="020F0502020204030204" pitchFamily="34" charset="0"/>
              <a:ea typeface="Times New Roman" panose="02020603050405020304" pitchFamily="18" charset="0"/>
            </a:endParaRPr>
          </a:p>
          <a:p>
            <a:pPr marL="0" indent="0">
              <a:buNone/>
            </a:pPr>
            <a:endParaRPr lang="en-US" dirty="0"/>
          </a:p>
        </p:txBody>
      </p:sp>
    </p:spTree>
    <p:extLst>
      <p:ext uri="{BB962C8B-B14F-4D97-AF65-F5344CB8AC3E}">
        <p14:creationId xmlns="" xmlns:p14="http://schemas.microsoft.com/office/powerpoint/2010/main" val="159029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 xmlns:a16="http://schemas.microsoft.com/office/drawing/2014/main"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In this system overcome these all kind of issues. Systematically students are assigned the class. With the help of the system, it could not be conflict. So, it takes very less time to allocate the student process.</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Features:</a:t>
            </a:r>
          </a:p>
          <a:p>
            <a:pPr marL="0" indent="0">
              <a:buNone/>
            </a:pPr>
            <a:endParaRPr lang="en-US" sz="1800" b="1" kern="100" dirty="0">
              <a:latin typeface="Times New Roman" panose="02020603050405020304" pitchFamily="18"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By developing the system, we can attain the following features: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It’s automated computerized web-based software system</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It uses technologies like html</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It’s easy to operate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Attractive user interface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b="1" dirty="0"/>
          </a:p>
        </p:txBody>
      </p:sp>
    </p:spTree>
    <p:extLst>
      <p:ext uri="{BB962C8B-B14F-4D97-AF65-F5344CB8AC3E}">
        <p14:creationId xmlns="" xmlns:p14="http://schemas.microsoft.com/office/powerpoint/2010/main" val="18606351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 xmlns:a16="http://schemas.microsoft.com/office/drawing/2014/main" id="{C08555ED-5306-4AC3-82F6-94DC618DC81F}"/>
              </a:ext>
            </a:extLst>
          </p:cNvPr>
          <p:cNvSpPr>
            <a:spLocks noGrp="1"/>
          </p:cNvSpPr>
          <p:nvPr>
            <p:ph idx="1"/>
          </p:nvPr>
        </p:nvSpPr>
        <p:spPr/>
        <p:txBody>
          <a:bodyPr>
            <a:normAutofit/>
          </a:bodyPr>
          <a:lstStyle/>
          <a:p>
            <a:pPr lvl="0">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lvl="0">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Student Registration</a:t>
            </a:r>
          </a:p>
          <a:p>
            <a:pPr lvl="0">
              <a:buNone/>
            </a:pPr>
            <a:r>
              <a:rPr lang="en-US" sz="1800" b="1" dirty="0" smtClean="0"/>
              <a:t>	</a:t>
            </a:r>
            <a:endParaRPr lang="en-IN" sz="1800" dirty="0" smtClean="0"/>
          </a:p>
          <a:p>
            <a:r>
              <a:rPr lang="en-US" sz="1800" dirty="0" smtClean="0"/>
              <a:t>Student registration module is containing lot of fields for collect the student details. Which is the first module for this application. </a:t>
            </a:r>
            <a:endParaRPr lang="en-US" sz="1800" dirty="0" smtClean="0"/>
          </a:p>
          <a:p>
            <a:r>
              <a:rPr lang="en-US" sz="1800" dirty="0" smtClean="0"/>
              <a:t>Based </a:t>
            </a:r>
            <a:r>
              <a:rPr lang="en-US" sz="1800" dirty="0" smtClean="0"/>
              <a:t>on this detail’s student will be allocated to the </a:t>
            </a:r>
            <a:r>
              <a:rPr lang="en-US" sz="1800" dirty="0" smtClean="0"/>
              <a:t>admission</a:t>
            </a:r>
          </a:p>
          <a:p>
            <a:endParaRPr lang="en-IN" sz="1800" dirty="0" smtClean="0"/>
          </a:p>
          <a:p>
            <a:pPr lvl="0">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Student Approval</a:t>
            </a:r>
            <a:r>
              <a:rPr lang="en-US" sz="1800" b="1" dirty="0" smtClean="0"/>
              <a:t>	</a:t>
            </a:r>
            <a:endParaRPr lang="en-US" sz="1800" b="1" dirty="0" smtClean="0"/>
          </a:p>
          <a:p>
            <a:pPr lvl="0">
              <a:buNone/>
            </a:pPr>
            <a:endParaRPr lang="en-IN" sz="1800" dirty="0" smtClean="0"/>
          </a:p>
          <a:p>
            <a:r>
              <a:rPr lang="en-US" sz="1800" dirty="0" smtClean="0"/>
              <a:t>Once the student registers the application, then the notification has sent to the admin, then admin decide to execute approve or reject</a:t>
            </a:r>
            <a:r>
              <a:rPr lang="en-US" sz="1800" dirty="0" smtClean="0"/>
              <a:t>.</a:t>
            </a:r>
          </a:p>
          <a:p>
            <a:r>
              <a:rPr lang="en-US" sz="1800" dirty="0" smtClean="0"/>
              <a:t> </a:t>
            </a:r>
            <a:r>
              <a:rPr lang="en-US" sz="1800" dirty="0" smtClean="0"/>
              <a:t>This is an main action for the application once the student has rejected they will be not allocated</a:t>
            </a:r>
            <a:endParaRPr lang="en-IN" sz="1800" dirty="0"/>
          </a:p>
        </p:txBody>
      </p:sp>
    </p:spTree>
    <p:extLst>
      <p:ext uri="{BB962C8B-B14F-4D97-AF65-F5344CB8AC3E}">
        <p14:creationId xmlns="" xmlns:p14="http://schemas.microsoft.com/office/powerpoint/2010/main" val="42150257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0B8F9E25-F29C-4FEA-ACB4-6D6057146BE7}"/>
              </a:ext>
            </a:extLst>
          </p:cNvPr>
          <p:cNvSpPr>
            <a:spLocks noGrp="1"/>
          </p:cNvSpPr>
          <p:nvPr>
            <p:ph idx="1"/>
          </p:nvPr>
        </p:nvSpPr>
        <p:spPr/>
        <p:txBody>
          <a:bodyPr>
            <a:normAutofit/>
          </a:bodyPr>
          <a:lstStyle/>
          <a:p>
            <a:pPr lvl="0">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lvl="0">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Semester </a:t>
            </a:r>
            <a:r>
              <a:rPr lang="en-US" sz="1800" b="1" dirty="0" smtClean="0">
                <a:latin typeface="Calibri" panose="020F0502020204030204" pitchFamily="34" charset="0"/>
                <a:ea typeface="Times New Roman" panose="02020603050405020304" pitchFamily="18" charset="0"/>
                <a:cs typeface="Calibri" panose="020F0502020204030204" pitchFamily="34" charset="0"/>
              </a:rPr>
              <a:t>Marks</a:t>
            </a: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t>Teachers/Staff can able to submit or view the student’s semester marks</a:t>
            </a:r>
            <a:r>
              <a:rPr lang="en-US" sz="1800" dirty="0" smtClean="0"/>
              <a:t>.</a:t>
            </a:r>
          </a:p>
          <a:p>
            <a:r>
              <a:rPr lang="en-US" sz="1800" dirty="0" smtClean="0"/>
              <a:t> </a:t>
            </a:r>
            <a:r>
              <a:rPr lang="en-US" sz="1800" dirty="0" smtClean="0"/>
              <a:t>After the university exam the teacher submit the student marks details as a department wise, and then the respective teacher can able to view the student marks</a:t>
            </a:r>
            <a:r>
              <a:rPr lang="en-US" sz="1800" dirty="0" smtClean="0"/>
              <a:t>.</a:t>
            </a:r>
          </a:p>
          <a:p>
            <a:pPr>
              <a:buNone/>
            </a:pPr>
            <a:endParaRPr lang="en-IN" sz="1800" dirty="0" smtClean="0"/>
          </a:p>
          <a:p>
            <a:pPr lvl="0">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Seat </a:t>
            </a:r>
            <a:r>
              <a:rPr lang="en-US" sz="1800" b="1" dirty="0" smtClean="0">
                <a:latin typeface="Calibri" panose="020F0502020204030204" pitchFamily="34" charset="0"/>
                <a:ea typeface="Times New Roman" panose="02020603050405020304" pitchFamily="18" charset="0"/>
                <a:cs typeface="Calibri" panose="020F0502020204030204" pitchFamily="34" charset="0"/>
              </a:rPr>
              <a:t>Allocate</a:t>
            </a:r>
          </a:p>
          <a:p>
            <a:pPr lvl="0">
              <a:buNone/>
            </a:pPr>
            <a:r>
              <a:rPr lang="en-US" sz="1800" b="1" dirty="0" smtClean="0"/>
              <a:t>	</a:t>
            </a:r>
            <a:endParaRPr lang="en-IN" sz="1800" dirty="0" smtClean="0"/>
          </a:p>
          <a:p>
            <a:r>
              <a:rPr lang="en-US" sz="1800" dirty="0" smtClean="0"/>
              <a:t>After admin approval for student registration form, then seat will be allocating to the requested department. </a:t>
            </a:r>
            <a:endParaRPr lang="en-US" sz="1800" dirty="0" smtClean="0"/>
          </a:p>
          <a:p>
            <a:r>
              <a:rPr lang="en-US" sz="1800" dirty="0" smtClean="0"/>
              <a:t>Accepted </a:t>
            </a:r>
            <a:r>
              <a:rPr lang="en-US" sz="1800" dirty="0" smtClean="0"/>
              <a:t>student count can’t be more than maximum no of student count.</a:t>
            </a:r>
            <a:endParaRPr lang="en-IN" sz="1800" dirty="0" smtClean="0"/>
          </a:p>
          <a:p>
            <a:pPr marL="0" marR="0" lvl="0" indent="0">
              <a:lnSpc>
                <a:spcPct val="150000"/>
              </a:lnSpc>
              <a:spcAft>
                <a:spcPts val="1000"/>
              </a:spcAft>
              <a:buNone/>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24169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68DDDC8A-04BB-42C9-B0EC-BF82D0492888}"/>
              </a:ext>
            </a:extLst>
          </p:cNvPr>
          <p:cNvSpPr>
            <a:spLocks noGrp="1"/>
          </p:cNvSpPr>
          <p:nvPr>
            <p:ph idx="1"/>
          </p:nvPr>
        </p:nvSpPr>
        <p:spPr/>
        <p:txBody>
          <a:bodyPr>
            <a:normAutofit/>
          </a:bodyPr>
          <a:lstStyle/>
          <a:p>
            <a:pPr lvl="0">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lvl="0">
              <a:buNone/>
            </a:pPr>
            <a:r>
              <a:rPr lang="en-US" sz="2400" b="1" dirty="0" smtClean="0">
                <a:latin typeface="Calibri" panose="020F0502020204030204" pitchFamily="34" charset="0"/>
                <a:ea typeface="Times New Roman" panose="02020603050405020304" pitchFamily="18" charset="0"/>
                <a:cs typeface="Calibri" panose="020F0502020204030204" pitchFamily="34" charset="0"/>
              </a:rPr>
              <a:t>Class </a:t>
            </a:r>
            <a:r>
              <a:rPr lang="en-US" sz="2400" b="1" dirty="0" smtClean="0">
                <a:latin typeface="Calibri" panose="020F0502020204030204" pitchFamily="34" charset="0"/>
                <a:ea typeface="Times New Roman" panose="02020603050405020304" pitchFamily="18" charset="0"/>
                <a:cs typeface="Calibri" panose="020F0502020204030204" pitchFamily="34" charset="0"/>
              </a:rPr>
              <a:t>wise student </a:t>
            </a:r>
            <a:r>
              <a:rPr lang="en-US" sz="2400" b="1" dirty="0" smtClean="0">
                <a:latin typeface="Calibri" panose="020F0502020204030204" pitchFamily="34" charset="0"/>
                <a:ea typeface="Times New Roman" panose="02020603050405020304" pitchFamily="18" charset="0"/>
                <a:cs typeface="Calibri" panose="020F0502020204030204" pitchFamily="34" charset="0"/>
              </a:rPr>
              <a:t>details</a:t>
            </a:r>
          </a:p>
          <a:p>
            <a:pPr lvl="0">
              <a:buNone/>
            </a:pPr>
            <a:endParaRPr lang="en-IN" sz="24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t>Finally, this module generates and display class wise student details, we can easily find out the student details as a class wise. </a:t>
            </a:r>
            <a:endParaRPr lang="en-US" sz="1800" dirty="0" smtClean="0"/>
          </a:p>
          <a:p>
            <a:r>
              <a:rPr lang="en-US" sz="1800" dirty="0" smtClean="0"/>
              <a:t>This </a:t>
            </a:r>
            <a:r>
              <a:rPr lang="en-US" sz="1800" dirty="0" smtClean="0"/>
              <a:t>will very helpful to find the all-student details in a single window. </a:t>
            </a:r>
            <a:endParaRPr lang="en-US" sz="1800" dirty="0" smtClean="0"/>
          </a:p>
          <a:p>
            <a:r>
              <a:rPr lang="en-US" sz="1800" dirty="0" smtClean="0"/>
              <a:t>Both </a:t>
            </a:r>
            <a:r>
              <a:rPr lang="en-US" sz="1800" dirty="0" smtClean="0"/>
              <a:t>admin and teachers can able to view the student list.</a:t>
            </a:r>
            <a:endParaRPr lang="en-IN" sz="1800" dirty="0" smtClean="0"/>
          </a:p>
          <a:p>
            <a:pPr>
              <a:buNone/>
            </a:pPr>
            <a:endParaRPr lang="en-US" dirty="0"/>
          </a:p>
        </p:txBody>
      </p:sp>
    </p:spTree>
    <p:extLst>
      <p:ext uri="{BB962C8B-B14F-4D97-AF65-F5344CB8AC3E}">
        <p14:creationId xmlns="" xmlns:p14="http://schemas.microsoft.com/office/powerpoint/2010/main" val="3121811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a:t>
            </a:r>
            <a:r>
              <a:rPr lang="en-US" sz="3600" dirty="0" smtClean="0">
                <a:solidFill>
                  <a:schemeClr val="tx2"/>
                </a:solidFill>
                <a:latin typeface="+mj-lt"/>
                <a:ea typeface="+mj-ea"/>
                <a:cs typeface="+mj-cs"/>
              </a:rPr>
              <a:t>0:</a:t>
            </a:r>
            <a:endParaRPr lang="en-US" sz="3600" dirty="0">
              <a:solidFill>
                <a:schemeClr val="tx2"/>
              </a:solidFill>
              <a:latin typeface="+mj-lt"/>
              <a:ea typeface="+mj-ea"/>
              <a:cs typeface="+mj-cs"/>
            </a:endParaRP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6" name="Picture 5"/>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009775" y="3057842"/>
            <a:ext cx="6134099" cy="2247583"/>
          </a:xfrm>
          <a:prstGeom prst="rect">
            <a:avLst/>
          </a:prstGeom>
          <a:noFill/>
          <a:ln>
            <a:noFill/>
          </a:ln>
        </p:spPr>
      </p:pic>
    </p:spTree>
    <p:extLst>
      <p:ext uri="{BB962C8B-B14F-4D97-AF65-F5344CB8AC3E}">
        <p14:creationId xmlns="" xmlns:p14="http://schemas.microsoft.com/office/powerpoint/2010/main" val="359068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C1EEFF-B3ED-40E0-9C29-20B24F396040}"/>
              </a:ext>
            </a:extLst>
          </p:cNvPr>
          <p:cNvSpPr>
            <a:spLocks noGrp="1"/>
          </p:cNvSpPr>
          <p:nvPr>
            <p:ph type="title"/>
          </p:nvPr>
        </p:nvSpPr>
        <p:spPr/>
        <p:txBody>
          <a:bodyPr/>
          <a:lstStyle/>
          <a:p>
            <a:pPr algn="l"/>
            <a:r>
              <a:rPr lang="en-US" dirty="0"/>
              <a:t>Level 1:</a:t>
            </a:r>
          </a:p>
        </p:txBody>
      </p:sp>
      <p:pic>
        <p:nvPicPr>
          <p:cNvPr id="5" name="Content Placeholder 4"/>
          <p:cNvPicPr>
            <a:picLocks noGrp="1"/>
          </p:cNvPicPr>
          <p:nvPr>
            <p:ph idx="1"/>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733675" y="1847850"/>
            <a:ext cx="5457825" cy="4255294"/>
          </a:xfrm>
          <a:prstGeom prst="rect">
            <a:avLst/>
          </a:prstGeom>
          <a:noFill/>
          <a:ln>
            <a:noFill/>
          </a:ln>
        </p:spPr>
      </p:pic>
    </p:spTree>
    <p:extLst>
      <p:ext uri="{BB962C8B-B14F-4D97-AF65-F5344CB8AC3E}">
        <p14:creationId xmlns="" xmlns:p14="http://schemas.microsoft.com/office/powerpoint/2010/main" val="15354048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 xmlns:p14="http://schemas.microsoft.com/office/powerpoint/2010/main" val="322466778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34</TotalTime>
  <Words>479</Words>
  <Application>Microsoft Office PowerPoint</Application>
  <PresentationFormat>Custom</PresentationFormat>
  <Paragraphs>63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Opulent</vt:lpstr>
      <vt:lpstr>COLLAGE AUTOMATION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13</cp:revision>
  <dcterms:created xsi:type="dcterms:W3CDTF">2021-01-26T14:06:30Z</dcterms:created>
  <dcterms:modified xsi:type="dcterms:W3CDTF">2021-01-26T16:01:24Z</dcterms:modified>
</cp:coreProperties>
</file>