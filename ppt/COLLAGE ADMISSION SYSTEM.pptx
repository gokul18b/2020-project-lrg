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C6E12D2-DA3A-480B-BCDF-BFB6C7EBE402}" type="datetimeFigureOut">
              <a:rPr lang="en-US" smtClean="0"/>
              <a:pPr/>
              <a:t>2/18/2021</a:t>
            </a:fld>
            <a:endParaRPr lang="en-US"/>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C6E12D2-DA3A-480B-BCDF-BFB6C7EBE402}" type="datetimeFigureOut">
              <a:rPr lang="en-US" smtClean="0"/>
              <a:pPr/>
              <a:t>2/18/2021</a:t>
            </a:fld>
            <a:endParaRPr lang="en-US"/>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8978603" y="6555112"/>
            <a:ext cx="784448" cy="228600"/>
          </a:xfrm>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C6E12D2-DA3A-480B-BCDF-BFB6C7EBE402}" type="datetimeFigureOut">
              <a:rPr lang="en-US" smtClean="0"/>
              <a:pPr/>
              <a:t>2/18/2021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C6E12D2-DA3A-480B-BCDF-BFB6C7EBE402}" type="datetimeFigureOut">
              <a:rPr lang="en-US" smtClean="0"/>
              <a:pPr/>
              <a:t>2/18/2021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C6E12D2-DA3A-480B-BCDF-BFB6C7EBE402}" type="datetimeFigureOut">
              <a:rPr lang="en-US" smtClean="0"/>
              <a:pPr/>
              <a:t>2/18/2021</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p>
            <a:fld id="{1C6E12D2-DA3A-480B-BCDF-BFB6C7EBE402}" type="datetimeFigureOut">
              <a:rPr lang="en-US" smtClean="0"/>
              <a:pPr/>
              <a:t>2/18/2021</a:t>
            </a:fld>
            <a:endParaRPr lang="en-US"/>
          </a:p>
        </p:txBody>
      </p:sp>
      <p:sp>
        <p:nvSpPr>
          <p:cNvPr id="5" name="Footer Placeholder 4"/>
          <p:cNvSpPr>
            <a:spLocks noGrp="1"/>
          </p:cNvSpPr>
          <p:nvPr>
            <p:ph type="ftr" sz="quarter" idx="11"/>
          </p:nvPr>
        </p:nvSpPr>
        <p:spPr>
          <a:xfrm>
            <a:off x="609600" y="6556248"/>
            <a:ext cx="4876800" cy="228600"/>
          </a:xfrm>
        </p:spPr>
        <p:txBody>
          <a:bodyPr/>
          <a:lstStyle/>
          <a:p>
            <a:endParaRPr lang="en-US"/>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C6E12D2-DA3A-480B-BCDF-BFB6C7EBE402}" type="datetimeFigureOut">
              <a:rPr lang="en-US" smtClean="0"/>
              <a:pPr/>
              <a:t>2/18/2021</a:t>
            </a:fld>
            <a:endParaRPr lang="en-US"/>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COLLAGE ADMISSION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a:bodyPr>
          <a:lstStyle/>
          <a:p>
            <a:r>
              <a:rPr lang="en-US" sz="1800" dirty="0">
                <a:latin typeface="Calibri" panose="020F0502020204030204" pitchFamily="34" charset="0"/>
                <a:ea typeface="Times New Roman" panose="02020603050405020304" pitchFamily="18" charset="0"/>
                <a:cs typeface="Calibri" panose="020F0502020204030204" pitchFamily="34" charset="0"/>
              </a:rPr>
              <a:t>Today all the work at the time of admission of the students is done manually by ink and paper, which is very slow and consuming much efforts and time. It is required to Design of a Computerized Automated Student Admission System, to speed up and make it easy to use system. Student admissions are a vital part of any university’s running because students are what keep a University alive. </a:t>
            </a:r>
          </a:p>
          <a:p>
            <a:r>
              <a:rPr lang="en-US" sz="1800" dirty="0">
                <a:latin typeface="Calibri" panose="020F0502020204030204" pitchFamily="34" charset="0"/>
                <a:ea typeface="Times New Roman" panose="02020603050405020304" pitchFamily="18" charset="0"/>
                <a:cs typeface="Calibri" panose="020F0502020204030204" pitchFamily="34" charset="0"/>
              </a:rPr>
              <a:t>The student admission is one of the most important activities within a university as one cannot survive without students. A poor admissions system can mean fewer students being admitted into a university because of mistakes or an overly slow response time. The process begins with a potential student completing an application form through the Universities and Colleges Admissions Service, the first step for students is to apply directly to the university through a custom online form.</a:t>
            </a:r>
          </a:p>
          <a:p>
            <a:r>
              <a:rPr lang="en-US" sz="1800" dirty="0">
                <a:latin typeface="Calibri" panose="020F0502020204030204" pitchFamily="34" charset="0"/>
                <a:ea typeface="Times New Roman" panose="02020603050405020304" pitchFamily="18" charset="0"/>
                <a:cs typeface="Calibri" panose="020F0502020204030204" pitchFamily="34" charset="0"/>
              </a:rPr>
              <a:t> This project’s aim is to automate the system, prechecking the inclusion of all required material and automatically ranking each student’s application based on a number of criteria. These criteria include the ranking of their university, their grade at said university and their language grade Certificate. The data used by the system is stored in a database that will be the center of all information held about students and the base for the remainder of the process after the initial application has been made.</a:t>
            </a:r>
          </a:p>
          <a:p>
            <a:r>
              <a:rPr lang="en-US" sz="1800" dirty="0">
                <a:latin typeface="Calibri" panose="020F0502020204030204" pitchFamily="34" charset="0"/>
                <a:ea typeface="Times New Roman" panose="02020603050405020304" pitchFamily="18" charset="0"/>
                <a:cs typeface="Calibri" panose="020F0502020204030204" pitchFamily="34" charset="0"/>
              </a:rPr>
              <a:t> This enables things to be simplified and considerably quickened, making the jobs of the people involved easier. It supports the current process but centralizes it and makes it possible for decisions to be made earlier and easier way.</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Calibri" panose="020F0502020204030204" pitchFamily="34" charset="0"/>
              </a:rPr>
              <a:t>SOFTWARE SPECIFICATION</a:t>
            </a:r>
            <a:br>
              <a:rPr lang="en-US" sz="1800" dirty="0">
                <a:latin typeface="Times New Roman" panose="02020603050405020304" pitchFamily="18" charset="0"/>
                <a:ea typeface="Calibri" panose="020F0502020204030204" pitchFamily="34" charset="0"/>
              </a:rPr>
            </a:br>
            <a:endParaRPr lang="en-US" sz="1800" dirty="0">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The college admission system has to handle records for many numbers of students and maintenance was difficult. Though it has used an information system, it was totally manual. Hence there is a need to upgrade the system with a computer-based information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DRAWBACKS: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Waste of time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Allocate student as class 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Very hard to manage admission system manually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indent="457200" algn="just">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Calibri" panose="020F0502020204030204" pitchFamily="34" charset="0"/>
              </a:rPr>
              <a:t>In this system overcome these all kind of issues. Systematically students are assigned the class. With the help of the system, it could not be conflict. So, it takes very less time to allocate the student process.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FEATURES: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By developing the system, we can attain the following features: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It’s automated computerized web-based software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It uses technologies like html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It’s easy to operate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Attractive user interface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Admin Login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Here admin is an teachers/admission employee, they are using this application to mapping student to the registered department. Each and every request should approve by an admin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Student Registration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Student registration module is containing lot of fields for collect the student details. Which is the first module for this application. Based on this detail’s student will be allocated to the admission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92500"/>
          </a:bodyPr>
          <a:lstStyle/>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Student Approval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Once the student registers the application, then the notification has sent to the admin, then admin decide to execute approve or reject. This is an main action for the application once the student has rejected they will be not allocated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Seat Allocate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After admin approval for student registration form, then seat will be allocating to the requested department. Accepted student count can’t be more than maximum no of student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Class wise student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Finally, this module generates and display class wise student details, we can easily find out the student details as a class wise. This will very helpful to find the all-student details in a single window. Both admin and teachers can able to view the student list.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5" name="Picture 4">
            <a:extLst>
              <a:ext uri="{FF2B5EF4-FFF2-40B4-BE49-F238E27FC236}">
                <a16:creationId xmlns:a16="http://schemas.microsoft.com/office/drawing/2014/main" id="{BCA234EC-91E1-4CEB-8F90-273571BFF7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41983" y="3014345"/>
            <a:ext cx="5429539" cy="1319116"/>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BC07F73A-6128-4451-B1AC-16BEB510441E}"/>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F755FF98-DE9D-42BC-B201-2C18A9258A6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007110"/>
            <a:ext cx="5943600" cy="4843780"/>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7DCB-F050-4C85-9308-8658F2E8B5D5}"/>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ADMIN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97C60460-0028-4562-84C9-7F5135CC99A2}"/>
              </a:ext>
            </a:extLst>
          </p:cNvPr>
          <p:cNvGraphicFramePr>
            <a:graphicFrameLocks noGrp="1"/>
          </p:cNvGraphicFramePr>
          <p:nvPr>
            <p:ph idx="1"/>
            <p:extLst>
              <p:ext uri="{D42A27DB-BD31-4B8C-83A1-F6EECF244321}">
                <p14:modId xmlns:p14="http://schemas.microsoft.com/office/powerpoint/2010/main" val="1114573254"/>
              </p:ext>
            </p:extLst>
          </p:nvPr>
        </p:nvGraphicFramePr>
        <p:xfrm>
          <a:off x="1855304" y="2107096"/>
          <a:ext cx="6513996" cy="2415280"/>
        </p:xfrm>
        <a:graphic>
          <a:graphicData uri="http://schemas.openxmlformats.org/drawingml/2006/table">
            <a:tbl>
              <a:tblPr firstRow="1" firstCol="1" bandRow="1">
                <a:tableStyleId>{5C22544A-7EE6-4342-B048-85BDC9FD1C3A}</a:tableStyleId>
              </a:tblPr>
              <a:tblGrid>
                <a:gridCol w="1628147">
                  <a:extLst>
                    <a:ext uri="{9D8B030D-6E8A-4147-A177-3AD203B41FA5}">
                      <a16:colId xmlns:a16="http://schemas.microsoft.com/office/drawing/2014/main" val="1797709463"/>
                    </a:ext>
                  </a:extLst>
                </a:gridCol>
                <a:gridCol w="1628147">
                  <a:extLst>
                    <a:ext uri="{9D8B030D-6E8A-4147-A177-3AD203B41FA5}">
                      <a16:colId xmlns:a16="http://schemas.microsoft.com/office/drawing/2014/main" val="1411275605"/>
                    </a:ext>
                  </a:extLst>
                </a:gridCol>
                <a:gridCol w="1628851">
                  <a:extLst>
                    <a:ext uri="{9D8B030D-6E8A-4147-A177-3AD203B41FA5}">
                      <a16:colId xmlns:a16="http://schemas.microsoft.com/office/drawing/2014/main" val="3025730324"/>
                    </a:ext>
                  </a:extLst>
                </a:gridCol>
                <a:gridCol w="1628851">
                  <a:extLst>
                    <a:ext uri="{9D8B030D-6E8A-4147-A177-3AD203B41FA5}">
                      <a16:colId xmlns:a16="http://schemas.microsoft.com/office/drawing/2014/main" val="2724843360"/>
                    </a:ext>
                  </a:extLst>
                </a:gridCol>
              </a:tblGrid>
              <a:tr h="603820">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209049"/>
                  </a:ext>
                </a:extLst>
              </a:tr>
              <a:tr h="603820">
                <a:tc>
                  <a:txBody>
                    <a:bodyPr/>
                    <a:lstStyle/>
                    <a:p>
                      <a:pPr marL="0" marR="0">
                        <a:lnSpc>
                          <a:spcPct val="150000"/>
                        </a:lnSpc>
                        <a:spcBef>
                          <a:spcPts val="0"/>
                        </a:spcBef>
                        <a:spcAft>
                          <a:spcPts val="0"/>
                        </a:spcAft>
                      </a:pPr>
                      <a:r>
                        <a:rPr lang="en-US" sz="1200">
                          <a:effectLst/>
                        </a:rPr>
                        <a:t>Admin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5461229"/>
                  </a:ext>
                </a:extLst>
              </a:tr>
              <a:tr h="603820">
                <a:tc>
                  <a:txBody>
                    <a:bodyPr/>
                    <a:lstStyle/>
                    <a:p>
                      <a:pPr marL="0" marR="0">
                        <a:lnSpc>
                          <a:spcPct val="150000"/>
                        </a:lnSpc>
                        <a:spcBef>
                          <a:spcPts val="0"/>
                        </a:spcBef>
                        <a:spcAft>
                          <a:spcPts val="0"/>
                        </a:spcAft>
                      </a:pPr>
                      <a:r>
                        <a:rPr lang="en-US" sz="1200">
                          <a:effectLst/>
                        </a:rPr>
                        <a:t>Username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8487433"/>
                  </a:ext>
                </a:extLst>
              </a:tr>
              <a:tr h="603820">
                <a:tc>
                  <a:txBody>
                    <a:bodyPr/>
                    <a:lstStyle/>
                    <a:p>
                      <a:pPr marL="0" marR="0">
                        <a:lnSpc>
                          <a:spcPct val="150000"/>
                        </a:lnSpc>
                        <a:spcBef>
                          <a:spcPts val="0"/>
                        </a:spcBef>
                        <a:spcAft>
                          <a:spcPts val="0"/>
                        </a:spcAft>
                      </a:pPr>
                      <a:r>
                        <a:rPr lang="en-US" sz="1200">
                          <a:effectLst/>
                        </a:rPr>
                        <a:t>password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6540541"/>
                  </a:ext>
                </a:extLst>
              </a:tr>
            </a:tbl>
          </a:graphicData>
        </a:graphic>
      </p:graphicFrame>
    </p:spTree>
    <p:extLst>
      <p:ext uri="{BB962C8B-B14F-4D97-AF65-F5344CB8AC3E}">
        <p14:creationId xmlns:p14="http://schemas.microsoft.com/office/powerpoint/2010/main" val="2174807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4105-EDD2-4E1B-8C25-FDCF0389F136}"/>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DEPARTMENT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FF4801AC-8029-4D13-B17B-71F7DF29786C}"/>
              </a:ext>
            </a:extLst>
          </p:cNvPr>
          <p:cNvGraphicFramePr>
            <a:graphicFrameLocks noGrp="1"/>
          </p:cNvGraphicFramePr>
          <p:nvPr>
            <p:ph idx="1"/>
            <p:extLst>
              <p:ext uri="{D42A27DB-BD31-4B8C-83A1-F6EECF244321}">
                <p14:modId xmlns:p14="http://schemas.microsoft.com/office/powerpoint/2010/main" val="613924249"/>
              </p:ext>
            </p:extLst>
          </p:nvPr>
        </p:nvGraphicFramePr>
        <p:xfrm>
          <a:off x="2133600" y="2385391"/>
          <a:ext cx="6235700" cy="2136984"/>
        </p:xfrm>
        <a:graphic>
          <a:graphicData uri="http://schemas.openxmlformats.org/drawingml/2006/table">
            <a:tbl>
              <a:tblPr firstRow="1" firstCol="1" bandRow="1">
                <a:tableStyleId>{5C22544A-7EE6-4342-B048-85BDC9FD1C3A}</a:tableStyleId>
              </a:tblPr>
              <a:tblGrid>
                <a:gridCol w="1558588">
                  <a:extLst>
                    <a:ext uri="{9D8B030D-6E8A-4147-A177-3AD203B41FA5}">
                      <a16:colId xmlns:a16="http://schemas.microsoft.com/office/drawing/2014/main" val="2289919496"/>
                    </a:ext>
                  </a:extLst>
                </a:gridCol>
                <a:gridCol w="1558588">
                  <a:extLst>
                    <a:ext uri="{9D8B030D-6E8A-4147-A177-3AD203B41FA5}">
                      <a16:colId xmlns:a16="http://schemas.microsoft.com/office/drawing/2014/main" val="2226629962"/>
                    </a:ext>
                  </a:extLst>
                </a:gridCol>
                <a:gridCol w="1559262">
                  <a:extLst>
                    <a:ext uri="{9D8B030D-6E8A-4147-A177-3AD203B41FA5}">
                      <a16:colId xmlns:a16="http://schemas.microsoft.com/office/drawing/2014/main" val="533344192"/>
                    </a:ext>
                  </a:extLst>
                </a:gridCol>
                <a:gridCol w="1559262">
                  <a:extLst>
                    <a:ext uri="{9D8B030D-6E8A-4147-A177-3AD203B41FA5}">
                      <a16:colId xmlns:a16="http://schemas.microsoft.com/office/drawing/2014/main" val="2653719488"/>
                    </a:ext>
                  </a:extLst>
                </a:gridCol>
              </a:tblGrid>
              <a:tr h="534246">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56829309"/>
                  </a:ext>
                </a:extLst>
              </a:tr>
              <a:tr h="534246">
                <a:tc>
                  <a:txBody>
                    <a:bodyPr/>
                    <a:lstStyle/>
                    <a:p>
                      <a:pPr marL="0" marR="0">
                        <a:lnSpc>
                          <a:spcPct val="150000"/>
                        </a:lnSpc>
                        <a:spcBef>
                          <a:spcPts val="0"/>
                        </a:spcBef>
                        <a:spcAft>
                          <a:spcPts val="0"/>
                        </a:spcAft>
                      </a:pPr>
                      <a:r>
                        <a:rPr lang="en-US" sz="1200">
                          <a:effectLst/>
                        </a:rPr>
                        <a:t>Department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8153829"/>
                  </a:ext>
                </a:extLst>
              </a:tr>
              <a:tr h="534246">
                <a:tc>
                  <a:txBody>
                    <a:bodyPr/>
                    <a:lstStyle/>
                    <a:p>
                      <a:pPr marL="0" marR="0">
                        <a:lnSpc>
                          <a:spcPct val="150000"/>
                        </a:lnSpc>
                        <a:spcBef>
                          <a:spcPts val="0"/>
                        </a:spcBef>
                        <a:spcAft>
                          <a:spcPts val="0"/>
                        </a:spcAft>
                      </a:pPr>
                      <a:r>
                        <a:rPr lang="en-US" sz="1200">
                          <a:effectLst/>
                        </a:rPr>
                        <a:t>Department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9164694"/>
                  </a:ext>
                </a:extLst>
              </a:tr>
              <a:tr h="534246">
                <a:tc>
                  <a:txBody>
                    <a:bodyPr/>
                    <a:lstStyle/>
                    <a:p>
                      <a:pPr marL="0" marR="0">
                        <a:lnSpc>
                          <a:spcPct val="150000"/>
                        </a:lnSpc>
                        <a:spcBef>
                          <a:spcPts val="0"/>
                        </a:spcBef>
                        <a:spcAft>
                          <a:spcPts val="0"/>
                        </a:spcAft>
                      </a:pPr>
                      <a:r>
                        <a:rPr lang="en-US" sz="1200">
                          <a:effectLst/>
                        </a:rPr>
                        <a:t>Total seat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1897790"/>
                  </a:ext>
                </a:extLst>
              </a:tr>
            </a:tbl>
          </a:graphicData>
        </a:graphic>
      </p:graphicFrame>
    </p:spTree>
    <p:extLst>
      <p:ext uri="{BB962C8B-B14F-4D97-AF65-F5344CB8AC3E}">
        <p14:creationId xmlns:p14="http://schemas.microsoft.com/office/powerpoint/2010/main" val="4101418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1DE85-2A7B-48B4-BB7D-A4AFB1887BF2}"/>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STUDENT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FB5B155C-45D7-429D-86D0-D68D847A3A5B}"/>
              </a:ext>
            </a:extLst>
          </p:cNvPr>
          <p:cNvGraphicFramePr>
            <a:graphicFrameLocks noGrp="1"/>
          </p:cNvGraphicFramePr>
          <p:nvPr>
            <p:ph idx="1"/>
            <p:extLst>
              <p:ext uri="{D42A27DB-BD31-4B8C-83A1-F6EECF244321}">
                <p14:modId xmlns:p14="http://schemas.microsoft.com/office/powerpoint/2010/main" val="2968463458"/>
              </p:ext>
            </p:extLst>
          </p:nvPr>
        </p:nvGraphicFramePr>
        <p:xfrm>
          <a:off x="1930400" y="1463040"/>
          <a:ext cx="6438900" cy="4527328"/>
        </p:xfrm>
        <a:graphic>
          <a:graphicData uri="http://schemas.openxmlformats.org/drawingml/2006/table">
            <a:tbl>
              <a:tblPr firstRow="1" firstCol="1" bandRow="1">
                <a:tableStyleId>{5C22544A-7EE6-4342-B048-85BDC9FD1C3A}</a:tableStyleId>
              </a:tblPr>
              <a:tblGrid>
                <a:gridCol w="1609377">
                  <a:extLst>
                    <a:ext uri="{9D8B030D-6E8A-4147-A177-3AD203B41FA5}">
                      <a16:colId xmlns:a16="http://schemas.microsoft.com/office/drawing/2014/main" val="1159686002"/>
                    </a:ext>
                  </a:extLst>
                </a:gridCol>
                <a:gridCol w="1609377">
                  <a:extLst>
                    <a:ext uri="{9D8B030D-6E8A-4147-A177-3AD203B41FA5}">
                      <a16:colId xmlns:a16="http://schemas.microsoft.com/office/drawing/2014/main" val="1850970046"/>
                    </a:ext>
                  </a:extLst>
                </a:gridCol>
                <a:gridCol w="1610073">
                  <a:extLst>
                    <a:ext uri="{9D8B030D-6E8A-4147-A177-3AD203B41FA5}">
                      <a16:colId xmlns:a16="http://schemas.microsoft.com/office/drawing/2014/main" val="3803332959"/>
                    </a:ext>
                  </a:extLst>
                </a:gridCol>
                <a:gridCol w="1610073">
                  <a:extLst>
                    <a:ext uri="{9D8B030D-6E8A-4147-A177-3AD203B41FA5}">
                      <a16:colId xmlns:a16="http://schemas.microsoft.com/office/drawing/2014/main" val="552501120"/>
                    </a:ext>
                  </a:extLst>
                </a:gridCol>
              </a:tblGrid>
              <a:tr h="282958">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10210057"/>
                  </a:ext>
                </a:extLst>
              </a:tr>
              <a:tr h="282958">
                <a:tc>
                  <a:txBody>
                    <a:bodyPr/>
                    <a:lstStyle/>
                    <a:p>
                      <a:pPr marL="0" marR="0">
                        <a:lnSpc>
                          <a:spcPct val="150000"/>
                        </a:lnSpc>
                        <a:spcBef>
                          <a:spcPts val="0"/>
                        </a:spcBef>
                        <a:spcAft>
                          <a:spcPts val="0"/>
                        </a:spcAft>
                      </a:pPr>
                      <a:r>
                        <a:rPr lang="en-US" sz="1200">
                          <a:effectLst/>
                        </a:rPr>
                        <a:t>Student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2729453"/>
                  </a:ext>
                </a:extLst>
              </a:tr>
              <a:tr h="282958">
                <a:tc>
                  <a:txBody>
                    <a:bodyPr/>
                    <a:lstStyle/>
                    <a:p>
                      <a:pPr marL="0" marR="0">
                        <a:lnSpc>
                          <a:spcPct val="150000"/>
                        </a:lnSpc>
                        <a:spcBef>
                          <a:spcPts val="0"/>
                        </a:spcBef>
                        <a:spcAft>
                          <a:spcPts val="0"/>
                        </a:spcAft>
                      </a:pPr>
                      <a:r>
                        <a:rPr lang="en-US" sz="1200">
                          <a:effectLst/>
                        </a:rPr>
                        <a:t>First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4014707"/>
                  </a:ext>
                </a:extLst>
              </a:tr>
              <a:tr h="282958">
                <a:tc>
                  <a:txBody>
                    <a:bodyPr/>
                    <a:lstStyle/>
                    <a:p>
                      <a:pPr marL="0" marR="0">
                        <a:lnSpc>
                          <a:spcPct val="150000"/>
                        </a:lnSpc>
                        <a:spcBef>
                          <a:spcPts val="0"/>
                        </a:spcBef>
                        <a:spcAft>
                          <a:spcPts val="0"/>
                        </a:spcAft>
                      </a:pPr>
                      <a:r>
                        <a:rPr lang="en-US" sz="1200">
                          <a:effectLst/>
                        </a:rPr>
                        <a:t>Last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8645564"/>
                  </a:ext>
                </a:extLst>
              </a:tr>
              <a:tr h="282958">
                <a:tc>
                  <a:txBody>
                    <a:bodyPr/>
                    <a:lstStyle/>
                    <a:p>
                      <a:pPr marL="0" marR="0">
                        <a:lnSpc>
                          <a:spcPct val="150000"/>
                        </a:lnSpc>
                        <a:spcBef>
                          <a:spcPts val="0"/>
                        </a:spcBef>
                        <a:spcAft>
                          <a:spcPts val="0"/>
                        </a:spcAft>
                      </a:pPr>
                      <a:r>
                        <a:rPr lang="en-US" sz="1200">
                          <a:effectLst/>
                        </a:rPr>
                        <a:t>Mobile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3898466"/>
                  </a:ext>
                </a:extLst>
              </a:tr>
              <a:tr h="282958">
                <a:tc>
                  <a:txBody>
                    <a:bodyPr/>
                    <a:lstStyle/>
                    <a:p>
                      <a:pPr marL="0" marR="0">
                        <a:lnSpc>
                          <a:spcPct val="150000"/>
                        </a:lnSpc>
                        <a:spcBef>
                          <a:spcPts val="0"/>
                        </a:spcBef>
                        <a:spcAft>
                          <a:spcPts val="0"/>
                        </a:spcAft>
                      </a:pPr>
                      <a:r>
                        <a:rPr lang="en-US" sz="1200">
                          <a:effectLst/>
                        </a:rPr>
                        <a:t>Email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5440117"/>
                  </a:ext>
                </a:extLst>
              </a:tr>
              <a:tr h="282958">
                <a:tc>
                  <a:txBody>
                    <a:bodyPr/>
                    <a:lstStyle/>
                    <a:p>
                      <a:pPr marL="0" marR="0">
                        <a:lnSpc>
                          <a:spcPct val="150000"/>
                        </a:lnSpc>
                        <a:spcBef>
                          <a:spcPts val="0"/>
                        </a:spcBef>
                        <a:spcAft>
                          <a:spcPts val="0"/>
                        </a:spcAft>
                      </a:pPr>
                      <a:r>
                        <a:rPr lang="en-US" sz="1200">
                          <a:effectLst/>
                        </a:rPr>
                        <a:t>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5108582"/>
                  </a:ext>
                </a:extLst>
              </a:tr>
              <a:tr h="282958">
                <a:tc>
                  <a:txBody>
                    <a:bodyPr/>
                    <a:lstStyle/>
                    <a:p>
                      <a:pPr marL="0" marR="0">
                        <a:lnSpc>
                          <a:spcPct val="150000"/>
                        </a:lnSpc>
                        <a:spcBef>
                          <a:spcPts val="0"/>
                        </a:spcBef>
                        <a:spcAft>
                          <a:spcPts val="0"/>
                        </a:spcAft>
                      </a:pPr>
                      <a:r>
                        <a:rPr lang="en-US" sz="1200">
                          <a:effectLst/>
                        </a:rPr>
                        <a:t>Gender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4933128"/>
                  </a:ext>
                </a:extLst>
              </a:tr>
              <a:tr h="282958">
                <a:tc>
                  <a:txBody>
                    <a:bodyPr/>
                    <a:lstStyle/>
                    <a:p>
                      <a:pPr marL="0" marR="0">
                        <a:lnSpc>
                          <a:spcPct val="150000"/>
                        </a:lnSpc>
                        <a:spcBef>
                          <a:spcPts val="0"/>
                        </a:spcBef>
                        <a:spcAft>
                          <a:spcPts val="0"/>
                        </a:spcAft>
                      </a:pPr>
                      <a:r>
                        <a:rPr lang="en-US" sz="1200">
                          <a:effectLst/>
                        </a:rPr>
                        <a:t>Address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262527"/>
                  </a:ext>
                </a:extLst>
              </a:tr>
              <a:tr h="282958">
                <a:tc>
                  <a:txBody>
                    <a:bodyPr/>
                    <a:lstStyle/>
                    <a:p>
                      <a:pPr marL="0" marR="0">
                        <a:lnSpc>
                          <a:spcPct val="150000"/>
                        </a:lnSpc>
                        <a:spcBef>
                          <a:spcPts val="0"/>
                        </a:spcBef>
                        <a:spcAft>
                          <a:spcPts val="0"/>
                        </a:spcAft>
                      </a:pPr>
                      <a:r>
                        <a:rPr lang="en-US" sz="1200">
                          <a:effectLst/>
                        </a:rPr>
                        <a:t>Department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690282"/>
                  </a:ext>
                </a:extLst>
              </a:tr>
              <a:tr h="282958">
                <a:tc>
                  <a:txBody>
                    <a:bodyPr/>
                    <a:lstStyle/>
                    <a:p>
                      <a:pPr marL="0" marR="0">
                        <a:lnSpc>
                          <a:spcPct val="150000"/>
                        </a:lnSpc>
                        <a:spcBef>
                          <a:spcPts val="0"/>
                        </a:spcBef>
                        <a:spcAft>
                          <a:spcPts val="0"/>
                        </a:spcAft>
                      </a:pPr>
                      <a:r>
                        <a:rPr lang="en-US" sz="1200">
                          <a:effectLst/>
                        </a:rPr>
                        <a:t>Class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1407885"/>
                  </a:ext>
                </a:extLst>
              </a:tr>
              <a:tr h="282958">
                <a:tc>
                  <a:txBody>
                    <a:bodyPr/>
                    <a:lstStyle/>
                    <a:p>
                      <a:pPr marL="0" marR="0">
                        <a:lnSpc>
                          <a:spcPct val="150000"/>
                        </a:lnSpc>
                        <a:spcBef>
                          <a:spcPts val="0"/>
                        </a:spcBef>
                        <a:spcAft>
                          <a:spcPts val="0"/>
                        </a:spcAft>
                      </a:pPr>
                      <a:r>
                        <a:rPr lang="en-US" sz="1200">
                          <a:effectLst/>
                        </a:rPr>
                        <a:t>10</a:t>
                      </a:r>
                      <a:r>
                        <a:rPr lang="en-US" sz="1200" baseline="30000">
                          <a:effectLst/>
                        </a:rPr>
                        <a:t>th</a:t>
                      </a:r>
                      <a:r>
                        <a:rPr lang="en-US" sz="1200">
                          <a:effectLst/>
                        </a:rPr>
                        <a:t> mark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9395604"/>
                  </a:ext>
                </a:extLst>
              </a:tr>
              <a:tr h="282958">
                <a:tc>
                  <a:txBody>
                    <a:bodyPr/>
                    <a:lstStyle/>
                    <a:p>
                      <a:pPr marL="0" marR="0">
                        <a:lnSpc>
                          <a:spcPct val="150000"/>
                        </a:lnSpc>
                        <a:spcBef>
                          <a:spcPts val="0"/>
                        </a:spcBef>
                        <a:spcAft>
                          <a:spcPts val="0"/>
                        </a:spcAft>
                      </a:pPr>
                      <a:r>
                        <a:rPr lang="en-US" sz="1200">
                          <a:effectLst/>
                        </a:rPr>
                        <a:t>12</a:t>
                      </a:r>
                      <a:r>
                        <a:rPr lang="en-US" sz="1200" baseline="30000">
                          <a:effectLst/>
                        </a:rPr>
                        <a:t>th</a:t>
                      </a:r>
                      <a:r>
                        <a:rPr lang="en-US" sz="1200">
                          <a:effectLst/>
                        </a:rPr>
                        <a:t> mark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3986587"/>
                  </a:ext>
                </a:extLst>
              </a:tr>
              <a:tr h="282958">
                <a:tc>
                  <a:txBody>
                    <a:bodyPr/>
                    <a:lstStyle/>
                    <a:p>
                      <a:pPr marL="0" marR="0">
                        <a:lnSpc>
                          <a:spcPct val="150000"/>
                        </a:lnSpc>
                        <a:spcBef>
                          <a:spcPts val="0"/>
                        </a:spcBef>
                        <a:spcAft>
                          <a:spcPts val="0"/>
                        </a:spcAft>
                      </a:pPr>
                      <a:r>
                        <a:rPr lang="en-US" sz="1200">
                          <a:effectLst/>
                        </a:rPr>
                        <a:t>School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7622568"/>
                  </a:ext>
                </a:extLst>
              </a:tr>
              <a:tr h="282958">
                <a:tc>
                  <a:txBody>
                    <a:bodyPr/>
                    <a:lstStyle/>
                    <a:p>
                      <a:pPr marL="0" marR="0">
                        <a:lnSpc>
                          <a:spcPct val="150000"/>
                        </a:lnSpc>
                        <a:spcBef>
                          <a:spcPts val="0"/>
                        </a:spcBef>
                        <a:spcAft>
                          <a:spcPts val="0"/>
                        </a:spcAft>
                      </a:pPr>
                      <a:r>
                        <a:rPr lang="en-US" sz="1200">
                          <a:effectLst/>
                        </a:rPr>
                        <a:t>Father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1043616"/>
                  </a:ext>
                </a:extLst>
              </a:tr>
              <a:tr h="282958">
                <a:tc>
                  <a:txBody>
                    <a:bodyPr/>
                    <a:lstStyle/>
                    <a:p>
                      <a:pPr marL="0" marR="0">
                        <a:lnSpc>
                          <a:spcPct val="150000"/>
                        </a:lnSpc>
                        <a:spcBef>
                          <a:spcPts val="0"/>
                        </a:spcBef>
                        <a:spcAft>
                          <a:spcPts val="0"/>
                        </a:spcAft>
                      </a:pPr>
                      <a:r>
                        <a:rPr lang="en-US" sz="1200">
                          <a:effectLst/>
                        </a:rPr>
                        <a:t>Mother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5195620"/>
                  </a:ext>
                </a:extLst>
              </a:tr>
            </a:tbl>
          </a:graphicData>
        </a:graphic>
      </p:graphicFrame>
    </p:spTree>
    <p:extLst>
      <p:ext uri="{BB962C8B-B14F-4D97-AF65-F5344CB8AC3E}">
        <p14:creationId xmlns:p14="http://schemas.microsoft.com/office/powerpoint/2010/main" val="14846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F7BC-2698-46E9-9643-7D327188054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ALLOCATE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C76631E3-6B42-4506-813F-044EF1AA769C}"/>
              </a:ext>
            </a:extLst>
          </p:cNvPr>
          <p:cNvGraphicFramePr>
            <a:graphicFrameLocks noGrp="1"/>
          </p:cNvGraphicFramePr>
          <p:nvPr>
            <p:ph idx="1"/>
            <p:extLst>
              <p:ext uri="{D42A27DB-BD31-4B8C-83A1-F6EECF244321}">
                <p14:modId xmlns:p14="http://schemas.microsoft.com/office/powerpoint/2010/main" val="2864553108"/>
              </p:ext>
            </p:extLst>
          </p:nvPr>
        </p:nvGraphicFramePr>
        <p:xfrm>
          <a:off x="1789043" y="1630017"/>
          <a:ext cx="6580258" cy="3137022"/>
        </p:xfrm>
        <a:graphic>
          <a:graphicData uri="http://schemas.openxmlformats.org/drawingml/2006/table">
            <a:tbl>
              <a:tblPr firstRow="1" firstCol="1" bandRow="1">
                <a:tableStyleId>{5C22544A-7EE6-4342-B048-85BDC9FD1C3A}</a:tableStyleId>
              </a:tblPr>
              <a:tblGrid>
                <a:gridCol w="1644709">
                  <a:extLst>
                    <a:ext uri="{9D8B030D-6E8A-4147-A177-3AD203B41FA5}">
                      <a16:colId xmlns:a16="http://schemas.microsoft.com/office/drawing/2014/main" val="2047208800"/>
                    </a:ext>
                  </a:extLst>
                </a:gridCol>
                <a:gridCol w="1644709">
                  <a:extLst>
                    <a:ext uri="{9D8B030D-6E8A-4147-A177-3AD203B41FA5}">
                      <a16:colId xmlns:a16="http://schemas.microsoft.com/office/drawing/2014/main" val="2524534911"/>
                    </a:ext>
                  </a:extLst>
                </a:gridCol>
                <a:gridCol w="1645420">
                  <a:extLst>
                    <a:ext uri="{9D8B030D-6E8A-4147-A177-3AD203B41FA5}">
                      <a16:colId xmlns:a16="http://schemas.microsoft.com/office/drawing/2014/main" val="4183996510"/>
                    </a:ext>
                  </a:extLst>
                </a:gridCol>
                <a:gridCol w="1645420">
                  <a:extLst>
                    <a:ext uri="{9D8B030D-6E8A-4147-A177-3AD203B41FA5}">
                      <a16:colId xmlns:a16="http://schemas.microsoft.com/office/drawing/2014/main" val="2107856788"/>
                    </a:ext>
                  </a:extLst>
                </a:gridCol>
              </a:tblGrid>
              <a:tr h="522837">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6864310"/>
                  </a:ext>
                </a:extLst>
              </a:tr>
              <a:tr h="522837">
                <a:tc>
                  <a:txBody>
                    <a:bodyPr/>
                    <a:lstStyle/>
                    <a:p>
                      <a:pPr marL="0" marR="0">
                        <a:lnSpc>
                          <a:spcPct val="150000"/>
                        </a:lnSpc>
                        <a:spcBef>
                          <a:spcPts val="0"/>
                        </a:spcBef>
                        <a:spcAft>
                          <a:spcPts val="0"/>
                        </a:spcAft>
                      </a:pPr>
                      <a:r>
                        <a:rPr lang="en-US" sz="1200">
                          <a:effectLst/>
                        </a:rPr>
                        <a:t>Allocate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9096801"/>
                  </a:ext>
                </a:extLst>
              </a:tr>
              <a:tr h="522837">
                <a:tc>
                  <a:txBody>
                    <a:bodyPr/>
                    <a:lstStyle/>
                    <a:p>
                      <a:pPr marL="0" marR="0">
                        <a:lnSpc>
                          <a:spcPct val="150000"/>
                        </a:lnSpc>
                        <a:spcBef>
                          <a:spcPts val="0"/>
                        </a:spcBef>
                        <a:spcAft>
                          <a:spcPts val="0"/>
                        </a:spcAft>
                      </a:pPr>
                      <a:r>
                        <a:rPr lang="en-US" sz="1200">
                          <a:effectLst/>
                        </a:rPr>
                        <a:t>Dept allocate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1204174"/>
                  </a:ext>
                </a:extLst>
              </a:tr>
              <a:tr h="522837">
                <a:tc>
                  <a:txBody>
                    <a:bodyPr/>
                    <a:lstStyle/>
                    <a:p>
                      <a:pPr marL="0" marR="0">
                        <a:lnSpc>
                          <a:spcPct val="150000"/>
                        </a:lnSpc>
                        <a:spcBef>
                          <a:spcPts val="0"/>
                        </a:spcBef>
                        <a:spcAft>
                          <a:spcPts val="0"/>
                        </a:spcAft>
                      </a:pPr>
                      <a:r>
                        <a:rPr lang="en-US" sz="1200">
                          <a:effectLst/>
                        </a:rPr>
                        <a:t>Class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7192564"/>
                  </a:ext>
                </a:extLst>
              </a:tr>
              <a:tr h="522837">
                <a:tc>
                  <a:txBody>
                    <a:bodyPr/>
                    <a:lstStyle/>
                    <a:p>
                      <a:pPr marL="0" marR="0">
                        <a:lnSpc>
                          <a:spcPct val="150000"/>
                        </a:lnSpc>
                        <a:spcBef>
                          <a:spcPts val="0"/>
                        </a:spcBef>
                        <a:spcAft>
                          <a:spcPts val="0"/>
                        </a:spcAft>
                      </a:pPr>
                      <a:r>
                        <a:rPr lang="en-US" sz="1200">
                          <a:effectLst/>
                        </a:rPr>
                        <a:t>Student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9859364"/>
                  </a:ext>
                </a:extLst>
              </a:tr>
              <a:tr h="522837">
                <a:tc>
                  <a:txBody>
                    <a:bodyPr/>
                    <a:lstStyle/>
                    <a:p>
                      <a:pPr marL="0" marR="0">
                        <a:lnSpc>
                          <a:spcPct val="150000"/>
                        </a:lnSpc>
                        <a:spcBef>
                          <a:spcPts val="0"/>
                        </a:spcBef>
                        <a:spcAft>
                          <a:spcPts val="0"/>
                        </a:spcAft>
                      </a:pPr>
                      <a:r>
                        <a:rPr lang="en-US" sz="1200">
                          <a:effectLst/>
                        </a:rPr>
                        <a:t>Confirmation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9606088"/>
                  </a:ext>
                </a:extLst>
              </a:tr>
            </a:tbl>
          </a:graphicData>
        </a:graphic>
      </p:graphicFrame>
    </p:spTree>
    <p:extLst>
      <p:ext uri="{BB962C8B-B14F-4D97-AF65-F5344CB8AC3E}">
        <p14:creationId xmlns:p14="http://schemas.microsoft.com/office/powerpoint/2010/main" val="2472971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4248-2941-4C07-8A70-70FEDC6265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8C6F3D-E0E2-48DE-BE81-F6C50AE6EA9D}"/>
              </a:ext>
            </a:extLst>
          </p:cNvPr>
          <p:cNvSpPr>
            <a:spLocks noGrp="1"/>
          </p:cNvSpPr>
          <p:nvPr>
            <p:ph idx="1"/>
          </p:nvPr>
        </p:nvSpPr>
        <p:spPr/>
        <p:txBody>
          <a:bodyPr/>
          <a:lstStyle/>
          <a:p>
            <a:endParaRPr lang="en-US"/>
          </a:p>
        </p:txBody>
      </p:sp>
      <p:pic>
        <p:nvPicPr>
          <p:cNvPr id="4" name="Content Placeholder 4">
            <a:extLst>
              <a:ext uri="{FF2B5EF4-FFF2-40B4-BE49-F238E27FC236}">
                <a16:creationId xmlns:a16="http://schemas.microsoft.com/office/drawing/2014/main" id="{4B9529D2-26EF-4B48-BD1D-93457E272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3294" y="358327"/>
            <a:ext cx="5894602" cy="6097409"/>
          </a:xfrm>
          <a:prstGeom prst="rect">
            <a:avLst/>
          </a:prstGeom>
        </p:spPr>
      </p:pic>
    </p:spTree>
    <p:extLst>
      <p:ext uri="{BB962C8B-B14F-4D97-AF65-F5344CB8AC3E}">
        <p14:creationId xmlns:p14="http://schemas.microsoft.com/office/powerpoint/2010/main" val="1922897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54F1-08D2-42B0-B010-A27183A9F4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164CD9-EEA9-4BCB-A12D-1CF7B3BB5018}"/>
              </a:ext>
            </a:extLst>
          </p:cNvPr>
          <p:cNvSpPr>
            <a:spLocks noGrp="1"/>
          </p:cNvSpPr>
          <p:nvPr>
            <p:ph idx="1"/>
          </p:nvPr>
        </p:nvSpPr>
        <p:spPr/>
        <p:txBody>
          <a:bodyPr/>
          <a:lstStyle/>
          <a:p>
            <a:endParaRPr lang="en-US"/>
          </a:p>
        </p:txBody>
      </p:sp>
      <p:pic>
        <p:nvPicPr>
          <p:cNvPr id="4" name="Content Placeholder 4">
            <a:extLst>
              <a:ext uri="{FF2B5EF4-FFF2-40B4-BE49-F238E27FC236}">
                <a16:creationId xmlns:a16="http://schemas.microsoft.com/office/drawing/2014/main" id="{30FECFD6-C5A9-4AC5-A5EE-343231055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001" y="763656"/>
            <a:ext cx="10488522" cy="5330687"/>
          </a:xfrm>
          <a:prstGeom prst="rect">
            <a:avLst/>
          </a:prstGeom>
        </p:spPr>
      </p:pic>
    </p:spTree>
    <p:extLst>
      <p:ext uri="{BB962C8B-B14F-4D97-AF65-F5344CB8AC3E}">
        <p14:creationId xmlns:p14="http://schemas.microsoft.com/office/powerpoint/2010/main" val="3263751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2FC5A-4935-42F3-B5A0-3F4D19F149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40ECA7-CF04-4466-88FC-0DE13F7FE9E7}"/>
              </a:ext>
            </a:extLst>
          </p:cNvPr>
          <p:cNvSpPr>
            <a:spLocks noGrp="1"/>
          </p:cNvSpPr>
          <p:nvPr>
            <p:ph idx="1"/>
          </p:nvPr>
        </p:nvSpPr>
        <p:spPr/>
        <p:txBody>
          <a:bodyPr/>
          <a:lstStyle/>
          <a:p>
            <a:endParaRPr lang="en-US"/>
          </a:p>
        </p:txBody>
      </p:sp>
      <p:pic>
        <p:nvPicPr>
          <p:cNvPr id="4" name="Content Placeholder 4">
            <a:extLst>
              <a:ext uri="{FF2B5EF4-FFF2-40B4-BE49-F238E27FC236}">
                <a16:creationId xmlns:a16="http://schemas.microsoft.com/office/drawing/2014/main" id="{94E387D6-8925-466A-8DF1-A4D3CDDBA4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747" y="704088"/>
            <a:ext cx="10806217" cy="5171661"/>
          </a:xfrm>
          <a:prstGeom prst="rect">
            <a:avLst/>
          </a:prstGeom>
        </p:spPr>
      </p:pic>
    </p:spTree>
    <p:extLst>
      <p:ext uri="{BB962C8B-B14F-4D97-AF65-F5344CB8AC3E}">
        <p14:creationId xmlns:p14="http://schemas.microsoft.com/office/powerpoint/2010/main" val="1957936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D678-727E-4DF9-8C2C-943743EEB3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9B2DF-1073-4490-8B81-D76EC3F3F3AA}"/>
              </a:ext>
            </a:extLst>
          </p:cNvPr>
          <p:cNvSpPr>
            <a:spLocks noGrp="1"/>
          </p:cNvSpPr>
          <p:nvPr>
            <p:ph idx="1"/>
          </p:nvPr>
        </p:nvSpPr>
        <p:spPr/>
        <p:txBody>
          <a:bodyPr/>
          <a:lstStyle/>
          <a:p>
            <a:endParaRPr lang="en-US"/>
          </a:p>
        </p:txBody>
      </p:sp>
      <p:pic>
        <p:nvPicPr>
          <p:cNvPr id="4" name="Content Placeholder 4">
            <a:extLst>
              <a:ext uri="{FF2B5EF4-FFF2-40B4-BE49-F238E27FC236}">
                <a16:creationId xmlns:a16="http://schemas.microsoft.com/office/drawing/2014/main" id="{A158008D-D07A-4445-A092-6E7B07BEA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556593"/>
            <a:ext cx="10418549" cy="4986130"/>
          </a:xfrm>
          <a:prstGeom prst="rect">
            <a:avLst/>
          </a:prstGeom>
        </p:spPr>
      </p:pic>
    </p:spTree>
    <p:extLst>
      <p:ext uri="{BB962C8B-B14F-4D97-AF65-F5344CB8AC3E}">
        <p14:creationId xmlns:p14="http://schemas.microsoft.com/office/powerpoint/2010/main" val="210780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42</TotalTime>
  <Words>903</Words>
  <Application>Microsoft Office PowerPoint</Application>
  <PresentationFormat>Widescreen</PresentationFormat>
  <Paragraphs>168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Symbol</vt:lpstr>
      <vt:lpstr>Times New Roman</vt:lpstr>
      <vt:lpstr>Trebuchet MS</vt:lpstr>
      <vt:lpstr>Wingdings</vt:lpstr>
      <vt:lpstr>Wingdings 2</vt:lpstr>
      <vt:lpstr>Opulent</vt:lpstr>
      <vt:lpstr>COLLAGE ADMISSION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TABLE NAME: ADMIN </vt:lpstr>
      <vt:lpstr>TABLE NAME: DEPARTMENT </vt:lpstr>
      <vt:lpstr>TABLE NAME: STUDENT </vt:lpstr>
      <vt:lpstr>TABLE NAME: ALLOCATE </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16</cp:revision>
  <dcterms:created xsi:type="dcterms:W3CDTF">2021-01-26T14:06:30Z</dcterms:created>
  <dcterms:modified xsi:type="dcterms:W3CDTF">2021-02-18T04:55:05Z</dcterms:modified>
</cp:coreProperties>
</file>