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44" autoAdjust="0"/>
    <p:restoredTop sz="94660"/>
  </p:normalViewPr>
  <p:slideViewPr>
    <p:cSldViewPr snapToGrid="0">
      <p:cViewPr varScale="1">
        <p:scale>
          <a:sx n="67" d="100"/>
          <a:sy n="67" d="100"/>
        </p:scale>
        <p:origin x="-568" y="-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C6E12D2-DA3A-480B-BCDF-BFB6C7EBE402}" type="datetimeFigureOut">
              <a:rPr lang="en-US" smtClean="0"/>
              <a:pPr/>
              <a:t>1/26/2021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1BBC3DF-4D3E-4D62-AC24-223E50BCC8D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1BBC3DF-4D3E-4D62-AC24-223E50BCC8DF}"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1BBC3DF-4D3E-4D62-AC24-223E50BCC8DF}" type="slidenum">
              <a:rPr lang="en-US" smtClean="0"/>
              <a:pPr/>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1BBC3DF-4D3E-4D62-AC24-223E50BCC8DF}"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F1BBC3DF-4D3E-4D62-AC24-223E50BCC8DF}"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extLst/>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1BBC3DF-4D3E-4D62-AC24-223E50BCC8DF}" type="slidenum">
              <a:rPr lang="en-US" smtClean="0"/>
              <a:pPr/>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1C6E12D2-DA3A-480B-BCDF-BFB6C7EBE402}" type="datetimeFigureOut">
              <a:rPr lang="en-US" smtClean="0"/>
              <a:pPr/>
              <a:t>1/26/2021</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F1BBC3DF-4D3E-4D62-AC24-223E50BCC8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E7D079-2B1B-40AF-AEBC-3D4705E15124}"/>
              </a:ext>
            </a:extLst>
          </p:cNvPr>
          <p:cNvSpPr>
            <a:spLocks noGrp="1"/>
          </p:cNvSpPr>
          <p:nvPr>
            <p:ph type="ctrTitle"/>
          </p:nvPr>
        </p:nvSpPr>
        <p:spPr>
          <a:xfrm>
            <a:off x="2692398" y="2255444"/>
            <a:ext cx="6815669" cy="1515533"/>
          </a:xfrm>
        </p:spPr>
        <p:txBody>
          <a:bodyPr>
            <a:normAutofit fontScale="90000"/>
          </a:bodyPr>
          <a:lstStyle/>
          <a:p>
            <a:r>
              <a:rPr lang="en-US" dirty="0" smtClean="0"/>
              <a:t>GYM MANAGEMENT </a:t>
            </a:r>
            <a:r>
              <a:rPr lang="en-US" dirty="0"/>
              <a:t>SYSTEM</a:t>
            </a:r>
          </a:p>
        </p:txBody>
      </p:sp>
      <p:sp>
        <p:nvSpPr>
          <p:cNvPr id="3" name="Subtitle 2">
            <a:extLst>
              <a:ext uri="{FF2B5EF4-FFF2-40B4-BE49-F238E27FC236}">
                <a16:creationId xmlns:a16="http://schemas.microsoft.com/office/drawing/2014/main" xmlns=""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xmlns="" val="15472922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854B835-7BC2-467F-A535-7DE21884A81B}"/>
              </a:ext>
            </a:extLst>
          </p:cNvPr>
          <p:cNvSpPr>
            <a:spLocks noGrp="1"/>
          </p:cNvSpPr>
          <p:nvPr>
            <p:ph idx="1"/>
          </p:nvPr>
        </p:nvSpPr>
        <p:spPr/>
        <p:txBody>
          <a:bodyPr>
            <a:normAutofit/>
          </a:bodyPr>
          <a:lstStyle/>
          <a:p>
            <a:r>
              <a:rPr lang="en-US" sz="1800" dirty="0" smtClean="0">
                <a:latin typeface="Calibri" panose="020F0502020204030204" pitchFamily="34" charset="0"/>
                <a:ea typeface="Times New Roman" panose="02020603050405020304" pitchFamily="18" charset="0"/>
                <a:cs typeface="Calibri" panose="020F0502020204030204" pitchFamily="34" charset="0"/>
              </a:rPr>
              <a:t>This project “Gym Management System” is solution fitness centers to manage the customers in an easier and more convenient way. </a:t>
            </a:r>
            <a:r>
              <a:rPr lang="en-US" sz="1800" dirty="0" smtClean="0">
                <a:latin typeface="Calibri" panose="020F0502020204030204" pitchFamily="34" charset="0"/>
                <a:ea typeface="Times New Roman" panose="02020603050405020304" pitchFamily="18" charset="0"/>
                <a:cs typeface="Calibri" panose="020F0502020204030204" pitchFamily="34" charset="0"/>
              </a:rPr>
              <a:t>The administrator, is able to view all the members of fitness center as well as their details. </a:t>
            </a:r>
            <a:endParaRPr lang="en-US" sz="1800"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The </a:t>
            </a:r>
            <a:r>
              <a:rPr lang="en-US" sz="1800" dirty="0" smtClean="0">
                <a:latin typeface="Calibri" panose="020F0502020204030204" pitchFamily="34" charset="0"/>
                <a:ea typeface="Times New Roman" panose="02020603050405020304" pitchFamily="18" charset="0"/>
                <a:cs typeface="Calibri" panose="020F0502020204030204" pitchFamily="34" charset="0"/>
              </a:rPr>
              <a:t>basic structure of the system as follows</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r>
              <a:rPr lang="en-US" sz="1800" dirty="0" smtClean="0">
                <a:latin typeface="Calibri" panose="020F0502020204030204" pitchFamily="34" charset="0"/>
                <a:ea typeface="Times New Roman" panose="02020603050405020304" pitchFamily="18" charset="0"/>
                <a:cs typeface="Calibri" panose="020F0502020204030204" pitchFamily="34" charset="0"/>
              </a:rPr>
              <a:t> </a:t>
            </a:r>
            <a:r>
              <a:rPr lang="en-US" sz="1800" dirty="0" smtClean="0">
                <a:latin typeface="Calibri" panose="020F0502020204030204" pitchFamily="34" charset="0"/>
                <a:ea typeface="Times New Roman" panose="02020603050405020304" pitchFamily="18" charset="0"/>
                <a:cs typeface="Calibri" panose="020F0502020204030204" pitchFamily="34" charset="0"/>
              </a:rPr>
              <a:t>This project is a computer-based program and it manages the gym members, the personnel and the inventory. This system also maintains the client details, to provide the valuable reports regarding the progress of the gym member. </a:t>
            </a:r>
            <a:endParaRPr lang="en-US" sz="1800"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Also </a:t>
            </a:r>
            <a:r>
              <a:rPr lang="en-US" sz="1800" dirty="0" smtClean="0">
                <a:latin typeface="Calibri" panose="020F0502020204030204" pitchFamily="34" charset="0"/>
                <a:ea typeface="Times New Roman" panose="02020603050405020304" pitchFamily="18" charset="0"/>
                <a:cs typeface="Calibri" panose="020F0502020204030204" pitchFamily="34" charset="0"/>
              </a:rPr>
              <a:t>maintain the gym members in and out details it will automatically calculate the member workout timings</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r>
              <a:rPr lang="en-US" sz="1800" dirty="0" smtClean="0">
                <a:latin typeface="Calibri" panose="020F0502020204030204" pitchFamily="34" charset="0"/>
                <a:ea typeface="Times New Roman" panose="02020603050405020304" pitchFamily="18" charset="0"/>
                <a:cs typeface="Calibri" panose="020F0502020204030204" pitchFamily="34" charset="0"/>
              </a:rPr>
              <a:t> </a:t>
            </a:r>
            <a:r>
              <a:rPr lang="en-US" sz="1800" dirty="0" smtClean="0">
                <a:latin typeface="Calibri" panose="020F0502020204030204" pitchFamily="34" charset="0"/>
                <a:ea typeface="Times New Roman" panose="02020603050405020304" pitchFamily="18" charset="0"/>
                <a:cs typeface="Calibri" panose="020F0502020204030204" pitchFamily="34" charset="0"/>
              </a:rPr>
              <a:t>Also, administrator can find out the renewal date also, which is maintain very hard to handle manually. </a:t>
            </a:r>
            <a:endParaRPr lang="en-IN" sz="1800" dirty="0">
              <a:latin typeface="Calibri" panose="020F0502020204030204" pitchFamily="34" charset="0"/>
              <a:ea typeface="Times New Roman" panose="02020603050405020304" pitchFamily="18" charset="0"/>
              <a:cs typeface="Calibri" panose="020F0502020204030204" pitchFamily="34" charset="0"/>
            </a:endParaRPr>
          </a:p>
        </p:txBody>
      </p:sp>
      <p:sp>
        <p:nvSpPr>
          <p:cNvPr id="2" name="Title 1">
            <a:extLst>
              <a:ext uri="{FF2B5EF4-FFF2-40B4-BE49-F238E27FC236}">
                <a16:creationId xmlns:a16="http://schemas.microsoft.com/office/drawing/2014/main" xmlns="" id="{6B8DFE3D-CF41-4632-AEB2-4BE6F92E974B}"/>
              </a:ext>
            </a:extLst>
          </p:cNvPr>
          <p:cNvSpPr>
            <a:spLocks noGrp="1"/>
          </p:cNvSpPr>
          <p:nvPr>
            <p:ph type="title"/>
          </p:nvPr>
        </p:nvSpPr>
        <p:spPr/>
        <p:txBody>
          <a:bodyPr/>
          <a:lstStyle/>
          <a:p>
            <a:r>
              <a:rPr lang="en-US" dirty="0"/>
              <a:t>ABSTRACT</a:t>
            </a:r>
          </a:p>
        </p:txBody>
      </p:sp>
    </p:spTree>
    <p:extLst>
      <p:ext uri="{BB962C8B-B14F-4D97-AF65-F5344CB8AC3E}">
        <p14:creationId xmlns:p14="http://schemas.microsoft.com/office/powerpoint/2010/main" xmlns="" val="14465555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2" name="Title 1">
            <a:extLst>
              <a:ext uri="{FF2B5EF4-FFF2-40B4-BE49-F238E27FC236}">
                <a16:creationId xmlns:a16="http://schemas.microsoft.com/office/drawing/2014/main" xmlns=""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Tree>
    <p:extLst>
      <p:ext uri="{BB962C8B-B14F-4D97-AF65-F5344CB8AC3E}">
        <p14:creationId xmlns:p14="http://schemas.microsoft.com/office/powerpoint/2010/main" xmlns="" val="1448134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r>
              <a:rPr lang="en-US" sz="1800" b="1" dirty="0">
                <a:effectLst/>
                <a:latin typeface="Times New Roman" panose="02020603050405020304" pitchFamily="18" charset="0"/>
                <a:ea typeface="Calibri" panose="020F0502020204030204" pitchFamily="34" charset="0"/>
              </a:rPr>
              <a:t/>
            </a: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
        <p:nvSpPr>
          <p:cNvPr id="2" name="Title 1">
            <a:extLst>
              <a:ext uri="{FF2B5EF4-FFF2-40B4-BE49-F238E27FC236}">
                <a16:creationId xmlns:a16="http://schemas.microsoft.com/office/drawing/2014/main" xmlns="" id="{4D9503AC-872F-4E85-AEE2-7A8E7C5BC087}"/>
              </a:ext>
            </a:extLst>
          </p:cNvPr>
          <p:cNvSpPr>
            <a:spLocks noGrp="1"/>
          </p:cNvSpPr>
          <p:nvPr>
            <p:ph type="title"/>
          </p:nvPr>
        </p:nvSpPr>
        <p:spPr/>
        <p:txBody>
          <a:bodyPr/>
          <a:lstStyle/>
          <a:p>
            <a:r>
              <a:rPr lang="en-US" sz="1800" b="1" dirty="0">
                <a:latin typeface="Times New Roman" panose="02020603050405020304" pitchFamily="18" charset="0"/>
                <a:ea typeface="Calibri" panose="020F0502020204030204" pitchFamily="34" charset="0"/>
              </a:rPr>
              <a:t> SOFTWARE SPECIFICATION</a:t>
            </a:r>
            <a:r>
              <a:rPr lang="en-US" sz="1800" dirty="0">
                <a:effectLst/>
                <a:latin typeface="Times New Roman" panose="02020603050405020304" pitchFamily="18" charset="0"/>
                <a:ea typeface="Times New Roman" panose="02020603050405020304" pitchFamily="18" charset="0"/>
              </a:rPr>
              <a:t/>
            </a:r>
            <a:br>
              <a:rPr lang="en-US" sz="1800" dirty="0">
                <a:effectLst/>
                <a:latin typeface="Times New Roman" panose="02020603050405020304" pitchFamily="18" charset="0"/>
                <a:ea typeface="Times New Roman" panose="02020603050405020304" pitchFamily="18" charset="0"/>
              </a:rPr>
            </a:br>
            <a:endParaRPr lang="en-US" dirty="0"/>
          </a:p>
        </p:txBody>
      </p:sp>
    </p:spTree>
    <p:extLst>
      <p:ext uri="{BB962C8B-B14F-4D97-AF65-F5344CB8AC3E}">
        <p14:creationId xmlns:p14="http://schemas.microsoft.com/office/powerpoint/2010/main" xmlns="" val="24478363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678DDFF-0C1F-4E6A-A7AF-6FD81C2BA9CF}"/>
              </a:ext>
            </a:extLst>
          </p:cNvPr>
          <p:cNvSpPr>
            <a:spLocks noGrp="1"/>
          </p:cNvSpPr>
          <p:nvPr>
            <p:ph idx="1"/>
          </p:nvPr>
        </p:nvSpPr>
        <p:spPr/>
        <p:txBody>
          <a:bodyPr>
            <a:normAutofit/>
          </a:bodyPr>
          <a:lstStyle/>
          <a:p>
            <a:r>
              <a:rPr lang="en-US" sz="1800" dirty="0" smtClean="0">
                <a:latin typeface="Calibri" panose="020F0502020204030204" pitchFamily="34" charset="0"/>
                <a:ea typeface="Times New Roman" panose="02020603050405020304" pitchFamily="18" charset="0"/>
              </a:rPr>
              <a:t>The gym is working manually. The current system is time consuming and also it is very costly, because it involves a lot of paperwork. To manually handle the system was very difficult task. </a:t>
            </a:r>
            <a:r>
              <a:rPr lang="en-US" sz="1800" dirty="0" smtClean="0">
                <a:latin typeface="Calibri" panose="020F0502020204030204" pitchFamily="34" charset="0"/>
                <a:ea typeface="Times New Roman" panose="02020603050405020304" pitchFamily="18" charset="0"/>
              </a:rPr>
              <a:t>But now-a-days computerization made easy to work. </a:t>
            </a:r>
            <a:endParaRPr lang="en-US" sz="1800" dirty="0" smtClean="0">
              <a:latin typeface="Calibri" panose="020F0502020204030204" pitchFamily="34" charset="0"/>
              <a:ea typeface="Times New Roman" panose="02020603050405020304" pitchFamily="18" charset="0"/>
            </a:endParaRPr>
          </a:p>
          <a:p>
            <a:endParaRPr lang="en-IN" sz="1800" dirty="0" smtClean="0">
              <a:latin typeface="Calibri" panose="020F0502020204030204" pitchFamily="34" charset="0"/>
              <a:ea typeface="Times New Roman" panose="02020603050405020304" pitchFamily="18" charset="0"/>
            </a:endParaRPr>
          </a:p>
          <a:p>
            <a:pPr marL="0" indent="0">
              <a:buNone/>
            </a:pPr>
            <a:r>
              <a:rPr lang="en-US" sz="1800" b="1" kern="100" dirty="0" smtClean="0">
                <a:latin typeface="Times New Roman" panose="02020603050405020304" pitchFamily="18" charset="0"/>
              </a:rPr>
              <a:t>Disadvantages</a:t>
            </a:r>
          </a:p>
          <a:p>
            <a:pPr marL="0" indent="0">
              <a:buNone/>
            </a:pPr>
            <a:endParaRPr lang="en-US" sz="1800" b="1" kern="100" dirty="0">
              <a:latin typeface="Times New Roman" panose="02020603050405020304" pitchFamily="18" charset="0"/>
            </a:endParaRPr>
          </a:p>
          <a:p>
            <a:r>
              <a:rPr lang="en-US" sz="1800" dirty="0" smtClean="0">
                <a:latin typeface="Calibri" panose="020F0502020204030204" pitchFamily="34" charset="0"/>
                <a:ea typeface="Times New Roman" panose="02020603050405020304" pitchFamily="18" charset="0"/>
              </a:rPr>
              <a:t>The following </a:t>
            </a:r>
            <a:r>
              <a:rPr lang="en-US" sz="1800" dirty="0" smtClean="0">
                <a:latin typeface="Calibri" panose="020F0502020204030204" pitchFamily="34" charset="0"/>
                <a:ea typeface="Times New Roman" panose="02020603050405020304" pitchFamily="18" charset="0"/>
              </a:rPr>
              <a:t>are </a:t>
            </a:r>
            <a:r>
              <a:rPr lang="en-US" sz="1800" dirty="0" smtClean="0">
                <a:latin typeface="Calibri" panose="020F0502020204030204" pitchFamily="34" charset="0"/>
                <a:ea typeface="Times New Roman" panose="02020603050405020304" pitchFamily="18" charset="0"/>
              </a:rPr>
              <a:t>the reasons why the current system should be computerized:</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To increase efficiency with reduced cost.</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To reduce the burden of paper work</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To save time management for recording details of each and every member and employee. </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To generate required reports easily</a:t>
            </a:r>
            <a:endParaRPr lang="en-IN" sz="1800" dirty="0" smtClean="0">
              <a:latin typeface="Calibri" panose="020F0502020204030204" pitchFamily="34" charset="0"/>
              <a:ea typeface="Times New Roman" panose="02020603050405020304" pitchFamily="18" charset="0"/>
            </a:endParaRPr>
          </a:p>
          <a:p>
            <a:pPr marL="0" indent="0">
              <a:buNone/>
            </a:pPr>
            <a:endParaRPr lang="en-US" dirty="0"/>
          </a:p>
        </p:txBody>
      </p:sp>
      <p:sp>
        <p:nvSpPr>
          <p:cNvPr id="2" name="Title 1">
            <a:extLst>
              <a:ext uri="{FF2B5EF4-FFF2-40B4-BE49-F238E27FC236}">
                <a16:creationId xmlns:a16="http://schemas.microsoft.com/office/drawing/2014/main" xmlns="" id="{DE96AEBB-53AB-4615-9F17-8505694A5C4F}"/>
              </a:ext>
            </a:extLst>
          </p:cNvPr>
          <p:cNvSpPr>
            <a:spLocks noGrp="1"/>
          </p:cNvSpPr>
          <p:nvPr>
            <p:ph type="title"/>
          </p:nvPr>
        </p:nvSpPr>
        <p:spPr/>
        <p:txBody>
          <a:bodyPr/>
          <a:lstStyle/>
          <a:p>
            <a:r>
              <a:rPr lang="en-US" dirty="0"/>
              <a:t>EXISTING SYSTEM</a:t>
            </a:r>
          </a:p>
        </p:txBody>
      </p:sp>
    </p:spTree>
    <p:extLst>
      <p:ext uri="{BB962C8B-B14F-4D97-AF65-F5344CB8AC3E}">
        <p14:creationId xmlns:p14="http://schemas.microsoft.com/office/powerpoint/2010/main" xmlns="" val="1590290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6E19CB4-FA1C-4ED5-AFF1-B82455ED53A4}"/>
              </a:ext>
            </a:extLst>
          </p:cNvPr>
          <p:cNvSpPr>
            <a:spLocks noGrp="1"/>
          </p:cNvSpPr>
          <p:nvPr>
            <p:ph idx="1"/>
          </p:nvPr>
        </p:nvSpPr>
        <p:spPr/>
        <p:txBody>
          <a:bodyPr>
            <a:normAutofit fontScale="92500" lnSpcReduction="20000"/>
          </a:bodyPr>
          <a:lstStyle/>
          <a:p>
            <a:pPr marL="0" indent="0">
              <a:buNone/>
            </a:pPr>
            <a:r>
              <a:rPr lang="en-US" sz="1800" dirty="0">
                <a:effectLst/>
                <a:latin typeface="Calibri" panose="020F0502020204030204" pitchFamily="34" charset="0"/>
                <a:ea typeface="Times New Roman" panose="02020603050405020304" pitchFamily="18" charset="0"/>
              </a:rPr>
              <a:t>	</a:t>
            </a:r>
            <a:r>
              <a:rPr lang="en-US" sz="1900" dirty="0" smtClean="0">
                <a:latin typeface="Calibri" panose="020F0502020204030204" pitchFamily="34" charset="0"/>
                <a:ea typeface="Times New Roman" panose="02020603050405020304" pitchFamily="18" charset="0"/>
              </a:rPr>
              <a:t>This Gym Management System tool is basically developed to aid the user to add a member to the gym. The user shall be able to add the name, date of birth and contact address of the member. It also records the phone numbers and the height and weight data of the member. It shall have the admission date. It also has an option to check whether the member is new or an existing one. It stores the photo of the member. It shall help the user to know about fee payments. It has the option to select type of fee payments. It could be monthly, quarterly or annually depending on the choice of the member. It also holds the receipt number and the amount of fees paid. It shall also generate reports based on the payment of fees. It shall also enable the user to update information of members. This tool uses </a:t>
            </a:r>
            <a:r>
              <a:rPr lang="en-US" sz="1900" dirty="0" err="1" smtClean="0">
                <a:latin typeface="Calibri" panose="020F0502020204030204" pitchFamily="34" charset="0"/>
                <a:ea typeface="Times New Roman" panose="02020603050405020304" pitchFamily="18" charset="0"/>
              </a:rPr>
              <a:t>.net</a:t>
            </a:r>
            <a:r>
              <a:rPr lang="en-US" sz="1900" dirty="0" smtClean="0">
                <a:latin typeface="Calibri" panose="020F0502020204030204" pitchFamily="34" charset="0"/>
                <a:ea typeface="Times New Roman" panose="02020603050405020304" pitchFamily="18" charset="0"/>
              </a:rPr>
              <a:t> framework with MS Access as the database. It secures the data of each user. Storage and retrieval of data is fast through these </a:t>
            </a:r>
            <a:r>
              <a:rPr lang="en-US" sz="1900" dirty="0" err="1" smtClean="0">
                <a:latin typeface="Calibri" panose="020F0502020204030204" pitchFamily="34" charset="0"/>
                <a:ea typeface="Times New Roman" panose="02020603050405020304" pitchFamily="18" charset="0"/>
              </a:rPr>
              <a:t>.net</a:t>
            </a:r>
            <a:r>
              <a:rPr lang="en-US" sz="1900" dirty="0" smtClean="0">
                <a:latin typeface="Calibri" panose="020F0502020204030204" pitchFamily="34" charset="0"/>
                <a:ea typeface="Times New Roman" panose="02020603050405020304" pitchFamily="18" charset="0"/>
              </a:rPr>
              <a:t> </a:t>
            </a:r>
            <a:r>
              <a:rPr lang="en-US" sz="1900" dirty="0" smtClean="0">
                <a:latin typeface="Calibri" panose="020F0502020204030204" pitchFamily="34" charset="0"/>
                <a:ea typeface="Times New Roman" panose="02020603050405020304" pitchFamily="18" charset="0"/>
              </a:rPr>
              <a:t>tools System</a:t>
            </a:r>
            <a:endParaRPr lang="en-IN" sz="1900" dirty="0" smtClean="0">
              <a:latin typeface="Calibri" panose="020F0502020204030204" pitchFamily="34" charset="0"/>
              <a:ea typeface="Times New Roman" panose="02020603050405020304" pitchFamily="18" charset="0"/>
            </a:endParaRPr>
          </a:p>
          <a:p>
            <a:pPr marL="0" indent="0">
              <a:buNone/>
            </a:pPr>
            <a:endParaRPr lang="en-US" sz="1800" dirty="0">
              <a:effectLst/>
              <a:latin typeface="Calibri" panose="020F0502020204030204" pitchFamily="34" charset="0"/>
              <a:ea typeface="Times New Roman" panose="02020603050405020304" pitchFamily="18" charset="0"/>
            </a:endParaRPr>
          </a:p>
          <a:p>
            <a:pPr marL="0" indent="0">
              <a:buNone/>
            </a:pPr>
            <a:r>
              <a:rPr lang="en-US" sz="1800" b="1" kern="100" dirty="0" smtClean="0">
                <a:latin typeface="Times New Roman" panose="02020603050405020304" pitchFamily="18" charset="0"/>
              </a:rPr>
              <a:t>Advantages</a:t>
            </a:r>
          </a:p>
          <a:p>
            <a:pPr marL="0" indent="0">
              <a:buNone/>
            </a:pPr>
            <a:endParaRPr lang="en-US" sz="1800" b="1" kern="100" dirty="0">
              <a:latin typeface="Times New Roman" panose="02020603050405020304" pitchFamily="18" charset="0"/>
            </a:endParaRPr>
          </a:p>
          <a:p>
            <a:pPr lvl="0"/>
            <a:r>
              <a:rPr lang="en-US" sz="1900" dirty="0" smtClean="0">
                <a:latin typeface="Calibri" panose="020F0502020204030204" pitchFamily="34" charset="0"/>
                <a:ea typeface="Times New Roman" panose="02020603050405020304" pitchFamily="18" charset="0"/>
              </a:rPr>
              <a:t>It provides wide range of certain criteria in each window the client is working for better and quicker solution. </a:t>
            </a:r>
            <a:endParaRPr lang="en-IN" sz="1900" dirty="0" smtClean="0">
              <a:latin typeface="Calibri" panose="020F0502020204030204" pitchFamily="34" charset="0"/>
              <a:ea typeface="Times New Roman" panose="02020603050405020304" pitchFamily="18" charset="0"/>
            </a:endParaRPr>
          </a:p>
          <a:p>
            <a:pPr lvl="0"/>
            <a:r>
              <a:rPr lang="en-US" sz="1900" dirty="0" smtClean="0">
                <a:latin typeface="Calibri" panose="020F0502020204030204" pitchFamily="34" charset="0"/>
                <a:ea typeface="Times New Roman" panose="02020603050405020304" pitchFamily="18" charset="0"/>
              </a:rPr>
              <a:t>It maintains report for all criteria and transactions. </a:t>
            </a:r>
            <a:endParaRPr lang="en-IN" sz="1900" dirty="0" smtClean="0">
              <a:latin typeface="Calibri" panose="020F0502020204030204" pitchFamily="34" charset="0"/>
              <a:ea typeface="Times New Roman" panose="02020603050405020304" pitchFamily="18" charset="0"/>
            </a:endParaRPr>
          </a:p>
          <a:p>
            <a:pPr lvl="0"/>
            <a:r>
              <a:rPr lang="en-US" sz="1900" dirty="0" smtClean="0">
                <a:latin typeface="Calibri" panose="020F0502020204030204" pitchFamily="34" charset="0"/>
                <a:ea typeface="Times New Roman" panose="02020603050405020304" pitchFamily="18" charset="0"/>
              </a:rPr>
              <a:t>Manages member information separately for all exercise and employee information separately for considering the requirements of gym.</a:t>
            </a:r>
            <a:endParaRPr lang="en-IN" sz="1900" dirty="0" smtClean="0">
              <a:latin typeface="Calibri" panose="020F0502020204030204" pitchFamily="34" charset="0"/>
              <a:ea typeface="Times New Roman" panose="02020603050405020304" pitchFamily="18" charset="0"/>
            </a:endParaRPr>
          </a:p>
          <a:p>
            <a:pPr lvl="0"/>
            <a:r>
              <a:rPr lang="en-US" sz="1900" dirty="0" smtClean="0">
                <a:latin typeface="Calibri" panose="020F0502020204030204" pitchFamily="34" charset="0"/>
                <a:ea typeface="Times New Roman" panose="02020603050405020304" pitchFamily="18" charset="0"/>
              </a:rPr>
              <a:t>Stores information about regular products.</a:t>
            </a:r>
            <a:endParaRPr lang="en-IN" sz="1900" dirty="0" smtClean="0">
              <a:latin typeface="Calibri" panose="020F0502020204030204" pitchFamily="34" charset="0"/>
              <a:ea typeface="Times New Roman" panose="02020603050405020304" pitchFamily="18" charset="0"/>
            </a:endParaRPr>
          </a:p>
          <a:p>
            <a:pPr lvl="0"/>
            <a:r>
              <a:rPr lang="en-US" sz="1900" dirty="0" smtClean="0">
                <a:latin typeface="Calibri" panose="020F0502020204030204" pitchFamily="34" charset="0"/>
                <a:ea typeface="Times New Roman" panose="02020603050405020304" pitchFamily="18" charset="0"/>
              </a:rPr>
              <a:t>This system can run on any windows operating system</a:t>
            </a:r>
            <a:endParaRPr lang="en-IN" sz="1900" dirty="0" smtClean="0">
              <a:latin typeface="Calibri" panose="020F0502020204030204" pitchFamily="34" charset="0"/>
              <a:ea typeface="Times New Roman" panose="02020603050405020304" pitchFamily="18" charset="0"/>
            </a:endParaRPr>
          </a:p>
          <a:p>
            <a:pPr marL="0" indent="0">
              <a:buNone/>
            </a:pPr>
            <a:endParaRPr lang="en-US" b="1" dirty="0"/>
          </a:p>
        </p:txBody>
      </p:sp>
      <p:sp>
        <p:nvSpPr>
          <p:cNvPr id="2" name="Title 1">
            <a:extLst>
              <a:ext uri="{FF2B5EF4-FFF2-40B4-BE49-F238E27FC236}">
                <a16:creationId xmlns:a16="http://schemas.microsoft.com/office/drawing/2014/main" xmlns="" id="{D32D4710-71A8-410A-85F1-3F6B0BE3FAC7}"/>
              </a:ext>
            </a:extLst>
          </p:cNvPr>
          <p:cNvSpPr>
            <a:spLocks noGrp="1"/>
          </p:cNvSpPr>
          <p:nvPr>
            <p:ph type="title"/>
          </p:nvPr>
        </p:nvSpPr>
        <p:spPr/>
        <p:txBody>
          <a:bodyPr/>
          <a:lstStyle/>
          <a:p>
            <a:r>
              <a:rPr lang="en-US" dirty="0"/>
              <a:t>PROPOSED SYSTEM</a:t>
            </a:r>
          </a:p>
        </p:txBody>
      </p:sp>
    </p:spTree>
    <p:extLst>
      <p:ext uri="{BB962C8B-B14F-4D97-AF65-F5344CB8AC3E}">
        <p14:creationId xmlns:p14="http://schemas.microsoft.com/office/powerpoint/2010/main" xmlns="" val="18606351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08555ED-5306-4AC3-82F6-94DC618DC81F}"/>
              </a:ext>
            </a:extLst>
          </p:cNvPr>
          <p:cNvSpPr>
            <a:spLocks noGrp="1"/>
          </p:cNvSpPr>
          <p:nvPr>
            <p:ph idx="1"/>
          </p:nvPr>
        </p:nvSpPr>
        <p:spPr/>
        <p:txBody>
          <a:bodyPr>
            <a:normAutofit/>
          </a:bodyPr>
          <a:lstStyle/>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Member Registration	</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IN/OUT Entry Details	</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GYM Materials	</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Service Entries	</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Health </a:t>
            </a:r>
            <a:r>
              <a:rPr lang="en-US" sz="1800" dirty="0" smtClean="0">
                <a:latin typeface="Calibri" panose="020F0502020204030204" pitchFamily="34" charset="0"/>
                <a:ea typeface="Times New Roman" panose="02020603050405020304" pitchFamily="18" charset="0"/>
                <a:cs typeface="Calibri" panose="020F0502020204030204" pitchFamily="34" charset="0"/>
              </a:rPr>
              <a:t>tip</a:t>
            </a:r>
          </a:p>
          <a:p>
            <a:pPr lvl="0"/>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Member Registration: </a:t>
            </a:r>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This </a:t>
            </a:r>
            <a:r>
              <a:rPr lang="en-US" sz="1800" dirty="0" smtClean="0">
                <a:latin typeface="Calibri" panose="020F0502020204030204" pitchFamily="34" charset="0"/>
                <a:ea typeface="Times New Roman" panose="02020603050405020304" pitchFamily="18" charset="0"/>
                <a:cs typeface="Calibri" panose="020F0502020204030204" pitchFamily="34" charset="0"/>
              </a:rPr>
              <a:t>module will be used to perform get the data about the gym members. </a:t>
            </a:r>
            <a:r>
              <a:rPr lang="en-US" sz="1800" dirty="0" smtClean="0">
                <a:latin typeface="Calibri" panose="020F0502020204030204" pitchFamily="34" charset="0"/>
                <a:ea typeface="Times New Roman" panose="02020603050405020304" pitchFamily="18" charset="0"/>
                <a:cs typeface="Calibri" panose="020F0502020204030204" pitchFamily="34" charset="0"/>
              </a:rPr>
              <a:t>This detail will be stored in a database. When the gym owner needs an details for the members it will takes from the member table.</a:t>
            </a:r>
            <a:endParaRPr lang="en-IN" sz="1800" dirty="0">
              <a:latin typeface="Calibri" panose="020F0502020204030204" pitchFamily="34" charset="0"/>
              <a:ea typeface="Times New Roman" panose="02020603050405020304" pitchFamily="18" charset="0"/>
              <a:cs typeface="Calibri" panose="020F0502020204030204" pitchFamily="34" charset="0"/>
            </a:endParaRPr>
          </a:p>
        </p:txBody>
      </p:sp>
      <p:sp>
        <p:nvSpPr>
          <p:cNvPr id="2" name="Title 1">
            <a:extLst>
              <a:ext uri="{FF2B5EF4-FFF2-40B4-BE49-F238E27FC236}">
                <a16:creationId xmlns:a16="http://schemas.microsoft.com/office/drawing/2014/main" xmlns="" id="{2D82E879-44E2-4AFC-91C1-A644CA698A8B}"/>
              </a:ext>
            </a:extLst>
          </p:cNvPr>
          <p:cNvSpPr>
            <a:spLocks noGrp="1"/>
          </p:cNvSpPr>
          <p:nvPr>
            <p:ph type="title"/>
          </p:nvPr>
        </p:nvSpPr>
        <p:spPr/>
        <p:txBody>
          <a:bodyPr/>
          <a:lstStyle/>
          <a:p>
            <a:r>
              <a:rPr lang="en-US" dirty="0"/>
              <a:t>Modules</a:t>
            </a:r>
          </a:p>
        </p:txBody>
      </p:sp>
    </p:spTree>
    <p:extLst>
      <p:ext uri="{BB962C8B-B14F-4D97-AF65-F5344CB8AC3E}">
        <p14:creationId xmlns:p14="http://schemas.microsoft.com/office/powerpoint/2010/main" xmlns="" val="42150257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B8F9E25-F29C-4FEA-ACB4-6D6057146BE7}"/>
              </a:ext>
            </a:extLst>
          </p:cNvPr>
          <p:cNvSpPr>
            <a:spLocks noGrp="1"/>
          </p:cNvSpPr>
          <p:nvPr>
            <p:ph idx="1"/>
          </p:nvPr>
        </p:nvSpPr>
        <p:spPr/>
        <p:txBody>
          <a:bodyPr>
            <a:normAutofit/>
          </a:bodyPr>
          <a:lstStyle/>
          <a:p>
            <a:pPr>
              <a:buNone/>
            </a:pPr>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I/OUT </a:t>
            </a:r>
            <a:r>
              <a:rPr lang="en-US" sz="1800" b="1" dirty="0" smtClean="0">
                <a:latin typeface="Calibri" panose="020F0502020204030204" pitchFamily="34" charset="0"/>
                <a:ea typeface="Times New Roman" panose="02020603050405020304" pitchFamily="18" charset="0"/>
                <a:cs typeface="Calibri" panose="020F0502020204030204" pitchFamily="34" charset="0"/>
              </a:rPr>
              <a:t>Entry</a:t>
            </a:r>
            <a:r>
              <a:rPr lang="en-US" sz="1800" b="1" dirty="0" smtClean="0">
                <a:latin typeface="Calibri" panose="020F0502020204030204" pitchFamily="34" charset="0"/>
                <a:ea typeface="Times New Roman" panose="02020603050405020304" pitchFamily="18" charset="0"/>
                <a:cs typeface="Calibri" panose="020F0502020204030204" pitchFamily="34" charset="0"/>
              </a:rPr>
              <a:t>:</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	This module has been collecting the in time and out time information for the members. This will give and entire report about the members. </a:t>
            </a:r>
            <a:r>
              <a:rPr lang="en-US" sz="1800" dirty="0" smtClean="0">
                <a:latin typeface="Calibri" panose="020F0502020204030204" pitchFamily="34" charset="0"/>
                <a:ea typeface="Times New Roman" panose="02020603050405020304" pitchFamily="18" charset="0"/>
                <a:cs typeface="Calibri" panose="020F0502020204030204" pitchFamily="34" charset="0"/>
              </a:rPr>
              <a:t>We can easy to track the working hours for the members</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GYM </a:t>
            </a:r>
            <a:r>
              <a:rPr lang="en-US" sz="1800" b="1" dirty="0" smtClean="0">
                <a:latin typeface="Calibri" panose="020F0502020204030204" pitchFamily="34" charset="0"/>
                <a:ea typeface="Times New Roman" panose="02020603050405020304" pitchFamily="18" charset="0"/>
                <a:cs typeface="Calibri" panose="020F0502020204030204" pitchFamily="34" charset="0"/>
              </a:rPr>
              <a:t>Material</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	This module will used to store the information about the gym material, which can collect all the information and store into the material table.</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p:txBody>
      </p:sp>
      <p:sp>
        <p:nvSpPr>
          <p:cNvPr id="2" name="Title 1">
            <a:extLst>
              <a:ext uri="{FF2B5EF4-FFF2-40B4-BE49-F238E27FC236}">
                <a16:creationId xmlns:a16="http://schemas.microsoft.com/office/drawing/2014/main" xmlns="" id="{4170C2D7-81D8-4BA8-8D90-F0EA842C950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xmlns="" val="20241697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8DDDC8A-04BB-42C9-B0EC-BF82D0492888}"/>
              </a:ext>
            </a:extLst>
          </p:cNvPr>
          <p:cNvSpPr>
            <a:spLocks noGrp="1"/>
          </p:cNvSpPr>
          <p:nvPr>
            <p:ph idx="1"/>
          </p:nvPr>
        </p:nvSpPr>
        <p:spPr/>
        <p:txBody>
          <a:bodyPr>
            <a:normAutofit/>
          </a:bodyPr>
          <a:lstStyle/>
          <a:p>
            <a:pPr>
              <a:buNone/>
            </a:pPr>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Service Entries</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	This module will store the information for the services issues, gym owner any time can check the services in the service table</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Health </a:t>
            </a:r>
            <a:r>
              <a:rPr lang="en-US" sz="1800" b="1" dirty="0" smtClean="0">
                <a:latin typeface="Calibri" panose="020F0502020204030204" pitchFamily="34" charset="0"/>
                <a:ea typeface="Times New Roman" panose="02020603050405020304" pitchFamily="18" charset="0"/>
                <a:cs typeface="Calibri" panose="020F0502020204030204" pitchFamily="34" charset="0"/>
              </a:rPr>
              <a:t>Tips</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	This contains collect the information regarding the health tips, the gym workers easily to find out the tips and helps to the workers.</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endParaRPr lang="en-US" dirty="0"/>
          </a:p>
        </p:txBody>
      </p:sp>
      <p:sp>
        <p:nvSpPr>
          <p:cNvPr id="2" name="Title 1">
            <a:extLst>
              <a:ext uri="{FF2B5EF4-FFF2-40B4-BE49-F238E27FC236}">
                <a16:creationId xmlns:a16="http://schemas.microsoft.com/office/drawing/2014/main" xmlns="" id="{62342F69-923A-4F80-8469-FB9067E30D8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xmlns="" val="31218114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302C280-D2B7-46AA-9A87-E36DB7A0CB3D}"/>
              </a:ext>
            </a:extLst>
          </p:cNvPr>
          <p:cNvSpPr>
            <a:spLocks noGrp="1"/>
          </p:cNvSpPr>
          <p:nvPr>
            <p:ph idx="1"/>
          </p:nvPr>
        </p:nvSpPr>
        <p:spPr/>
        <p:txBody>
          <a:bodyPr/>
          <a:lstStyle/>
          <a:p>
            <a:r>
              <a:rPr lang="en-US" sz="3600" dirty="0">
                <a:solidFill>
                  <a:schemeClr val="tx2"/>
                </a:solidFill>
                <a:latin typeface="+mj-lt"/>
                <a:ea typeface="+mj-ea"/>
                <a:cs typeface="+mj-cs"/>
              </a:rPr>
              <a:t>Level </a:t>
            </a:r>
            <a:r>
              <a:rPr lang="en-US" sz="3600" dirty="0" smtClean="0">
                <a:solidFill>
                  <a:schemeClr val="tx2"/>
                </a:solidFill>
                <a:latin typeface="+mj-lt"/>
                <a:ea typeface="+mj-ea"/>
                <a:cs typeface="+mj-cs"/>
              </a:rPr>
              <a:t>0:</a:t>
            </a:r>
            <a:endParaRPr lang="en-US" sz="3600" dirty="0">
              <a:solidFill>
                <a:schemeClr val="tx2"/>
              </a:solidFill>
              <a:latin typeface="+mj-lt"/>
              <a:ea typeface="+mj-ea"/>
              <a:cs typeface="+mj-cs"/>
            </a:endParaRPr>
          </a:p>
          <a:p>
            <a:pPr marL="0" indent="0">
              <a:buNone/>
            </a:pPr>
            <a:endParaRPr lang="en-US" sz="3600" dirty="0">
              <a:solidFill>
                <a:schemeClr val="bg2"/>
              </a:solidFill>
              <a:latin typeface="+mj-lt"/>
              <a:ea typeface="+mj-ea"/>
              <a:cs typeface="+mj-cs"/>
            </a:endParaRPr>
          </a:p>
          <a:p>
            <a:pPr marL="0" indent="0">
              <a:buNone/>
            </a:pPr>
            <a:endParaRPr lang="en-US" dirty="0"/>
          </a:p>
        </p:txBody>
      </p:sp>
      <p:sp>
        <p:nvSpPr>
          <p:cNvPr id="2" name="Title 1">
            <a:extLst>
              <a:ext uri="{FF2B5EF4-FFF2-40B4-BE49-F238E27FC236}">
                <a16:creationId xmlns:a16="http://schemas.microsoft.com/office/drawing/2014/main" xmlns="" id="{A810D388-6C07-4546-918A-2B5A67408456}"/>
              </a:ext>
            </a:extLst>
          </p:cNvPr>
          <p:cNvSpPr>
            <a:spLocks noGrp="1"/>
          </p:cNvSpPr>
          <p:nvPr>
            <p:ph type="title"/>
          </p:nvPr>
        </p:nvSpPr>
        <p:spPr/>
        <p:txBody>
          <a:bodyPr/>
          <a:lstStyle/>
          <a:p>
            <a:r>
              <a:rPr lang="en-US" dirty="0"/>
              <a:t>Data Flow Diagram</a:t>
            </a:r>
          </a:p>
        </p:txBody>
      </p:sp>
      <p:pic>
        <p:nvPicPr>
          <p:cNvPr id="6" name="Picture 5"/>
          <p:cNvPicPr/>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3487102" y="3072764"/>
            <a:ext cx="4218623" cy="1632585"/>
          </a:xfrm>
          <a:prstGeom prst="rect">
            <a:avLst/>
          </a:prstGeom>
          <a:noFill/>
          <a:ln>
            <a:noFill/>
          </a:ln>
        </p:spPr>
      </p:pic>
    </p:spTree>
    <p:extLst>
      <p:ext uri="{BB962C8B-B14F-4D97-AF65-F5344CB8AC3E}">
        <p14:creationId xmlns:p14="http://schemas.microsoft.com/office/powerpoint/2010/main" xmlns="" val="3590689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C1EEFF-B3ED-40E0-9C29-20B24F396040}"/>
              </a:ext>
            </a:extLst>
          </p:cNvPr>
          <p:cNvSpPr>
            <a:spLocks noGrp="1"/>
          </p:cNvSpPr>
          <p:nvPr>
            <p:ph type="title"/>
          </p:nvPr>
        </p:nvSpPr>
        <p:spPr/>
        <p:txBody>
          <a:bodyPr/>
          <a:lstStyle/>
          <a:p>
            <a:pPr algn="l"/>
            <a:r>
              <a:rPr lang="en-US" dirty="0"/>
              <a:t>Level 1:</a:t>
            </a:r>
          </a:p>
        </p:txBody>
      </p:sp>
      <p:sp>
        <p:nvSpPr>
          <p:cNvPr id="4" name="Content Placeholder 3"/>
          <p:cNvSpPr>
            <a:spLocks noGrp="1"/>
          </p:cNvSpPr>
          <p:nvPr>
            <p:ph idx="1"/>
          </p:nvPr>
        </p:nvSpPr>
        <p:spPr/>
        <p:txBody>
          <a:bodyPr/>
          <a:lstStyle/>
          <a:p>
            <a:endParaRPr lang="en-IN" dirty="0"/>
          </a:p>
        </p:txBody>
      </p:sp>
      <p:pic>
        <p:nvPicPr>
          <p:cNvPr id="5" name="Picture 4"/>
          <p:cNvPicPr/>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3956050" y="1609724"/>
            <a:ext cx="4279900" cy="4222115"/>
          </a:xfrm>
          <a:prstGeom prst="rect">
            <a:avLst/>
          </a:prstGeom>
          <a:noFill/>
          <a:ln>
            <a:noFill/>
          </a:ln>
        </p:spPr>
      </p:pic>
    </p:spTree>
    <p:extLst>
      <p:ext uri="{BB962C8B-B14F-4D97-AF65-F5344CB8AC3E}">
        <p14:creationId xmlns:p14="http://schemas.microsoft.com/office/powerpoint/2010/main" xmlns="" val="15354048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7A32F1A-EEE9-4FAF-8505-D230D3A96A68}"/>
              </a:ext>
            </a:extLst>
          </p:cNvPr>
          <p:cNvSpPr>
            <a:spLocks noGrp="1"/>
          </p:cNvSpPr>
          <p:nvPr>
            <p:ph idx="1"/>
          </p:nvPr>
        </p:nvSpPr>
        <p:spPr/>
        <p:txBody>
          <a:bodyPr/>
          <a:lstStyle/>
          <a:p>
            <a:endParaRPr lang="en-US" dirty="0"/>
          </a:p>
        </p:txBody>
      </p:sp>
      <p:sp>
        <p:nvSpPr>
          <p:cNvPr id="2" name="Title 1">
            <a:extLst>
              <a:ext uri="{FF2B5EF4-FFF2-40B4-BE49-F238E27FC236}">
                <a16:creationId xmlns:a16="http://schemas.microsoft.com/office/drawing/2014/main" xmlns="" id="{3D27B6BD-6029-4719-B606-0057CD8A37CB}"/>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xmlns="" val="322466778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31</TotalTime>
  <Words>260</Words>
  <Application>Microsoft Office PowerPoint</Application>
  <PresentationFormat>Custom</PresentationFormat>
  <Paragraphs>66</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Concourse</vt:lpstr>
      <vt:lpstr>GYM MANAGEMENT SYSTEM</vt:lpstr>
      <vt:lpstr>ABSTRACT</vt:lpstr>
      <vt:lpstr> HARDWARE SPECFICATION</vt:lpstr>
      <vt:lpstr> SOFTWARE SPECIFICATION </vt:lpstr>
      <vt:lpstr>EXISTING SYSTEM</vt:lpstr>
      <vt:lpstr>PROPOSED SYSTEM</vt:lpstr>
      <vt:lpstr>Modules</vt:lpstr>
      <vt:lpstr>Slide 8</vt:lpstr>
      <vt:lpstr>Slide 9</vt:lpstr>
      <vt:lpstr>Data Flow Diagram</vt:lpstr>
      <vt:lpstr>Level 1:</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Madhan</cp:lastModifiedBy>
  <cp:revision>17</cp:revision>
  <dcterms:created xsi:type="dcterms:W3CDTF">2021-01-26T14:06:30Z</dcterms:created>
  <dcterms:modified xsi:type="dcterms:W3CDTF">2021-01-26T16:41:18Z</dcterms:modified>
</cp:coreProperties>
</file>