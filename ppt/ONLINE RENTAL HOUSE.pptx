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2/19/2021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1BBC3DF-4D3E-4D62-AC24-223E50BCC8DF}" type="slidenum">
              <a:rPr lang="en-US" smtClean="0"/>
              <a:t>‹#›</a:t>
            </a:fld>
            <a:endParaRPr lang="en-US"/>
          </a:p>
        </p:txBody>
      </p:sp>
    </p:spTree>
    <p:extLst>
      <p:ext uri="{BB962C8B-B14F-4D97-AF65-F5344CB8AC3E}">
        <p14:creationId xmlns:p14="http://schemas.microsoft.com/office/powerpoint/2010/main" val="1660743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2/19/2021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62698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1C6E12D2-DA3A-480B-BCDF-BFB6C7EBE402}" type="datetimeFigureOut">
              <a:rPr lang="en-US" smtClean="0"/>
              <a:t>2/19/2021</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1BBC3DF-4D3E-4D62-AC24-223E50BCC8DF}" type="slidenum">
              <a:rPr lang="en-US" smtClean="0"/>
              <a:t>‹#›</a:t>
            </a:fld>
            <a:endParaRPr lang="en-US"/>
          </a:p>
        </p:txBody>
      </p:sp>
    </p:spTree>
    <p:extLst>
      <p:ext uri="{BB962C8B-B14F-4D97-AF65-F5344CB8AC3E}">
        <p14:creationId xmlns:p14="http://schemas.microsoft.com/office/powerpoint/2010/main" val="284603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2/19/2021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98866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2/19/2021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00337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2/19/2021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198513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2/19/2021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1119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2/19/2021</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691130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2/19/2021</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113926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2/19/2021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66086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2/19/2021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01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C6E12D2-DA3A-480B-BCDF-BFB6C7EBE402}" type="datetimeFigureOut">
              <a:rPr lang="en-US" smtClean="0"/>
              <a:t>2/19/2021</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165796120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ONLINE RENTAL HOUSE</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lnSpcReduction="1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Web Application helps user to register individual home or apartment to assist you in finding the perfect rental home or property. Also, we can find your next rental from search view in your targeted area. This website is designed to attend to all our needs from buying property, selling property or renting/leasing of property in India. Here we found the better opportunity to invest our value of entire life. Property helps us to maintain the database of various property &amp; agents’ information. It not only helps us to maintain the agent information but here we also allow agents to access the portal updated information across the global environment. We know it is a tiring to call individual property agents, arrange appointment, finding better time for appointment and they will assist you. For such complex process we provide a one simple online form which requires your basic information and we will assist in sort time period.</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housing sector remains vigilant to face the challenges of the change of the existing system. People migrating to other cities or states either for different purposes. Finding a shelter, which fits all the requirements of the customer is hard, most of them don’t match their needs.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Very hard to find the way for houses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need to provide more commission to search house.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Everyone is not comfortable to follow this.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system is take care for sales the house via application, the admin can be access to upload the house details, once the uploaded with photo user can getting attractive and more happy to visit the house, the purpose of this software is an user friendly.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Every user can visit the page after the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Once the process has been done admin directly reach you, you don’t need to collect the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All the process has been handling into the single application.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User Registration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the user needs to search home or anything, should need to register. Once the user has been registered with username and password, they can able to login.</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Add Houses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The main role of admin for create the house and house details, also upload house images. Which details can be viewed in the user page, once the user liked can book it	</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lnSpcReduction="10000"/>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Houses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The registered houses are showing in the home page, after login user can view the page, admin also can be modified the house details as well. Once the house has been booked, we don’t show to the other users.	</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Booking House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If user liked house, the user can book the house via this application, after the booking admin will get notify and reach them customer.</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House Images Upload &amp; download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We have good option to provide the house images and uploading in to the server, if the user needs the pics just, we gave download option also there in the user page screen</a:t>
            </a: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3D7A7090-F128-4FCD-B536-1D5B5883796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19842" y="3015614"/>
            <a:ext cx="5469932" cy="1556385"/>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F16D997-CBB0-448E-9747-0CE8DD6D17E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90022" y="1537017"/>
            <a:ext cx="5472030" cy="4635183"/>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8897F-2F3F-4895-A9AB-1AE7D9841AAA}"/>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ADMIN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E86E999A-A1B8-4223-82AB-C16A28E2A6F6}"/>
              </a:ext>
            </a:extLst>
          </p:cNvPr>
          <p:cNvGraphicFramePr>
            <a:graphicFrameLocks noGrp="1"/>
          </p:cNvGraphicFramePr>
          <p:nvPr>
            <p:ph idx="1"/>
            <p:extLst>
              <p:ext uri="{D42A27DB-BD31-4B8C-83A1-F6EECF244321}">
                <p14:modId xmlns:p14="http://schemas.microsoft.com/office/powerpoint/2010/main" val="620671238"/>
              </p:ext>
            </p:extLst>
          </p:nvPr>
        </p:nvGraphicFramePr>
        <p:xfrm>
          <a:off x="1709530" y="2093976"/>
          <a:ext cx="7323346" cy="2542412"/>
        </p:xfrm>
        <a:graphic>
          <a:graphicData uri="http://schemas.openxmlformats.org/drawingml/2006/table">
            <a:tbl>
              <a:tblPr firstRow="1" firstCol="1" bandRow="1">
                <a:tableStyleId>{5C22544A-7EE6-4342-B048-85BDC9FD1C3A}</a:tableStyleId>
              </a:tblPr>
              <a:tblGrid>
                <a:gridCol w="1830441">
                  <a:extLst>
                    <a:ext uri="{9D8B030D-6E8A-4147-A177-3AD203B41FA5}">
                      <a16:colId xmlns:a16="http://schemas.microsoft.com/office/drawing/2014/main" val="1017856039"/>
                    </a:ext>
                  </a:extLst>
                </a:gridCol>
                <a:gridCol w="1830441">
                  <a:extLst>
                    <a:ext uri="{9D8B030D-6E8A-4147-A177-3AD203B41FA5}">
                      <a16:colId xmlns:a16="http://schemas.microsoft.com/office/drawing/2014/main" val="907820141"/>
                    </a:ext>
                  </a:extLst>
                </a:gridCol>
                <a:gridCol w="1831232">
                  <a:extLst>
                    <a:ext uri="{9D8B030D-6E8A-4147-A177-3AD203B41FA5}">
                      <a16:colId xmlns:a16="http://schemas.microsoft.com/office/drawing/2014/main" val="3105351856"/>
                    </a:ext>
                  </a:extLst>
                </a:gridCol>
                <a:gridCol w="1831232">
                  <a:extLst>
                    <a:ext uri="{9D8B030D-6E8A-4147-A177-3AD203B41FA5}">
                      <a16:colId xmlns:a16="http://schemas.microsoft.com/office/drawing/2014/main" val="2283649467"/>
                    </a:ext>
                  </a:extLst>
                </a:gridCol>
              </a:tblGrid>
              <a:tr h="635603">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DATA TYPE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6660213"/>
                  </a:ext>
                </a:extLst>
              </a:tr>
              <a:tr h="635603">
                <a:tc>
                  <a:txBody>
                    <a:bodyPr/>
                    <a:lstStyle/>
                    <a:p>
                      <a:pPr marL="0" marR="0">
                        <a:lnSpc>
                          <a:spcPct val="150000"/>
                        </a:lnSpc>
                        <a:spcBef>
                          <a:spcPts val="0"/>
                        </a:spcBef>
                        <a:spcAft>
                          <a:spcPts val="0"/>
                        </a:spcAft>
                      </a:pPr>
                      <a:r>
                        <a:rPr lang="en-US" sz="1200">
                          <a:effectLst/>
                        </a:rPr>
                        <a:t>Admin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9219939"/>
                  </a:ext>
                </a:extLst>
              </a:tr>
              <a:tr h="635603">
                <a:tc>
                  <a:txBody>
                    <a:bodyPr/>
                    <a:lstStyle/>
                    <a:p>
                      <a:pPr marL="0" marR="0">
                        <a:lnSpc>
                          <a:spcPct val="150000"/>
                        </a:lnSpc>
                        <a:spcBef>
                          <a:spcPts val="0"/>
                        </a:spcBef>
                        <a:spcAft>
                          <a:spcPts val="0"/>
                        </a:spcAft>
                      </a:pPr>
                      <a:r>
                        <a:rPr lang="en-US" sz="1200">
                          <a:effectLst/>
                        </a:rPr>
                        <a:t>Username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87630898"/>
                  </a:ext>
                </a:extLst>
              </a:tr>
              <a:tr h="635603">
                <a:tc>
                  <a:txBody>
                    <a:bodyPr/>
                    <a:lstStyle/>
                    <a:p>
                      <a:pPr marL="0" marR="0">
                        <a:lnSpc>
                          <a:spcPct val="150000"/>
                        </a:lnSpc>
                        <a:spcBef>
                          <a:spcPts val="0"/>
                        </a:spcBef>
                        <a:spcAft>
                          <a:spcPts val="0"/>
                        </a:spcAft>
                      </a:pPr>
                      <a:r>
                        <a:rPr lang="en-US" sz="1200">
                          <a:effectLst/>
                        </a:rPr>
                        <a:t>password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8477819"/>
                  </a:ext>
                </a:extLst>
              </a:tr>
            </a:tbl>
          </a:graphicData>
        </a:graphic>
      </p:graphicFrame>
    </p:spTree>
    <p:extLst>
      <p:ext uri="{BB962C8B-B14F-4D97-AF65-F5344CB8AC3E}">
        <p14:creationId xmlns:p14="http://schemas.microsoft.com/office/powerpoint/2010/main" val="652177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BF41-05C8-41D7-8A8A-0E9BC80A0243}"/>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HOUSE</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498782B2-9C89-4C89-8C9E-D8CF705DD9DF}"/>
              </a:ext>
            </a:extLst>
          </p:cNvPr>
          <p:cNvGraphicFramePr>
            <a:graphicFrameLocks noGrp="1"/>
          </p:cNvGraphicFramePr>
          <p:nvPr>
            <p:ph idx="1"/>
            <p:extLst>
              <p:ext uri="{D42A27DB-BD31-4B8C-83A1-F6EECF244321}">
                <p14:modId xmlns:p14="http://schemas.microsoft.com/office/powerpoint/2010/main" val="1445895985"/>
              </p:ext>
            </p:extLst>
          </p:nvPr>
        </p:nvGraphicFramePr>
        <p:xfrm>
          <a:off x="2054087" y="2120902"/>
          <a:ext cx="6597832" cy="4425670"/>
        </p:xfrm>
        <a:graphic>
          <a:graphicData uri="http://schemas.openxmlformats.org/drawingml/2006/table">
            <a:tbl>
              <a:tblPr firstRow="1" firstCol="1" bandRow="1">
                <a:tableStyleId>{5C22544A-7EE6-4342-B048-85BDC9FD1C3A}</a:tableStyleId>
              </a:tblPr>
              <a:tblGrid>
                <a:gridCol w="1649102">
                  <a:extLst>
                    <a:ext uri="{9D8B030D-6E8A-4147-A177-3AD203B41FA5}">
                      <a16:colId xmlns:a16="http://schemas.microsoft.com/office/drawing/2014/main" val="1548680312"/>
                    </a:ext>
                  </a:extLst>
                </a:gridCol>
                <a:gridCol w="1649102">
                  <a:extLst>
                    <a:ext uri="{9D8B030D-6E8A-4147-A177-3AD203B41FA5}">
                      <a16:colId xmlns:a16="http://schemas.microsoft.com/office/drawing/2014/main" val="3973603812"/>
                    </a:ext>
                  </a:extLst>
                </a:gridCol>
                <a:gridCol w="1649814">
                  <a:extLst>
                    <a:ext uri="{9D8B030D-6E8A-4147-A177-3AD203B41FA5}">
                      <a16:colId xmlns:a16="http://schemas.microsoft.com/office/drawing/2014/main" val="4208255942"/>
                    </a:ext>
                  </a:extLst>
                </a:gridCol>
                <a:gridCol w="1649814">
                  <a:extLst>
                    <a:ext uri="{9D8B030D-6E8A-4147-A177-3AD203B41FA5}">
                      <a16:colId xmlns:a16="http://schemas.microsoft.com/office/drawing/2014/main" val="1778295148"/>
                    </a:ext>
                  </a:extLst>
                </a:gridCol>
              </a:tblGrid>
              <a:tr h="232930">
                <a:tc>
                  <a:txBody>
                    <a:bodyPr/>
                    <a:lstStyle/>
                    <a:p>
                      <a:pPr marL="0" marR="0">
                        <a:lnSpc>
                          <a:spcPct val="150000"/>
                        </a:lnSpc>
                        <a:spcBef>
                          <a:spcPts val="0"/>
                        </a:spcBef>
                        <a:spcAft>
                          <a:spcPts val="0"/>
                        </a:spcAft>
                      </a:pPr>
                      <a:r>
                        <a:rPr lang="en-US" sz="1000">
                          <a:effectLst/>
                        </a:rPr>
                        <a:t>FIELD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DATA TYPE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SIZE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CONSTRAINT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1569166936"/>
                  </a:ext>
                </a:extLst>
              </a:tr>
              <a:tr h="232930">
                <a:tc>
                  <a:txBody>
                    <a:bodyPr/>
                    <a:lstStyle/>
                    <a:p>
                      <a:pPr marL="0" marR="0">
                        <a:lnSpc>
                          <a:spcPct val="150000"/>
                        </a:lnSpc>
                        <a:spcBef>
                          <a:spcPts val="0"/>
                        </a:spcBef>
                        <a:spcAft>
                          <a:spcPts val="0"/>
                        </a:spcAft>
                      </a:pPr>
                      <a:r>
                        <a:rPr lang="en-US" sz="1000">
                          <a:effectLst/>
                        </a:rPr>
                        <a:t>house id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10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Primary key</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79373562"/>
                  </a:ext>
                </a:extLst>
              </a:tr>
              <a:tr h="232930">
                <a:tc>
                  <a:txBody>
                    <a:bodyPr/>
                    <a:lstStyle/>
                    <a:p>
                      <a:pPr marL="0" marR="0">
                        <a:lnSpc>
                          <a:spcPct val="150000"/>
                        </a:lnSpc>
                        <a:spcBef>
                          <a:spcPts val="0"/>
                        </a:spcBef>
                        <a:spcAft>
                          <a:spcPts val="0"/>
                        </a:spcAft>
                      </a:pPr>
                      <a:r>
                        <a:rPr lang="en-US" sz="1000">
                          <a:effectLst/>
                        </a:rPr>
                        <a:t>House name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54017367"/>
                  </a:ext>
                </a:extLst>
              </a:tr>
              <a:tr h="232930">
                <a:tc>
                  <a:txBody>
                    <a:bodyPr/>
                    <a:lstStyle/>
                    <a:p>
                      <a:pPr marL="0" marR="0">
                        <a:lnSpc>
                          <a:spcPct val="150000"/>
                        </a:lnSpc>
                        <a:spcBef>
                          <a:spcPts val="0"/>
                        </a:spcBef>
                        <a:spcAft>
                          <a:spcPts val="0"/>
                        </a:spcAft>
                      </a:pPr>
                      <a:r>
                        <a:rPr lang="en-US" sz="1000">
                          <a:effectLst/>
                        </a:rPr>
                        <a:t>Owner name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327728645"/>
                  </a:ext>
                </a:extLst>
              </a:tr>
              <a:tr h="232930">
                <a:tc>
                  <a:txBody>
                    <a:bodyPr/>
                    <a:lstStyle/>
                    <a:p>
                      <a:pPr marL="0" marR="0">
                        <a:lnSpc>
                          <a:spcPct val="150000"/>
                        </a:lnSpc>
                        <a:spcBef>
                          <a:spcPts val="0"/>
                        </a:spcBef>
                        <a:spcAft>
                          <a:spcPts val="0"/>
                        </a:spcAft>
                      </a:pPr>
                      <a:r>
                        <a:rPr lang="en-US" sz="1000">
                          <a:effectLst/>
                        </a:rPr>
                        <a:t>Contact number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10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1026281505"/>
                  </a:ext>
                </a:extLst>
              </a:tr>
              <a:tr h="232930">
                <a:tc>
                  <a:txBody>
                    <a:bodyPr/>
                    <a:lstStyle/>
                    <a:p>
                      <a:pPr marL="0" marR="0">
                        <a:lnSpc>
                          <a:spcPct val="150000"/>
                        </a:lnSpc>
                        <a:spcBef>
                          <a:spcPts val="0"/>
                        </a:spcBef>
                        <a:spcAft>
                          <a:spcPts val="0"/>
                        </a:spcAft>
                      </a:pPr>
                      <a:r>
                        <a:rPr lang="en-US" sz="1000">
                          <a:effectLst/>
                        </a:rPr>
                        <a:t>Address 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30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3548412454"/>
                  </a:ext>
                </a:extLst>
              </a:tr>
              <a:tr h="232930">
                <a:tc>
                  <a:txBody>
                    <a:bodyPr/>
                    <a:lstStyle/>
                    <a:p>
                      <a:pPr marL="0" marR="0">
                        <a:lnSpc>
                          <a:spcPct val="150000"/>
                        </a:lnSpc>
                        <a:spcBef>
                          <a:spcPts val="0"/>
                        </a:spcBef>
                        <a:spcAft>
                          <a:spcPts val="0"/>
                        </a:spcAft>
                      </a:pPr>
                      <a:r>
                        <a:rPr lang="en-US" sz="1000">
                          <a:effectLst/>
                        </a:rPr>
                        <a:t>Address 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30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1217039089"/>
                  </a:ext>
                </a:extLst>
              </a:tr>
              <a:tr h="232930">
                <a:tc>
                  <a:txBody>
                    <a:bodyPr/>
                    <a:lstStyle/>
                    <a:p>
                      <a:pPr marL="0" marR="0">
                        <a:lnSpc>
                          <a:spcPct val="150000"/>
                        </a:lnSpc>
                        <a:spcBef>
                          <a:spcPts val="0"/>
                        </a:spcBef>
                        <a:spcAft>
                          <a:spcPts val="0"/>
                        </a:spcAft>
                      </a:pPr>
                      <a:r>
                        <a:rPr lang="en-US" sz="1000">
                          <a:effectLst/>
                        </a:rPr>
                        <a:t>Area name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30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783113389"/>
                  </a:ext>
                </a:extLst>
              </a:tr>
              <a:tr h="232930">
                <a:tc>
                  <a:txBody>
                    <a:bodyPr/>
                    <a:lstStyle/>
                    <a:p>
                      <a:pPr marL="0" marR="0">
                        <a:lnSpc>
                          <a:spcPct val="150000"/>
                        </a:lnSpc>
                        <a:spcBef>
                          <a:spcPts val="0"/>
                        </a:spcBef>
                        <a:spcAft>
                          <a:spcPts val="0"/>
                        </a:spcAft>
                      </a:pPr>
                      <a:r>
                        <a:rPr lang="en-US" sz="1000">
                          <a:effectLst/>
                        </a:rPr>
                        <a:t>City name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1080887378"/>
                  </a:ext>
                </a:extLst>
              </a:tr>
              <a:tr h="232930">
                <a:tc>
                  <a:txBody>
                    <a:bodyPr/>
                    <a:lstStyle/>
                    <a:p>
                      <a:pPr marL="0" marR="0">
                        <a:lnSpc>
                          <a:spcPct val="150000"/>
                        </a:lnSpc>
                        <a:spcBef>
                          <a:spcPts val="0"/>
                        </a:spcBef>
                        <a:spcAft>
                          <a:spcPts val="0"/>
                        </a:spcAft>
                      </a:pPr>
                      <a:r>
                        <a:rPr lang="en-US" sz="1000">
                          <a:effectLst/>
                        </a:rPr>
                        <a:t>District name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30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194867154"/>
                  </a:ext>
                </a:extLst>
              </a:tr>
              <a:tr h="232930">
                <a:tc>
                  <a:txBody>
                    <a:bodyPr/>
                    <a:lstStyle/>
                    <a:p>
                      <a:pPr marL="0" marR="0">
                        <a:lnSpc>
                          <a:spcPct val="150000"/>
                        </a:lnSpc>
                        <a:spcBef>
                          <a:spcPts val="0"/>
                        </a:spcBef>
                        <a:spcAft>
                          <a:spcPts val="0"/>
                        </a:spcAft>
                      </a:pPr>
                      <a:r>
                        <a:rPr lang="en-US" sz="1000">
                          <a:effectLst/>
                        </a:rPr>
                        <a:t>State name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10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3822265505"/>
                  </a:ext>
                </a:extLst>
              </a:tr>
              <a:tr h="232930">
                <a:tc>
                  <a:txBody>
                    <a:bodyPr/>
                    <a:lstStyle/>
                    <a:p>
                      <a:pPr marL="0" marR="0">
                        <a:lnSpc>
                          <a:spcPct val="150000"/>
                        </a:lnSpc>
                        <a:spcBef>
                          <a:spcPts val="0"/>
                        </a:spcBef>
                        <a:spcAft>
                          <a:spcPts val="0"/>
                        </a:spcAft>
                      </a:pPr>
                      <a:r>
                        <a:rPr lang="en-US" sz="1000">
                          <a:effectLst/>
                        </a:rPr>
                        <a:t>Land mark</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941791057"/>
                  </a:ext>
                </a:extLst>
              </a:tr>
              <a:tr h="232930">
                <a:tc>
                  <a:txBody>
                    <a:bodyPr/>
                    <a:lstStyle/>
                    <a:p>
                      <a:pPr marL="0" marR="0">
                        <a:lnSpc>
                          <a:spcPct val="150000"/>
                        </a:lnSpc>
                        <a:spcBef>
                          <a:spcPts val="0"/>
                        </a:spcBef>
                        <a:spcAft>
                          <a:spcPts val="0"/>
                        </a:spcAft>
                      </a:pPr>
                      <a:r>
                        <a:rPr lang="en-US" sz="1000">
                          <a:effectLst/>
                        </a:rPr>
                        <a:t>Pin code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6</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195705843"/>
                  </a:ext>
                </a:extLst>
              </a:tr>
              <a:tr h="232930">
                <a:tc>
                  <a:txBody>
                    <a:bodyPr/>
                    <a:lstStyle/>
                    <a:p>
                      <a:pPr marL="0" marR="0">
                        <a:lnSpc>
                          <a:spcPct val="150000"/>
                        </a:lnSpc>
                        <a:spcBef>
                          <a:spcPts val="0"/>
                        </a:spcBef>
                        <a:spcAft>
                          <a:spcPts val="0"/>
                        </a:spcAft>
                      </a:pPr>
                      <a:r>
                        <a:rPr lang="en-US" sz="1000">
                          <a:effectLst/>
                        </a:rPr>
                        <a:t>Total square fit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097681087"/>
                  </a:ext>
                </a:extLst>
              </a:tr>
              <a:tr h="232930">
                <a:tc>
                  <a:txBody>
                    <a:bodyPr/>
                    <a:lstStyle/>
                    <a:p>
                      <a:pPr marL="0" marR="0">
                        <a:lnSpc>
                          <a:spcPct val="150000"/>
                        </a:lnSpc>
                        <a:spcBef>
                          <a:spcPts val="0"/>
                        </a:spcBef>
                        <a:spcAft>
                          <a:spcPts val="0"/>
                        </a:spcAft>
                      </a:pPr>
                      <a:r>
                        <a:rPr lang="en-US" sz="1000">
                          <a:effectLst/>
                        </a:rPr>
                        <a:t>Bed room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3741471161"/>
                  </a:ext>
                </a:extLst>
              </a:tr>
              <a:tr h="232930">
                <a:tc>
                  <a:txBody>
                    <a:bodyPr/>
                    <a:lstStyle/>
                    <a:p>
                      <a:pPr marL="0" marR="0">
                        <a:lnSpc>
                          <a:spcPct val="150000"/>
                        </a:lnSpc>
                        <a:spcBef>
                          <a:spcPts val="0"/>
                        </a:spcBef>
                        <a:spcAft>
                          <a:spcPts val="0"/>
                        </a:spcAft>
                      </a:pPr>
                      <a:r>
                        <a:rPr lang="en-US" sz="1000">
                          <a:effectLst/>
                        </a:rPr>
                        <a:t>Hall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799413910"/>
                  </a:ext>
                </a:extLst>
              </a:tr>
              <a:tr h="232930">
                <a:tc>
                  <a:txBody>
                    <a:bodyPr/>
                    <a:lstStyle/>
                    <a:p>
                      <a:pPr marL="0" marR="0">
                        <a:lnSpc>
                          <a:spcPct val="150000"/>
                        </a:lnSpc>
                        <a:spcBef>
                          <a:spcPts val="0"/>
                        </a:spcBef>
                        <a:spcAft>
                          <a:spcPts val="0"/>
                        </a:spcAft>
                      </a:pPr>
                      <a:r>
                        <a:rPr lang="en-US" sz="1000">
                          <a:effectLst/>
                        </a:rPr>
                        <a:t>Kitchen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3217378338"/>
                  </a:ext>
                </a:extLst>
              </a:tr>
              <a:tr h="232930">
                <a:tc>
                  <a:txBody>
                    <a:bodyPr/>
                    <a:lstStyle/>
                    <a:p>
                      <a:pPr marL="0" marR="0">
                        <a:lnSpc>
                          <a:spcPct val="150000"/>
                        </a:lnSpc>
                        <a:spcBef>
                          <a:spcPts val="0"/>
                        </a:spcBef>
                        <a:spcAft>
                          <a:spcPts val="0"/>
                        </a:spcAft>
                      </a:pPr>
                      <a:r>
                        <a:rPr lang="en-US" sz="1000">
                          <a:effectLst/>
                        </a:rPr>
                        <a:t>Others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Varchar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Not null</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2427751630"/>
                  </a:ext>
                </a:extLst>
              </a:tr>
              <a:tr h="232930">
                <a:tc>
                  <a:txBody>
                    <a:bodyPr/>
                    <a:lstStyle/>
                    <a:p>
                      <a:pPr marL="0" marR="0">
                        <a:lnSpc>
                          <a:spcPct val="150000"/>
                        </a:lnSpc>
                        <a:spcBef>
                          <a:spcPts val="0"/>
                        </a:spcBef>
                        <a:spcAft>
                          <a:spcPts val="0"/>
                        </a:spcAft>
                      </a:pPr>
                      <a:r>
                        <a:rPr lang="en-US" sz="1000">
                          <a:effectLst/>
                        </a:rPr>
                        <a:t>Price details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Int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tc>
                  <a:txBody>
                    <a:bodyPr/>
                    <a:lstStyle/>
                    <a:p>
                      <a:pPr marL="0" marR="0">
                        <a:lnSpc>
                          <a:spcPct val="150000"/>
                        </a:lnSpc>
                        <a:spcBef>
                          <a:spcPts val="0"/>
                        </a:spcBef>
                        <a:spcAft>
                          <a:spcPts val="0"/>
                        </a:spcAft>
                      </a:pPr>
                      <a:r>
                        <a:rPr lang="en-US" sz="1000" dirty="0">
                          <a:effectLst/>
                        </a:rPr>
                        <a:t>Not null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59675" marR="59675" marT="0" marB="0"/>
                </a:tc>
                <a:extLst>
                  <a:ext uri="{0D108BD9-81ED-4DB2-BD59-A6C34878D82A}">
                    <a16:rowId xmlns:a16="http://schemas.microsoft.com/office/drawing/2014/main" val="77374002"/>
                  </a:ext>
                </a:extLst>
              </a:tr>
            </a:tbl>
          </a:graphicData>
        </a:graphic>
      </p:graphicFrame>
    </p:spTree>
    <p:extLst>
      <p:ext uri="{BB962C8B-B14F-4D97-AF65-F5344CB8AC3E}">
        <p14:creationId xmlns:p14="http://schemas.microsoft.com/office/powerpoint/2010/main" val="80062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175E-2C8C-452D-BAA6-93BE0E17001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IMAGES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82D3D322-A0CB-429F-87BC-7E76140CA673}"/>
              </a:ext>
            </a:extLst>
          </p:cNvPr>
          <p:cNvGraphicFramePr>
            <a:graphicFrameLocks noGrp="1"/>
          </p:cNvGraphicFramePr>
          <p:nvPr>
            <p:ph idx="1"/>
            <p:extLst>
              <p:ext uri="{D42A27DB-BD31-4B8C-83A1-F6EECF244321}">
                <p14:modId xmlns:p14="http://schemas.microsoft.com/office/powerpoint/2010/main" val="3446942198"/>
              </p:ext>
            </p:extLst>
          </p:nvPr>
        </p:nvGraphicFramePr>
        <p:xfrm>
          <a:off x="1669774" y="1881810"/>
          <a:ext cx="7363100" cy="2877040"/>
        </p:xfrm>
        <a:graphic>
          <a:graphicData uri="http://schemas.openxmlformats.org/drawingml/2006/table">
            <a:tbl>
              <a:tblPr firstRow="1" firstCol="1" bandRow="1">
                <a:tableStyleId>{5C22544A-7EE6-4342-B048-85BDC9FD1C3A}</a:tableStyleId>
              </a:tblPr>
              <a:tblGrid>
                <a:gridCol w="1840377">
                  <a:extLst>
                    <a:ext uri="{9D8B030D-6E8A-4147-A177-3AD203B41FA5}">
                      <a16:colId xmlns:a16="http://schemas.microsoft.com/office/drawing/2014/main" val="1509314316"/>
                    </a:ext>
                  </a:extLst>
                </a:gridCol>
                <a:gridCol w="1840377">
                  <a:extLst>
                    <a:ext uri="{9D8B030D-6E8A-4147-A177-3AD203B41FA5}">
                      <a16:colId xmlns:a16="http://schemas.microsoft.com/office/drawing/2014/main" val="223567442"/>
                    </a:ext>
                  </a:extLst>
                </a:gridCol>
                <a:gridCol w="1841173">
                  <a:extLst>
                    <a:ext uri="{9D8B030D-6E8A-4147-A177-3AD203B41FA5}">
                      <a16:colId xmlns:a16="http://schemas.microsoft.com/office/drawing/2014/main" val="774711396"/>
                    </a:ext>
                  </a:extLst>
                </a:gridCol>
                <a:gridCol w="1841173">
                  <a:extLst>
                    <a:ext uri="{9D8B030D-6E8A-4147-A177-3AD203B41FA5}">
                      <a16:colId xmlns:a16="http://schemas.microsoft.com/office/drawing/2014/main" val="3647666858"/>
                    </a:ext>
                  </a:extLst>
                </a:gridCol>
              </a:tblGrid>
              <a:tr h="575408">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065005"/>
                  </a:ext>
                </a:extLst>
              </a:tr>
              <a:tr h="575408">
                <a:tc>
                  <a:txBody>
                    <a:bodyPr/>
                    <a:lstStyle/>
                    <a:p>
                      <a:pPr marL="0" marR="0">
                        <a:lnSpc>
                          <a:spcPct val="150000"/>
                        </a:lnSpc>
                        <a:spcBef>
                          <a:spcPts val="0"/>
                        </a:spcBef>
                        <a:spcAft>
                          <a:spcPts val="0"/>
                        </a:spcAft>
                      </a:pPr>
                      <a:r>
                        <a:rPr lang="en-US" sz="1200">
                          <a:effectLst/>
                        </a:rPr>
                        <a:t>Image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8027816"/>
                  </a:ext>
                </a:extLst>
              </a:tr>
              <a:tr h="575408">
                <a:tc>
                  <a:txBody>
                    <a:bodyPr/>
                    <a:lstStyle/>
                    <a:p>
                      <a:pPr marL="0" marR="0">
                        <a:lnSpc>
                          <a:spcPct val="150000"/>
                        </a:lnSpc>
                        <a:spcBef>
                          <a:spcPts val="0"/>
                        </a:spcBef>
                        <a:spcAft>
                          <a:spcPts val="0"/>
                        </a:spcAft>
                      </a:pPr>
                      <a:r>
                        <a:rPr lang="en-US" sz="1200">
                          <a:effectLst/>
                        </a:rPr>
                        <a:t>House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Foreign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6373992"/>
                  </a:ext>
                </a:extLst>
              </a:tr>
              <a:tr h="575408">
                <a:tc>
                  <a:txBody>
                    <a:bodyPr/>
                    <a:lstStyle/>
                    <a:p>
                      <a:pPr marL="0" marR="0">
                        <a:lnSpc>
                          <a:spcPct val="150000"/>
                        </a:lnSpc>
                        <a:spcBef>
                          <a:spcPts val="0"/>
                        </a:spcBef>
                        <a:spcAft>
                          <a:spcPts val="0"/>
                        </a:spcAft>
                      </a:pPr>
                      <a:r>
                        <a:rPr lang="en-US" sz="1200">
                          <a:effectLst/>
                        </a:rPr>
                        <a:t>Image path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3844074"/>
                  </a:ext>
                </a:extLst>
              </a:tr>
              <a:tr h="575408">
                <a:tc>
                  <a:txBody>
                    <a:bodyPr/>
                    <a:lstStyle/>
                    <a:p>
                      <a:pPr marL="0" marR="0">
                        <a:lnSpc>
                          <a:spcPct val="150000"/>
                        </a:lnSpc>
                        <a:spcBef>
                          <a:spcPts val="0"/>
                        </a:spcBef>
                        <a:spcAft>
                          <a:spcPts val="0"/>
                        </a:spcAft>
                      </a:pPr>
                      <a:r>
                        <a:rPr lang="en-US" sz="1200">
                          <a:effectLst/>
                        </a:rPr>
                        <a:t>Image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5593149"/>
                  </a:ext>
                </a:extLst>
              </a:tr>
            </a:tbl>
          </a:graphicData>
        </a:graphic>
      </p:graphicFrame>
    </p:spTree>
    <p:extLst>
      <p:ext uri="{BB962C8B-B14F-4D97-AF65-F5344CB8AC3E}">
        <p14:creationId xmlns:p14="http://schemas.microsoft.com/office/powerpoint/2010/main" val="267948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A5C0A-8395-4453-8097-A9671A12DB7D}"/>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CUSTOMER</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D6185FAC-A8B6-4968-833F-2F71D0CF3B7E}"/>
              </a:ext>
            </a:extLst>
          </p:cNvPr>
          <p:cNvGraphicFramePr>
            <a:graphicFrameLocks noGrp="1"/>
          </p:cNvGraphicFramePr>
          <p:nvPr>
            <p:ph idx="1"/>
            <p:extLst>
              <p:ext uri="{D42A27DB-BD31-4B8C-83A1-F6EECF244321}">
                <p14:modId xmlns:p14="http://schemas.microsoft.com/office/powerpoint/2010/main" val="4203820321"/>
              </p:ext>
            </p:extLst>
          </p:nvPr>
        </p:nvGraphicFramePr>
        <p:xfrm>
          <a:off x="2040835" y="2332383"/>
          <a:ext cx="6992040" cy="2671382"/>
        </p:xfrm>
        <a:graphic>
          <a:graphicData uri="http://schemas.openxmlformats.org/drawingml/2006/table">
            <a:tbl>
              <a:tblPr firstRow="1" firstCol="1" bandRow="1">
                <a:tableStyleId>{5C22544A-7EE6-4342-B048-85BDC9FD1C3A}</a:tableStyleId>
              </a:tblPr>
              <a:tblGrid>
                <a:gridCol w="1747632">
                  <a:extLst>
                    <a:ext uri="{9D8B030D-6E8A-4147-A177-3AD203B41FA5}">
                      <a16:colId xmlns:a16="http://schemas.microsoft.com/office/drawing/2014/main" val="1673681472"/>
                    </a:ext>
                  </a:extLst>
                </a:gridCol>
                <a:gridCol w="1747632">
                  <a:extLst>
                    <a:ext uri="{9D8B030D-6E8A-4147-A177-3AD203B41FA5}">
                      <a16:colId xmlns:a16="http://schemas.microsoft.com/office/drawing/2014/main" val="353346359"/>
                    </a:ext>
                  </a:extLst>
                </a:gridCol>
                <a:gridCol w="1748388">
                  <a:extLst>
                    <a:ext uri="{9D8B030D-6E8A-4147-A177-3AD203B41FA5}">
                      <a16:colId xmlns:a16="http://schemas.microsoft.com/office/drawing/2014/main" val="2837635526"/>
                    </a:ext>
                  </a:extLst>
                </a:gridCol>
                <a:gridCol w="1748388">
                  <a:extLst>
                    <a:ext uri="{9D8B030D-6E8A-4147-A177-3AD203B41FA5}">
                      <a16:colId xmlns:a16="http://schemas.microsoft.com/office/drawing/2014/main" val="3232162600"/>
                    </a:ext>
                  </a:extLst>
                </a:gridCol>
              </a:tblGrid>
              <a:tr h="381626">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6296565"/>
                  </a:ext>
                </a:extLst>
              </a:tr>
              <a:tr h="381626">
                <a:tc>
                  <a:txBody>
                    <a:bodyPr/>
                    <a:lstStyle/>
                    <a:p>
                      <a:pPr marL="0" marR="0">
                        <a:lnSpc>
                          <a:spcPct val="150000"/>
                        </a:lnSpc>
                        <a:spcBef>
                          <a:spcPts val="0"/>
                        </a:spcBef>
                        <a:spcAft>
                          <a:spcPts val="0"/>
                        </a:spcAft>
                      </a:pPr>
                      <a:r>
                        <a:rPr lang="en-US" sz="1200">
                          <a:effectLst/>
                        </a:rPr>
                        <a:t>Customer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89662487"/>
                  </a:ext>
                </a:extLst>
              </a:tr>
              <a:tr h="381626">
                <a:tc>
                  <a:txBody>
                    <a:bodyPr/>
                    <a:lstStyle/>
                    <a:p>
                      <a:pPr marL="0" marR="0">
                        <a:lnSpc>
                          <a:spcPct val="150000"/>
                        </a:lnSpc>
                        <a:spcBef>
                          <a:spcPts val="0"/>
                        </a:spcBef>
                        <a:spcAft>
                          <a:spcPts val="0"/>
                        </a:spcAft>
                      </a:pPr>
                      <a:r>
                        <a:rPr lang="en-US" sz="1200">
                          <a:effectLst/>
                        </a:rPr>
                        <a:t>Customer 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53525281"/>
                  </a:ext>
                </a:extLst>
              </a:tr>
              <a:tr h="381626">
                <a:tc>
                  <a:txBody>
                    <a:bodyPr/>
                    <a:lstStyle/>
                    <a:p>
                      <a:pPr marL="0" marR="0">
                        <a:lnSpc>
                          <a:spcPct val="150000"/>
                        </a:lnSpc>
                        <a:spcBef>
                          <a:spcPts val="0"/>
                        </a:spcBef>
                        <a:spcAft>
                          <a:spcPts val="0"/>
                        </a:spcAft>
                      </a:pPr>
                      <a:r>
                        <a:rPr lang="en-US" sz="1200">
                          <a:effectLst/>
                        </a:rPr>
                        <a:t>Mobile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543860"/>
                  </a:ext>
                </a:extLst>
              </a:tr>
              <a:tr h="381626">
                <a:tc>
                  <a:txBody>
                    <a:bodyPr/>
                    <a:lstStyle/>
                    <a:p>
                      <a:pPr marL="0" marR="0">
                        <a:lnSpc>
                          <a:spcPct val="150000"/>
                        </a:lnSpc>
                        <a:spcBef>
                          <a:spcPts val="0"/>
                        </a:spcBef>
                        <a:spcAft>
                          <a:spcPts val="0"/>
                        </a:spcAft>
                      </a:pPr>
                      <a:r>
                        <a:rPr lang="en-US" sz="1200">
                          <a:effectLst/>
                        </a:rPr>
                        <a:t>Email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4176607"/>
                  </a:ext>
                </a:extLst>
              </a:tr>
              <a:tr h="381626">
                <a:tc>
                  <a:txBody>
                    <a:bodyPr/>
                    <a:lstStyle/>
                    <a:p>
                      <a:pPr marL="0" marR="0">
                        <a:lnSpc>
                          <a:spcPct val="150000"/>
                        </a:lnSpc>
                        <a:spcBef>
                          <a:spcPts val="0"/>
                        </a:spcBef>
                        <a:spcAft>
                          <a:spcPts val="0"/>
                        </a:spcAft>
                      </a:pPr>
                      <a:r>
                        <a:rPr lang="en-US" sz="1200">
                          <a:effectLst/>
                        </a:rPr>
                        <a:t>Username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Not null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1058428"/>
                  </a:ext>
                </a:extLst>
              </a:tr>
              <a:tr h="381626">
                <a:tc>
                  <a:txBody>
                    <a:bodyPr/>
                    <a:lstStyle/>
                    <a:p>
                      <a:pPr marL="0" marR="0">
                        <a:lnSpc>
                          <a:spcPct val="150000"/>
                        </a:lnSpc>
                        <a:spcBef>
                          <a:spcPts val="0"/>
                        </a:spcBef>
                        <a:spcAft>
                          <a:spcPts val="0"/>
                        </a:spcAft>
                      </a:pPr>
                      <a:r>
                        <a:rPr lang="en-US" sz="1200">
                          <a:effectLst/>
                        </a:rPr>
                        <a:t>Password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7535261"/>
                  </a:ext>
                </a:extLst>
              </a:tr>
            </a:tbl>
          </a:graphicData>
        </a:graphic>
      </p:graphicFrame>
    </p:spTree>
    <p:extLst>
      <p:ext uri="{BB962C8B-B14F-4D97-AF65-F5344CB8AC3E}">
        <p14:creationId xmlns:p14="http://schemas.microsoft.com/office/powerpoint/2010/main" val="4224795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1475-1207-47DB-9E66-019001ABEC54}"/>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TABLE NAME: BOOKING</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D1B83DDE-6EC4-4A40-BE7B-7684992E1D23}"/>
              </a:ext>
            </a:extLst>
          </p:cNvPr>
          <p:cNvGraphicFramePr>
            <a:graphicFrameLocks noGrp="1"/>
          </p:cNvGraphicFramePr>
          <p:nvPr>
            <p:ph idx="1"/>
            <p:extLst>
              <p:ext uri="{D42A27DB-BD31-4B8C-83A1-F6EECF244321}">
                <p14:modId xmlns:p14="http://schemas.microsoft.com/office/powerpoint/2010/main" val="3711344735"/>
              </p:ext>
            </p:extLst>
          </p:nvPr>
        </p:nvGraphicFramePr>
        <p:xfrm>
          <a:off x="2001078" y="2398644"/>
          <a:ext cx="7031796" cy="2360205"/>
        </p:xfrm>
        <a:graphic>
          <a:graphicData uri="http://schemas.openxmlformats.org/drawingml/2006/table">
            <a:tbl>
              <a:tblPr firstRow="1" firstCol="1" bandRow="1">
                <a:tableStyleId>{5C22544A-7EE6-4342-B048-85BDC9FD1C3A}</a:tableStyleId>
              </a:tblPr>
              <a:tblGrid>
                <a:gridCol w="1757569">
                  <a:extLst>
                    <a:ext uri="{9D8B030D-6E8A-4147-A177-3AD203B41FA5}">
                      <a16:colId xmlns:a16="http://schemas.microsoft.com/office/drawing/2014/main" val="2010473909"/>
                    </a:ext>
                  </a:extLst>
                </a:gridCol>
                <a:gridCol w="1757569">
                  <a:extLst>
                    <a:ext uri="{9D8B030D-6E8A-4147-A177-3AD203B41FA5}">
                      <a16:colId xmlns:a16="http://schemas.microsoft.com/office/drawing/2014/main" val="3706322469"/>
                    </a:ext>
                  </a:extLst>
                </a:gridCol>
                <a:gridCol w="1758329">
                  <a:extLst>
                    <a:ext uri="{9D8B030D-6E8A-4147-A177-3AD203B41FA5}">
                      <a16:colId xmlns:a16="http://schemas.microsoft.com/office/drawing/2014/main" val="3527381396"/>
                    </a:ext>
                  </a:extLst>
                </a:gridCol>
                <a:gridCol w="1758329">
                  <a:extLst>
                    <a:ext uri="{9D8B030D-6E8A-4147-A177-3AD203B41FA5}">
                      <a16:colId xmlns:a16="http://schemas.microsoft.com/office/drawing/2014/main" val="2905556320"/>
                    </a:ext>
                  </a:extLst>
                </a:gridCol>
              </a:tblGrid>
              <a:tr h="472041">
                <a:tc>
                  <a:txBody>
                    <a:bodyPr/>
                    <a:lstStyle/>
                    <a:p>
                      <a:pPr marL="0" marR="0">
                        <a:lnSpc>
                          <a:spcPct val="150000"/>
                        </a:lnSpc>
                        <a:spcBef>
                          <a:spcPts val="0"/>
                        </a:spcBef>
                        <a:spcAft>
                          <a:spcPts val="0"/>
                        </a:spcAft>
                      </a:pPr>
                      <a:r>
                        <a:rPr lang="en-US" sz="1200">
                          <a:effectLst/>
                        </a:rPr>
                        <a:t>FIELD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DATA TYPE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SIZE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CONSTRAINT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9862909"/>
                  </a:ext>
                </a:extLst>
              </a:tr>
              <a:tr h="472041">
                <a:tc>
                  <a:txBody>
                    <a:bodyPr/>
                    <a:lstStyle/>
                    <a:p>
                      <a:pPr marL="0" marR="0">
                        <a:lnSpc>
                          <a:spcPct val="150000"/>
                        </a:lnSpc>
                        <a:spcBef>
                          <a:spcPts val="0"/>
                        </a:spcBef>
                        <a:spcAft>
                          <a:spcPts val="0"/>
                        </a:spcAft>
                      </a:pPr>
                      <a:r>
                        <a:rPr lang="en-US" sz="1200">
                          <a:effectLst/>
                        </a:rPr>
                        <a:t>Booking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Primary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2552951"/>
                  </a:ext>
                </a:extLst>
              </a:tr>
              <a:tr h="472041">
                <a:tc>
                  <a:txBody>
                    <a:bodyPr/>
                    <a:lstStyle/>
                    <a:p>
                      <a:pPr marL="0" marR="0">
                        <a:lnSpc>
                          <a:spcPct val="150000"/>
                        </a:lnSpc>
                        <a:spcBef>
                          <a:spcPts val="0"/>
                        </a:spcBef>
                        <a:spcAft>
                          <a:spcPts val="0"/>
                        </a:spcAft>
                      </a:pPr>
                      <a:r>
                        <a:rPr lang="en-US" sz="1200">
                          <a:effectLst/>
                        </a:rPr>
                        <a:t>Customer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Foreign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8618095"/>
                  </a:ext>
                </a:extLst>
              </a:tr>
              <a:tr h="472041">
                <a:tc>
                  <a:txBody>
                    <a:bodyPr/>
                    <a:lstStyle/>
                    <a:p>
                      <a:pPr marL="0" marR="0">
                        <a:lnSpc>
                          <a:spcPct val="150000"/>
                        </a:lnSpc>
                        <a:spcBef>
                          <a:spcPts val="0"/>
                        </a:spcBef>
                        <a:spcAft>
                          <a:spcPts val="0"/>
                        </a:spcAft>
                      </a:pPr>
                      <a:r>
                        <a:rPr lang="en-US" sz="1200">
                          <a:effectLst/>
                        </a:rPr>
                        <a:t>House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Foreign key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961546"/>
                  </a:ext>
                </a:extLst>
              </a:tr>
              <a:tr h="472041">
                <a:tc>
                  <a:txBody>
                    <a:bodyPr/>
                    <a:lstStyle/>
                    <a:p>
                      <a:pPr marL="0" marR="0">
                        <a:lnSpc>
                          <a:spcPct val="150000"/>
                        </a:lnSpc>
                        <a:spcBef>
                          <a:spcPts val="0"/>
                        </a:spcBef>
                        <a:spcAft>
                          <a:spcPts val="0"/>
                        </a:spcAft>
                      </a:pPr>
                      <a:r>
                        <a:rPr lang="en-US" sz="1200">
                          <a:effectLst/>
                        </a:rPr>
                        <a:t>Booking status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Varchar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rPr>
                        <a:t>Not null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6376768"/>
                  </a:ext>
                </a:extLst>
              </a:tr>
            </a:tbl>
          </a:graphicData>
        </a:graphic>
      </p:graphicFrame>
    </p:spTree>
    <p:extLst>
      <p:ext uri="{BB962C8B-B14F-4D97-AF65-F5344CB8AC3E}">
        <p14:creationId xmlns:p14="http://schemas.microsoft.com/office/powerpoint/2010/main" val="916829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7AB84-6990-4EEF-B824-2FDFC9193FF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05D15CB-0B79-4FB2-A4DE-C574CE64C6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3553" y="1099930"/>
            <a:ext cx="6302624" cy="5072270"/>
          </a:xfrm>
        </p:spPr>
      </p:pic>
    </p:spTree>
    <p:extLst>
      <p:ext uri="{BB962C8B-B14F-4D97-AF65-F5344CB8AC3E}">
        <p14:creationId xmlns:p14="http://schemas.microsoft.com/office/powerpoint/2010/main" val="30811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C3B29-197D-42D2-BEE6-B5C92501B2E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9599401-81C3-48FF-9FA7-91EB42B2A9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953" y="1139687"/>
            <a:ext cx="6253224" cy="5032513"/>
          </a:xfrm>
        </p:spPr>
      </p:pic>
    </p:spTree>
    <p:extLst>
      <p:ext uri="{BB962C8B-B14F-4D97-AF65-F5344CB8AC3E}">
        <p14:creationId xmlns:p14="http://schemas.microsoft.com/office/powerpoint/2010/main" val="1716613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FB238-F2BD-445E-BDE5-1FE68FBCC9C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452A370-902F-4B1D-87DC-EDF28AB00C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4153" y="1060174"/>
            <a:ext cx="6352024" cy="5112026"/>
          </a:xfrm>
        </p:spPr>
      </p:pic>
    </p:spTree>
    <p:extLst>
      <p:ext uri="{BB962C8B-B14F-4D97-AF65-F5344CB8AC3E}">
        <p14:creationId xmlns:p14="http://schemas.microsoft.com/office/powerpoint/2010/main" val="965052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5A7C3-6EE7-4E69-BD49-F5072182412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75BAC74-DCB0-4FCD-94C4-4F7264A898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6353" y="1577009"/>
            <a:ext cx="5709823" cy="4595191"/>
          </a:xfrm>
        </p:spPr>
      </p:pic>
    </p:spTree>
    <p:extLst>
      <p:ext uri="{BB962C8B-B14F-4D97-AF65-F5344CB8AC3E}">
        <p14:creationId xmlns:p14="http://schemas.microsoft.com/office/powerpoint/2010/main" val="3579914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75388-D799-4C06-A5CB-57AB84310E89}"/>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09B3C59B-2851-4B80-9ABC-CF81F6C643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0087" y="887896"/>
            <a:ext cx="6566090" cy="5284304"/>
          </a:xfrm>
        </p:spPr>
      </p:pic>
    </p:spTree>
    <p:extLst>
      <p:ext uri="{BB962C8B-B14F-4D97-AF65-F5344CB8AC3E}">
        <p14:creationId xmlns:p14="http://schemas.microsoft.com/office/powerpoint/2010/main" val="2668190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29</TotalTime>
  <Words>871</Words>
  <Application>Microsoft Office PowerPoint</Application>
  <PresentationFormat>Widescreen</PresentationFormat>
  <Paragraphs>205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Rockwell</vt:lpstr>
      <vt:lpstr>Rockwell Condensed</vt:lpstr>
      <vt:lpstr>Symbol</vt:lpstr>
      <vt:lpstr>Times New Roman</vt:lpstr>
      <vt:lpstr>Wingdings</vt:lpstr>
      <vt:lpstr>Wood Type</vt:lpstr>
      <vt:lpstr>ONLINE RENTAL HOUSE</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TABLE NAME: ADMIN </vt:lpstr>
      <vt:lpstr>TABLE NAME: HOUSE </vt:lpstr>
      <vt:lpstr>TABLE NAME: IMAGES </vt:lpstr>
      <vt:lpstr>TABLE NAME: CUSTOMER </vt:lpstr>
      <vt:lpstr>TABLE NAME: BOOKING </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9</cp:revision>
  <dcterms:created xsi:type="dcterms:W3CDTF">2021-01-26T14:06:30Z</dcterms:created>
  <dcterms:modified xsi:type="dcterms:W3CDTF">2021-02-19T06:00:08Z</dcterms:modified>
</cp:coreProperties>
</file>