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 id="268" r:id="rId14"/>
    <p:sldId id="281" r:id="rId15"/>
    <p:sldId id="269" r:id="rId16"/>
    <p:sldId id="271" r:id="rId17"/>
    <p:sldId id="272" r:id="rId18"/>
    <p:sldId id="274" r:id="rId19"/>
    <p:sldId id="275" r:id="rId20"/>
    <p:sldId id="276" r:id="rId21"/>
    <p:sldId id="277" r:id="rId22"/>
    <p:sldId id="278"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44" autoAdjust="0"/>
    <p:restoredTop sz="94660"/>
  </p:normalViewPr>
  <p:slideViewPr>
    <p:cSldViewPr snapToGrid="0">
      <p:cViewPr varScale="1">
        <p:scale>
          <a:sx n="86" d="100"/>
          <a:sy n="86" d="100"/>
        </p:scale>
        <p:origin x="-96" y="-7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83917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679754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95748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pPr/>
              <a:t>2/20/2021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77146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pPr/>
              <a:t>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58528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pPr/>
              <a:t>2/20/2021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67604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pPr/>
              <a:t>2/20/2021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219734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2/20/2021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03336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2/20/2021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913317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2/20/2021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452681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258807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47446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018400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2/20/2021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32024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2/20/2021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292878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677848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6E12D2-DA3A-480B-BCDF-BFB6C7EBE402}" type="datetimeFigureOut">
              <a:rPr lang="en-US" smtClean="0"/>
              <a:pPr/>
              <a:t>2/20/2021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012189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7000"/>
          </a:schemeClr>
        </a:solid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6E12D2-DA3A-480B-BCDF-BFB6C7EBE402}" type="datetimeFigureOut">
              <a:rPr lang="en-US" smtClean="0"/>
              <a:pPr/>
              <a:t>2/20/2021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409281927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7D079-2B1B-40AF-AEBC-3D4705E15124}"/>
              </a:ext>
            </a:extLst>
          </p:cNvPr>
          <p:cNvSpPr>
            <a:spLocks noGrp="1"/>
          </p:cNvSpPr>
          <p:nvPr>
            <p:ph type="ctrTitle"/>
          </p:nvPr>
        </p:nvSpPr>
        <p:spPr>
          <a:xfrm>
            <a:off x="1154955" y="947451"/>
            <a:ext cx="8825658" cy="2633031"/>
          </a:xfrm>
        </p:spPr>
        <p:txBody>
          <a:bodyPr/>
          <a:lstStyle/>
          <a:p>
            <a:r>
              <a:rPr lang="en-US" dirty="0"/>
              <a:t>GRANITE SHOP MANAGEMENT SYSTEM</a:t>
            </a:r>
          </a:p>
        </p:txBody>
      </p:sp>
    </p:spTree>
    <p:extLst>
      <p:ext uri="{BB962C8B-B14F-4D97-AF65-F5344CB8AC3E}">
        <p14:creationId xmlns:p14="http://schemas.microsoft.com/office/powerpoint/2010/main" xmlns=""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xmlns="" id="{5854B835-7BC2-467F-A535-7DE21884A81B}"/>
              </a:ext>
            </a:extLst>
          </p:cNvPr>
          <p:cNvSpPr>
            <a:spLocks noGrp="1"/>
          </p:cNvSpPr>
          <p:nvPr>
            <p:ph idx="1"/>
          </p:nvPr>
        </p:nvSpPr>
        <p:spPr/>
        <p:txBody>
          <a:bodyPr>
            <a:normAutofit fontScale="85000" lnSpcReduction="20000"/>
          </a:bodyPr>
          <a:lstStyle/>
          <a:p>
            <a:pPr marL="0" marR="0" indent="457200" fontAlgn="base">
              <a:lnSpc>
                <a:spcPct val="150000"/>
              </a:lnSpc>
              <a:spcAft>
                <a:spcPts val="0"/>
              </a:spcAft>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granite shop management system is a help of managing the shop, we no need to managing the shop manually, this system will take care for the all the process of the application from top to end. Hope it’s really helpful for the satisfying customer and company relationship. This system is actually act as an admin is a shop employees or owners they have enter into the login and using the features which explained below. When customer has purchase which system collect the all the information from the customer and add into the database, purchase module will handle the purchasing, sales module will handle the sales entries and billing module will be handle billing details of the shop.</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22860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	The main goal of this project is that reducing the man power and giving an accurate information to the customer, and managing the stock and billing details of the store. The project is aimed to develop by JAVA as Front end and SQL as Back end.</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xmlns=""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9503AC-872F-4E85-AEE2-7A8E7C5BC087}"/>
              </a:ext>
            </a:extLst>
          </p:cNvPr>
          <p:cNvSpPr>
            <a:spLocks noGrp="1"/>
          </p:cNvSpPr>
          <p:nvPr>
            <p:ph type="title"/>
          </p:nvPr>
        </p:nvSpPr>
        <p:spPr/>
        <p:txBody>
          <a:bodyPr/>
          <a:lstStyle/>
          <a:p>
            <a:r>
              <a:rPr lang="en-US" sz="1800" b="1" dirty="0">
                <a:latin typeface="Times New Roman" panose="02020603050405020304" pitchFamily="18" charset="0"/>
                <a:ea typeface="Calibri" panose="020F0502020204030204" pitchFamily="34" charset="0"/>
              </a:rPr>
              <a:t> SOFTWARE SPECIFICATION</a:t>
            </a:r>
            <a:r>
              <a:rPr lang="en-US" sz="1800" dirty="0">
                <a:effectLst/>
                <a:latin typeface="Times New Roman" panose="02020603050405020304" pitchFamily="18" charset="0"/>
                <a:ea typeface="Times New Roman" panose="02020603050405020304" pitchFamily="18" charset="0"/>
              </a:rPr>
              <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r>
              <a:rPr lang="en-US" sz="1800" b="1" dirty="0">
                <a:effectLst/>
                <a:latin typeface="Times New Roman" panose="02020603050405020304" pitchFamily="18" charset="0"/>
                <a:ea typeface="Calibri" panose="020F0502020204030204" pitchFamily="34" charset="0"/>
              </a:rPr>
              <a:t/>
            </a: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xmlns="" id="{B678DDFF-0C1F-4E6A-A7AF-6FD81C2BA9CF}"/>
              </a:ext>
            </a:extLst>
          </p:cNvPr>
          <p:cNvSpPr>
            <a:spLocks noGrp="1"/>
          </p:cNvSpPr>
          <p:nvPr>
            <p:ph idx="1"/>
          </p:nvPr>
        </p:nvSpPr>
        <p:spPr/>
        <p:txBody>
          <a:bodyPr>
            <a:normAutofit fontScale="85000" lnSpcReduction="10000"/>
          </a:bodyPr>
          <a:lstStyle/>
          <a:p>
            <a:pPr marL="0" marR="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An existing system of granite management system is a manually we can check the quantity of material count. It takes a too man power works to complete the task. We just count the stock report as a manually and which does not give an accurate result, it’s just getting irritation to the people who are doing this task. A material purchase and sales details can’t handle this system, but in this system.</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US" dirty="0"/>
              <a:t>Disadvantages</a:t>
            </a: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It’s very risky to manage granite system </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Man power work impossible.</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Used only in low level business</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0" indent="0">
              <a:buNone/>
            </a:pPr>
            <a:endParaRPr lang="en-US" dirty="0"/>
          </a:p>
        </p:txBody>
      </p:sp>
    </p:spTree>
    <p:extLst>
      <p:ext uri="{BB962C8B-B14F-4D97-AF65-F5344CB8AC3E}">
        <p14:creationId xmlns:p14="http://schemas.microsoft.com/office/powerpoint/2010/main" xmlns=""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xmlns="" id="{76E19CB4-FA1C-4ED5-AFF1-B82455ED53A4}"/>
              </a:ext>
            </a:extLst>
          </p:cNvPr>
          <p:cNvSpPr>
            <a:spLocks noGrp="1"/>
          </p:cNvSpPr>
          <p:nvPr>
            <p:ph idx="1"/>
          </p:nvPr>
        </p:nvSpPr>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rPr>
              <a:t>	A proposed system of granite management system is that for we can takes a purchase, sales, stock and billing module have to be covered. So, we no need to bother about the product. In this system we can build it too anywhere. This system has to be working fully automatically.</a:t>
            </a:r>
          </a:p>
          <a:p>
            <a:pPr marL="0" indent="0">
              <a:buNone/>
            </a:pPr>
            <a:r>
              <a:rPr lang="en-US" sz="1800" b="1" kern="100" dirty="0">
                <a:latin typeface="Times New Roman" panose="02020603050405020304" pitchFamily="18" charset="0"/>
              </a:rPr>
              <a:t>Advantages</a:t>
            </a: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Showing a billing report</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very easy to find the stock details</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342900" marR="0" lvl="0" indent="-342900">
              <a:lnSpc>
                <a:spcPct val="150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Times New Roman" panose="02020603050405020304" pitchFamily="18" charset="0"/>
                <a:cs typeface="Calibri" panose="020F0502020204030204" pitchFamily="34" charset="0"/>
              </a:rPr>
              <a:t>contact with customers</a:t>
            </a: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0" indent="0">
              <a:buNone/>
            </a:pPr>
            <a:endParaRPr lang="en-US" b="1" dirty="0"/>
          </a:p>
        </p:txBody>
      </p:sp>
    </p:spTree>
    <p:extLst>
      <p:ext uri="{BB962C8B-B14F-4D97-AF65-F5344CB8AC3E}">
        <p14:creationId xmlns:p14="http://schemas.microsoft.com/office/powerpoint/2010/main" xmlns=""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xmlns="" id="{C08555ED-5306-4AC3-82F6-94DC618DC81F}"/>
              </a:ext>
            </a:extLst>
          </p:cNvPr>
          <p:cNvSpPr>
            <a:spLocks noGrp="1"/>
          </p:cNvSpPr>
          <p:nvPr>
            <p:ph idx="1"/>
          </p:nvPr>
        </p:nvSpPr>
        <p:spPr>
          <a:xfrm>
            <a:off x="1154954" y="2126255"/>
            <a:ext cx="10456824" cy="4296579"/>
          </a:xfrm>
        </p:spPr>
        <p:txBody>
          <a:bodyPr>
            <a:normAutofit fontScale="85000" lnSpcReduction="10000"/>
          </a:bodyPr>
          <a:lstStyle/>
          <a:p>
            <a:pPr marL="0" marR="0" lvl="0" indent="0">
              <a:lnSpc>
                <a:spcPct val="150000"/>
              </a:lnSpc>
              <a:spcBef>
                <a:spcPts val="500"/>
              </a:spcBef>
              <a:spcAft>
                <a:spcPts val="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Admin Login</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Bef>
                <a:spcPts val="500"/>
              </a:spcBef>
              <a:spcAft>
                <a:spcPts val="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Admin is an only having an access to login, admin having access to use these below modules. admin using username and password to do login, if it’s an incorrect we won’t allow into the </a:t>
            </a:r>
            <a:r>
              <a:rPr lang="en-US" sz="1800" dirty="0" smtClean="0">
                <a:effectLst/>
                <a:latin typeface="Calibri" panose="020F0502020204030204" pitchFamily="34" charset="0"/>
                <a:ea typeface="Times New Roman" panose="02020603050405020304" pitchFamily="18" charset="0"/>
                <a:cs typeface="Calibri" panose="020F0502020204030204" pitchFamily="34" charset="0"/>
              </a:rPr>
              <a:t>application</a:t>
            </a:r>
          </a:p>
          <a:p>
            <a:pPr marL="457200" marR="0" indent="457200">
              <a:lnSpc>
                <a:spcPct val="150000"/>
              </a:lnSpc>
              <a:spcBef>
                <a:spcPts val="500"/>
              </a:spcBef>
              <a:spcAft>
                <a:spcPts val="0"/>
              </a:spcAft>
              <a:buNone/>
            </a:pPr>
            <a:endParaRPr lang="en-US" sz="1800" dirty="0" smtClean="0">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nSpc>
                <a:spcPct val="150000"/>
              </a:lnSpc>
              <a:spcBef>
                <a:spcPts val="500"/>
              </a:spcBef>
              <a:spcAft>
                <a:spcPts val="1000"/>
              </a:spcAft>
              <a:buNone/>
            </a:pPr>
            <a:r>
              <a:rPr lang="en-US" b="1" dirty="0" smtClean="0">
                <a:latin typeface="Calibri" panose="020F0502020204030204" pitchFamily="34" charset="0"/>
                <a:ea typeface="Times New Roman" panose="02020603050405020304" pitchFamily="18" charset="0"/>
                <a:cs typeface="Calibri" panose="020F0502020204030204" pitchFamily="34" charset="0"/>
              </a:rPr>
              <a:t>Customer Registration</a:t>
            </a:r>
            <a:endParaRPr lang="en-US" dirty="0" smtClean="0">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Aft>
                <a:spcPts val="1000"/>
              </a:spcAft>
            </a:pPr>
            <a:r>
              <a:rPr lang="en-US" dirty="0" smtClean="0">
                <a:latin typeface="Calibri" panose="020F0502020204030204" pitchFamily="34" charset="0"/>
                <a:ea typeface="Times New Roman" panose="02020603050405020304" pitchFamily="18" charset="0"/>
                <a:cs typeface="Calibri" panose="020F0502020204030204" pitchFamily="34" charset="0"/>
              </a:rPr>
              <a:t>A customer registration module is used collect the information details. Which is used to when the granite shop owner contacts the customer this will help to give the contact details about the customer.</a:t>
            </a:r>
            <a:endParaRPr lang="en-US" dirty="0" smtClean="0">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nSpc>
                <a:spcPct val="150000"/>
              </a:lnSpc>
              <a:spcBef>
                <a:spcPts val="500"/>
              </a:spcBef>
              <a:spcAft>
                <a:spcPts val="1000"/>
              </a:spcAft>
              <a:buNone/>
            </a:pPr>
            <a:r>
              <a:rPr lang="en-IN" b="1" dirty="0" smtClean="0">
                <a:latin typeface="Calibri" panose="020F0502020204030204" pitchFamily="34" charset="0"/>
                <a:ea typeface="Times New Roman" panose="02020603050405020304" pitchFamily="18" charset="0"/>
                <a:cs typeface="Calibri" panose="020F0502020204030204" pitchFamily="34" charset="0"/>
              </a:rPr>
              <a:t>Product </a:t>
            </a:r>
            <a:r>
              <a:rPr lang="en-IN" b="1" dirty="0" smtClean="0">
                <a:latin typeface="Calibri" panose="020F0502020204030204" pitchFamily="34" charset="0"/>
                <a:ea typeface="Times New Roman" panose="02020603050405020304" pitchFamily="18" charset="0"/>
                <a:cs typeface="Calibri" panose="020F0502020204030204" pitchFamily="34" charset="0"/>
              </a:rPr>
              <a:t>Registration</a:t>
            </a:r>
            <a:endParaRPr lang="en-IN" sz="1800" b="1" dirty="0" smtClean="0">
              <a:effectLst/>
              <a:latin typeface="Calibri" panose="020F0502020204030204" pitchFamily="34" charset="0"/>
              <a:ea typeface="Times New Roman" panose="02020603050405020304" pitchFamily="18" charset="0"/>
              <a:cs typeface="Calibri" panose="020F0502020204030204" pitchFamily="34" charset="0"/>
            </a:endParaRPr>
          </a:p>
          <a:p>
            <a:pPr marL="0" indent="0">
              <a:lnSpc>
                <a:spcPct val="150000"/>
              </a:lnSpc>
              <a:spcBef>
                <a:spcPts val="500"/>
              </a:spcBef>
              <a:spcAft>
                <a:spcPts val="1000"/>
              </a:spcAft>
            </a:pPr>
            <a:r>
              <a:rPr lang="en-US" dirty="0" smtClean="0">
                <a:latin typeface="Calibri" panose="020F0502020204030204" pitchFamily="34" charset="0"/>
                <a:ea typeface="Times New Roman" panose="02020603050405020304" pitchFamily="18" charset="0"/>
                <a:cs typeface="Calibri" panose="020F0502020204030204" pitchFamily="34" charset="0"/>
              </a:rPr>
              <a:t>        A product module is collect all the information about the product , before purchasing the user should enter the  product details and then the product details will be stored in the product table</a:t>
            </a:r>
            <a:endParaRPr lang="en-IN" sz="1800" b="1" dirty="0" smtClean="0">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nSpc>
                <a:spcPct val="150000"/>
              </a:lnSpc>
              <a:spcBef>
                <a:spcPts val="500"/>
              </a:spcBef>
              <a:spcAft>
                <a:spcPts val="1000"/>
              </a:spcAft>
              <a:buNone/>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Aft>
                <a:spcPts val="1000"/>
              </a:spcAft>
              <a:buNone/>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B8F9E25-F29C-4FEA-ACB4-6D6057146BE7}"/>
              </a:ext>
            </a:extLst>
          </p:cNvPr>
          <p:cNvSpPr>
            <a:spLocks noGrp="1"/>
          </p:cNvSpPr>
          <p:nvPr>
            <p:ph idx="1"/>
          </p:nvPr>
        </p:nvSpPr>
        <p:spPr/>
        <p:txBody>
          <a:bodyPr>
            <a:normAutofit fontScale="85000" lnSpcReduction="10000"/>
          </a:bodyPr>
          <a:lstStyle/>
          <a:p>
            <a:pPr marL="0" marR="0" lvl="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Purchase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indent="45720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when the manager purchasing the products or material, they should register this purchase module. It’s managed by shop owner then collect the information about the product details and price </a:t>
            </a:r>
            <a:r>
              <a:rPr lang="en-US" sz="1800" dirty="0" err="1">
                <a:effectLst/>
                <a:latin typeface="Calibri" panose="020F0502020204030204" pitchFamily="34" charset="0"/>
                <a:ea typeface="Times New Roman" panose="02020603050405020304" pitchFamily="18" charset="0"/>
                <a:cs typeface="Calibri" panose="020F0502020204030204" pitchFamily="34" charset="0"/>
              </a:rPr>
              <a:t>etc</a:t>
            </a:r>
            <a:r>
              <a:rPr lang="en-US" sz="1800" dirty="0">
                <a:effectLst/>
                <a:latin typeface="Calibri" panose="020F0502020204030204" pitchFamily="34" charset="0"/>
                <a:ea typeface="Times New Roman" panose="02020603050405020304" pitchFamily="18" charset="0"/>
                <a:cs typeface="Calibri" panose="020F0502020204030204" pitchFamily="34" charset="0"/>
              </a:rPr>
              <a:t>… After the purchasing only should sales the product.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457200" marR="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Sales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a:lnSpc>
                <a:spcPct val="150000"/>
              </a:lnSpc>
              <a:spcAft>
                <a:spcPts val="10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 	This module calling when the customer has to be purchased and before billing. It will show the all the details about the product. Which is basically used to find the stock entry details. A sales module collects the customer information so we can contact the customer easily.</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8DDDC8A-04BB-42C9-B0EC-BF82D0492888}"/>
              </a:ext>
            </a:extLst>
          </p:cNvPr>
          <p:cNvSpPr>
            <a:spLocks noGrp="1"/>
          </p:cNvSpPr>
          <p:nvPr>
            <p:ph idx="1"/>
          </p:nvPr>
        </p:nvSpPr>
        <p:spPr/>
        <p:txBody>
          <a:bodyPr>
            <a:normAutofit fontScale="92500" lnSpcReduction="20000"/>
          </a:bodyPr>
          <a:lstStyle/>
          <a:p>
            <a:pPr marL="0" marR="0" lvl="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Stock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a:lnSpc>
                <a:spcPct val="150000"/>
              </a:lnSpc>
              <a:spcAft>
                <a:spcPts val="10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a:t>
            </a:r>
            <a:r>
              <a:rPr lang="en-US" sz="1800" dirty="0">
                <a:effectLst/>
                <a:latin typeface="Calibri" panose="020F0502020204030204" pitchFamily="34" charset="0"/>
                <a:ea typeface="Times New Roman" panose="02020603050405020304" pitchFamily="18" charset="0"/>
                <a:cs typeface="Calibri" panose="020F0502020204030204" pitchFamily="34" charset="0"/>
              </a:rPr>
              <a:t>This Stock module will be helps to find the what are all the products are available in shop and how many products are in stock also we can check. No need to manually count a check and verify the product. Systematically it will calculate and give a report.</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50000"/>
              </a:lnSpc>
              <a:spcAft>
                <a:spcPts val="10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5.  Billing Module</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marR="0">
              <a:lnSpc>
                <a:spcPct val="150000"/>
              </a:lnSpc>
              <a:spcAft>
                <a:spcPts val="10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	</a:t>
            </a:r>
            <a:r>
              <a:rPr lang="en-US" sz="1800" dirty="0">
                <a:effectLst/>
                <a:latin typeface="Calibri" panose="020F0502020204030204" pitchFamily="34" charset="0"/>
                <a:ea typeface="Times New Roman" panose="02020603050405020304" pitchFamily="18" charset="0"/>
                <a:cs typeface="Calibri" panose="020F0502020204030204" pitchFamily="34" charset="0"/>
              </a:rPr>
              <a:t>This module shows a billing detail, what are the items are sales in date wise and how much are they gain. Total entire application will be showing in this module.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xmlns="" id="{4302C280-D2B7-46AA-9A87-E36DB7A0CB3D}"/>
              </a:ext>
            </a:extLst>
          </p:cNvPr>
          <p:cNvSpPr>
            <a:spLocks noGrp="1"/>
          </p:cNvSpPr>
          <p:nvPr>
            <p:ph idx="1"/>
          </p:nvPr>
        </p:nvSpPr>
        <p:spPr/>
        <p:txBody>
          <a:bodyPr/>
          <a:lstStyle/>
          <a:p>
            <a:pPr>
              <a:buNone/>
            </a:pPr>
            <a:r>
              <a:rPr lang="en-US" sz="3600" dirty="0">
                <a:solidFill>
                  <a:schemeClr val="tx2"/>
                </a:solidFill>
                <a:latin typeface="+mj-lt"/>
                <a:ea typeface="+mj-ea"/>
                <a:cs typeface="+mj-cs"/>
              </a:rPr>
              <a:t>Level 0:</a:t>
            </a: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5" name="Picture 4">
            <a:extLst>
              <a:ext uri="{FF2B5EF4-FFF2-40B4-BE49-F238E27FC236}">
                <a16:creationId xmlns:a16="http://schemas.microsoft.com/office/drawing/2014/main" xmlns="" id="{C98C82F8-054A-43BC-8F2A-689DFB118F75}"/>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401749" y="3740426"/>
            <a:ext cx="7410350" cy="1149626"/>
          </a:xfrm>
          <a:prstGeom prst="rect">
            <a:avLst/>
          </a:prstGeom>
        </p:spPr>
      </p:pic>
    </p:spTree>
    <p:extLst>
      <p:ext uri="{BB962C8B-B14F-4D97-AF65-F5344CB8AC3E}">
        <p14:creationId xmlns:p14="http://schemas.microsoft.com/office/powerpoint/2010/main" xmlns="" val="359068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1EEFF-B3ED-40E0-9C29-20B24F396040}"/>
              </a:ext>
            </a:extLst>
          </p:cNvPr>
          <p:cNvSpPr>
            <a:spLocks noGrp="1"/>
          </p:cNvSpPr>
          <p:nvPr>
            <p:ph type="title"/>
          </p:nvPr>
        </p:nvSpPr>
        <p:spPr/>
        <p:txBody>
          <a:bodyPr/>
          <a:lstStyle/>
          <a:p>
            <a:pPr algn="l"/>
            <a:r>
              <a:rPr lang="en-US" dirty="0"/>
              <a:t>Level 1:</a:t>
            </a:r>
          </a:p>
        </p:txBody>
      </p:sp>
      <p:pic>
        <p:nvPicPr>
          <p:cNvPr id="3" name="Content Placeholder 2" descr="C:\Users\ELCOT\Desktop\gl1.jpg"/>
          <p:cNvPicPr>
            <a:picLocks noGrp="1" noChangeAspect="1" noChangeArrowheads="1"/>
          </p:cNvPicPr>
          <p:nvPr>
            <p:ph idx="1"/>
          </p:nvPr>
        </p:nvPicPr>
        <p:blipFill>
          <a:blip r:embed="rId2"/>
          <a:srcRect/>
          <a:stretch>
            <a:fillRect/>
          </a:stretch>
        </p:blipFill>
        <p:spPr bwMode="auto">
          <a:xfrm>
            <a:off x="2137272" y="2379643"/>
            <a:ext cx="6698256" cy="4098275"/>
          </a:xfrm>
          <a:prstGeom prst="rect">
            <a:avLst/>
          </a:prstGeom>
          <a:noFill/>
        </p:spPr>
      </p:pic>
    </p:spTree>
    <p:extLst>
      <p:ext uri="{BB962C8B-B14F-4D97-AF65-F5344CB8AC3E}">
        <p14:creationId xmlns:p14="http://schemas.microsoft.com/office/powerpoint/2010/main" xmlns="" val="153540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27B6BD-6029-4719-B606-0057CD8A37CB}"/>
              </a:ext>
            </a:extLst>
          </p:cNvPr>
          <p:cNvSpPr>
            <a:spLocks noGrp="1"/>
          </p:cNvSpPr>
          <p:nvPr>
            <p:ph type="title"/>
          </p:nvPr>
        </p:nvSpPr>
        <p:spPr>
          <a:xfrm>
            <a:off x="919823" y="2057885"/>
            <a:ext cx="8761413" cy="706964"/>
          </a:xfrm>
        </p:spPr>
        <p:txBody>
          <a:bodyPr/>
          <a:lstStyle/>
          <a:p>
            <a:r>
              <a:rPr lang="en-IN" dirty="0"/>
              <a:t/>
            </a:r>
            <a:br>
              <a:rPr lang="en-IN" dirty="0"/>
            </a:br>
            <a:endParaRPr lang="en-US" dirty="0"/>
          </a:p>
        </p:txBody>
      </p:sp>
      <p:graphicFrame>
        <p:nvGraphicFramePr>
          <p:cNvPr id="6" name="Table 5"/>
          <p:cNvGraphicFramePr>
            <a:graphicFrameLocks noGrp="1"/>
          </p:cNvGraphicFramePr>
          <p:nvPr/>
        </p:nvGraphicFramePr>
        <p:xfrm>
          <a:off x="1149531" y="3315920"/>
          <a:ext cx="8752114" cy="2656116"/>
        </p:xfrm>
        <a:graphic>
          <a:graphicData uri="http://schemas.openxmlformats.org/drawingml/2006/table">
            <a:tbl>
              <a:tblPr/>
              <a:tblGrid>
                <a:gridCol w="2187555">
                  <a:extLst>
                    <a:ext uri="{9D8B030D-6E8A-4147-A177-3AD203B41FA5}">
                      <a16:colId xmlns:a16="http://schemas.microsoft.com/office/drawing/2014/main" xmlns="" val="20000"/>
                    </a:ext>
                  </a:extLst>
                </a:gridCol>
                <a:gridCol w="2187555">
                  <a:extLst>
                    <a:ext uri="{9D8B030D-6E8A-4147-A177-3AD203B41FA5}">
                      <a16:colId xmlns:a16="http://schemas.microsoft.com/office/drawing/2014/main" xmlns="" val="20001"/>
                    </a:ext>
                  </a:extLst>
                </a:gridCol>
                <a:gridCol w="2188502">
                  <a:extLst>
                    <a:ext uri="{9D8B030D-6E8A-4147-A177-3AD203B41FA5}">
                      <a16:colId xmlns:a16="http://schemas.microsoft.com/office/drawing/2014/main" xmlns="" val="20002"/>
                    </a:ext>
                  </a:extLst>
                </a:gridCol>
                <a:gridCol w="2188502">
                  <a:extLst>
                    <a:ext uri="{9D8B030D-6E8A-4147-A177-3AD203B41FA5}">
                      <a16:colId xmlns:a16="http://schemas.microsoft.com/office/drawing/2014/main" xmlns="" val="20003"/>
                    </a:ext>
                  </a:extLst>
                </a:gridCol>
              </a:tblGrid>
              <a:tr h="646612">
                <a:tc>
                  <a:txBody>
                    <a:bodyPr/>
                    <a:lstStyle/>
                    <a:p>
                      <a:pPr>
                        <a:lnSpc>
                          <a:spcPct val="150000"/>
                        </a:lnSpc>
                        <a:spcBef>
                          <a:spcPts val="500"/>
                        </a:spcBef>
                        <a:spcAft>
                          <a:spcPts val="1000"/>
                        </a:spcAft>
                      </a:pPr>
                      <a:r>
                        <a:rPr lang="en-US" sz="1200" b="1" dirty="0">
                          <a:latin typeface="Calibri"/>
                          <a:ea typeface="Calibri"/>
                          <a:cs typeface="Calibri"/>
                        </a:rPr>
                        <a:t>FIELD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dirty="0">
                          <a:latin typeface="Calibri"/>
                          <a:ea typeface="Calibri"/>
                          <a:cs typeface="Calibri"/>
                        </a:rPr>
                        <a:t>DATA TYPE</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dirty="0">
                          <a:latin typeface="Calibri"/>
                          <a:ea typeface="Calibri"/>
                          <a:cs typeface="Calibri"/>
                        </a:rPr>
                        <a:t>SIZE</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a:latin typeface="Calibri"/>
                          <a:ea typeface="Calibri"/>
                          <a:cs typeface="Calibri"/>
                        </a:rPr>
                        <a:t>CONSTRAINT</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646612">
                <a:tc>
                  <a:txBody>
                    <a:bodyPr/>
                    <a:lstStyle/>
                    <a:p>
                      <a:pPr>
                        <a:lnSpc>
                          <a:spcPct val="150000"/>
                        </a:lnSpc>
                        <a:spcBef>
                          <a:spcPts val="500"/>
                        </a:spcBef>
                        <a:spcAft>
                          <a:spcPts val="1000"/>
                        </a:spcAft>
                      </a:pPr>
                      <a:r>
                        <a:rPr lang="en-US" sz="1200">
                          <a:latin typeface="Calibri"/>
                          <a:ea typeface="Calibri"/>
                          <a:cs typeface="Calibri"/>
                        </a:rPr>
                        <a:t>Admin id</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a:latin typeface="Calibri"/>
                          <a:ea typeface="Calibri"/>
                          <a:cs typeface="Calibri"/>
                        </a:rPr>
                        <a:t>Int</a:t>
                      </a:r>
                    </a:p>
                    <a:p>
                      <a:pPr>
                        <a:lnSpc>
                          <a:spcPct val="150000"/>
                        </a:lnSpc>
                        <a:spcBef>
                          <a:spcPts val="500"/>
                        </a:spcBef>
                        <a:spcAft>
                          <a:spcPts val="1000"/>
                        </a:spcAft>
                      </a:pP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10</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Primary key </a:t>
                      </a:r>
                    </a:p>
                    <a:p>
                      <a:pPr>
                        <a:lnSpc>
                          <a:spcPct val="150000"/>
                        </a:lnSpc>
                        <a:spcBef>
                          <a:spcPts val="500"/>
                        </a:spcBef>
                        <a:spcAft>
                          <a:spcPts val="1000"/>
                        </a:spcAft>
                      </a:pP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646612">
                <a:tc>
                  <a:txBody>
                    <a:bodyPr/>
                    <a:lstStyle/>
                    <a:p>
                      <a:pPr>
                        <a:lnSpc>
                          <a:spcPct val="150000"/>
                        </a:lnSpc>
                        <a:spcBef>
                          <a:spcPts val="500"/>
                        </a:spcBef>
                        <a:spcAft>
                          <a:spcPts val="1000"/>
                        </a:spcAft>
                      </a:pPr>
                      <a:r>
                        <a:rPr lang="en-US" sz="1200">
                          <a:latin typeface="Calibri"/>
                          <a:ea typeface="Calibri"/>
                          <a:cs typeface="Calibri"/>
                        </a:rPr>
                        <a:t>Username </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a:latin typeface="Calibri"/>
                          <a:ea typeface="Calibri"/>
                          <a:cs typeface="Calibri"/>
                        </a:rPr>
                        <a:t>Varchar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30</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Not null</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646612">
                <a:tc>
                  <a:txBody>
                    <a:bodyPr/>
                    <a:lstStyle/>
                    <a:p>
                      <a:pPr>
                        <a:lnSpc>
                          <a:spcPct val="150000"/>
                        </a:lnSpc>
                        <a:spcBef>
                          <a:spcPts val="500"/>
                        </a:spcBef>
                        <a:spcAft>
                          <a:spcPts val="1000"/>
                        </a:spcAft>
                      </a:pPr>
                      <a:r>
                        <a:rPr lang="en-US" sz="1200">
                          <a:latin typeface="Calibri"/>
                          <a:ea typeface="Calibri"/>
                          <a:cs typeface="Calibri"/>
                        </a:rPr>
                        <a:t>password</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Varchar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30</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Not null</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bl>
          </a:graphicData>
        </a:graphic>
      </p:graphicFrame>
      <p:sp>
        <p:nvSpPr>
          <p:cNvPr id="2051" name="Rectangle 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 name="Rectangle 9"/>
          <p:cNvSpPr/>
          <p:nvPr/>
        </p:nvSpPr>
        <p:spPr>
          <a:xfrm>
            <a:off x="1071155" y="2377440"/>
            <a:ext cx="8072846" cy="1754326"/>
          </a:xfrm>
          <a:prstGeom prst="rect">
            <a:avLst/>
          </a:prstGeom>
        </p:spPr>
        <p:txBody>
          <a:bodyPr wrap="square">
            <a:spAutoFit/>
          </a:bodyPr>
          <a:lstStyle/>
          <a:p>
            <a:r>
              <a:rPr lang="en-US" b="1" dirty="0"/>
              <a:t>TABLE NAME: ADMIN</a:t>
            </a:r>
          </a:p>
          <a:p>
            <a:endParaRPr lang="en-US" b="1" dirty="0"/>
          </a:p>
          <a:p>
            <a:endParaRPr lang="en-IN" b="1" dirty="0"/>
          </a:p>
          <a:p>
            <a:endParaRPr lang="en-US" b="1" dirty="0"/>
          </a:p>
          <a:p>
            <a:endParaRPr lang="en" b="1" dirty="0"/>
          </a:p>
          <a:p>
            <a:endParaRPr lang="en" b="1" dirty="0"/>
          </a:p>
        </p:txBody>
      </p:sp>
      <p:sp>
        <p:nvSpPr>
          <p:cNvPr id="7" name="Title 1">
            <a:extLst>
              <a:ext uri="{FF2B5EF4-FFF2-40B4-BE49-F238E27FC236}">
                <a16:creationId xmlns:lc="http://schemas.openxmlformats.org/drawingml/2006/lockedCanvas" xmlns:a16="http://schemas.microsoft.com/office/drawing/2014/main" xmlns="" id="{892D31D7-879D-48CE-A135-4AE7D04BF5EF}"/>
              </a:ext>
            </a:extLst>
          </p:cNvPr>
          <p:cNvSpPr>
            <a:spLocks noGrp="1"/>
          </p:cNvSpPr>
          <p:nvPr/>
        </p:nvSpPr>
        <p:spPr bwMode="gray">
          <a:xfrm>
            <a:off x="1715293" y="649996"/>
            <a:ext cx="8761413" cy="1090670"/>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smtClean="0"/>
              <a:t>TABLE  DESIGN</a:t>
            </a:r>
            <a:endParaRPr lang="en-US" dirty="0"/>
          </a:p>
        </p:txBody>
      </p:sp>
      <p:sp>
        <p:nvSpPr>
          <p:cNvPr id="8" name="Title 1">
            <a:extLst>
              <a:ext uri="{FF2B5EF4-FFF2-40B4-BE49-F238E27FC236}">
                <a16:creationId xmlns:lc="http://schemas.openxmlformats.org/drawingml/2006/lockedCanvas" xmlns:a16="http://schemas.microsoft.com/office/drawing/2014/main" xmlns="" id="{892D31D7-879D-48CE-A135-4AE7D04BF5EF}"/>
              </a:ext>
            </a:extLst>
          </p:cNvPr>
          <p:cNvSpPr>
            <a:spLocks noGrp="1"/>
          </p:cNvSpPr>
          <p:nvPr/>
        </p:nvSpPr>
        <p:spPr bwMode="gray">
          <a:xfrm>
            <a:off x="1715293" y="3075518"/>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9" name="Title 1">
            <a:extLst>
              <a:ext uri="{FF2B5EF4-FFF2-40B4-BE49-F238E27FC236}">
                <a16:creationId xmlns:lc="http://schemas.openxmlformats.org/drawingml/2006/lockedCanvas" xmlns:a16="http://schemas.microsoft.com/office/drawing/2014/main" xmlns="" id="{892D31D7-879D-48CE-A135-4AE7D04BF5EF}"/>
              </a:ext>
            </a:extLst>
          </p:cNvPr>
          <p:cNvSpPr>
            <a:spLocks noGrp="1"/>
          </p:cNvSpPr>
          <p:nvPr/>
        </p:nvSpPr>
        <p:spPr bwMode="gray">
          <a:xfrm>
            <a:off x="1867693" y="1046602"/>
            <a:ext cx="8761413" cy="1244906"/>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11" name="Title 1">
            <a:extLst>
              <a:ext uri="{FF2B5EF4-FFF2-40B4-BE49-F238E27FC236}">
                <a16:creationId xmlns:lc="http://schemas.openxmlformats.org/drawingml/2006/lockedCanvas" xmlns:a16="http://schemas.microsoft.com/office/drawing/2014/main" xmlns="" id="{892D31D7-879D-48CE-A135-4AE7D04BF5EF}"/>
              </a:ext>
            </a:extLst>
          </p:cNvPr>
          <p:cNvSpPr>
            <a:spLocks noGrp="1"/>
          </p:cNvSpPr>
          <p:nvPr/>
        </p:nvSpPr>
        <p:spPr bwMode="gray">
          <a:xfrm>
            <a:off x="1867693" y="3227918"/>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12" name="Title 1">
            <a:extLst>
              <a:ext uri="{FF2B5EF4-FFF2-40B4-BE49-F238E27FC236}">
                <a16:creationId xmlns:lc="http://schemas.openxmlformats.org/drawingml/2006/lockedCanvas" xmlns:a16="http://schemas.microsoft.com/office/drawing/2014/main" xmlns="" id="{892D31D7-879D-48CE-A135-4AE7D04BF5EF}"/>
              </a:ext>
            </a:extLst>
          </p:cNvPr>
          <p:cNvSpPr>
            <a:spLocks noGrp="1"/>
          </p:cNvSpPr>
          <p:nvPr/>
        </p:nvSpPr>
        <p:spPr bwMode="gray">
          <a:xfrm>
            <a:off x="2020093" y="3380318"/>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Tree>
    <p:extLst>
      <p:ext uri="{BB962C8B-B14F-4D97-AF65-F5344CB8AC3E}">
        <p14:creationId xmlns:p14="http://schemas.microsoft.com/office/powerpoint/2010/main" xmlns="" val="3224667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1916932"/>
            <a:ext cx="8761413" cy="1751685"/>
          </a:xfrm>
        </p:spPr>
        <p:txBody>
          <a:bodyPr/>
          <a:lstStyle/>
          <a:p>
            <a:r>
              <a:rPr lang="en-US" sz="1800" b="1" dirty="0">
                <a:solidFill>
                  <a:schemeClr val="tx1"/>
                </a:solidFill>
              </a:rPr>
              <a:t>     TABLE NAME: CUSTOMER</a:t>
            </a:r>
            <a:br>
              <a:rPr lang="en-US" sz="1800" b="1" dirty="0">
                <a:solidFill>
                  <a:schemeClr val="tx1"/>
                </a:solidFill>
              </a:rPr>
            </a:br>
            <a:endParaRPr lang="en-US" sz="1800" b="1" dirty="0">
              <a:solidFill>
                <a:schemeClr val="tx1"/>
              </a:solidFill>
            </a:endParaRPr>
          </a:p>
        </p:txBody>
      </p:sp>
      <p:graphicFrame>
        <p:nvGraphicFramePr>
          <p:cNvPr id="4" name="Table 3"/>
          <p:cNvGraphicFramePr>
            <a:graphicFrameLocks noGrp="1"/>
          </p:cNvGraphicFramePr>
          <p:nvPr/>
        </p:nvGraphicFramePr>
        <p:xfrm>
          <a:off x="1531345" y="3139807"/>
          <a:ext cx="8075362" cy="3459297"/>
        </p:xfrm>
        <a:graphic>
          <a:graphicData uri="http://schemas.openxmlformats.org/drawingml/2006/table">
            <a:tbl>
              <a:tblPr/>
              <a:tblGrid>
                <a:gridCol w="2018403">
                  <a:extLst>
                    <a:ext uri="{9D8B030D-6E8A-4147-A177-3AD203B41FA5}">
                      <a16:colId xmlns:a16="http://schemas.microsoft.com/office/drawing/2014/main" xmlns="" val="20000"/>
                    </a:ext>
                  </a:extLst>
                </a:gridCol>
                <a:gridCol w="2018403">
                  <a:extLst>
                    <a:ext uri="{9D8B030D-6E8A-4147-A177-3AD203B41FA5}">
                      <a16:colId xmlns:a16="http://schemas.microsoft.com/office/drawing/2014/main" xmlns="" val="20001"/>
                    </a:ext>
                  </a:extLst>
                </a:gridCol>
                <a:gridCol w="2019278">
                  <a:extLst>
                    <a:ext uri="{9D8B030D-6E8A-4147-A177-3AD203B41FA5}">
                      <a16:colId xmlns:a16="http://schemas.microsoft.com/office/drawing/2014/main" xmlns="" val="20002"/>
                    </a:ext>
                  </a:extLst>
                </a:gridCol>
                <a:gridCol w="2019278">
                  <a:extLst>
                    <a:ext uri="{9D8B030D-6E8A-4147-A177-3AD203B41FA5}">
                      <a16:colId xmlns:a16="http://schemas.microsoft.com/office/drawing/2014/main" xmlns="" val="20003"/>
                    </a:ext>
                  </a:extLst>
                </a:gridCol>
              </a:tblGrid>
              <a:tr h="491261">
                <a:tc>
                  <a:txBody>
                    <a:bodyPr/>
                    <a:lstStyle/>
                    <a:p>
                      <a:pPr>
                        <a:lnSpc>
                          <a:spcPct val="150000"/>
                        </a:lnSpc>
                        <a:spcBef>
                          <a:spcPts val="500"/>
                        </a:spcBef>
                        <a:spcAft>
                          <a:spcPts val="1000"/>
                        </a:spcAft>
                      </a:pPr>
                      <a:r>
                        <a:rPr lang="en-US" sz="1200" b="1" dirty="0">
                          <a:latin typeface="Calibri"/>
                          <a:ea typeface="Calibri"/>
                          <a:cs typeface="Calibri"/>
                        </a:rPr>
                        <a:t>FIELD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dirty="0">
                          <a:latin typeface="Calibri"/>
                          <a:ea typeface="Calibri"/>
                          <a:cs typeface="Calibri"/>
                        </a:rPr>
                        <a:t>DATA TYPE</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a:latin typeface="Calibri"/>
                          <a:ea typeface="Calibri"/>
                          <a:cs typeface="Calibri"/>
                        </a:rPr>
                        <a:t>SIZE</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a:latin typeface="Calibri"/>
                          <a:ea typeface="Calibri"/>
                          <a:cs typeface="Calibri"/>
                        </a:rPr>
                        <a:t>CONSTRAINT</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511731">
                <a:tc>
                  <a:txBody>
                    <a:bodyPr/>
                    <a:lstStyle/>
                    <a:p>
                      <a:pPr>
                        <a:lnSpc>
                          <a:spcPct val="150000"/>
                        </a:lnSpc>
                        <a:spcBef>
                          <a:spcPts val="500"/>
                        </a:spcBef>
                        <a:spcAft>
                          <a:spcPts val="1000"/>
                        </a:spcAft>
                      </a:pPr>
                      <a:r>
                        <a:rPr lang="en-US" sz="1200">
                          <a:latin typeface="Calibri"/>
                          <a:ea typeface="Calibri"/>
                          <a:cs typeface="Calibri"/>
                        </a:rPr>
                        <a:t>Id</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Int</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10</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Primary key</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491261">
                <a:tc>
                  <a:txBody>
                    <a:bodyPr/>
                    <a:lstStyle/>
                    <a:p>
                      <a:pPr>
                        <a:lnSpc>
                          <a:spcPct val="150000"/>
                        </a:lnSpc>
                        <a:spcBef>
                          <a:spcPts val="500"/>
                        </a:spcBef>
                        <a:spcAft>
                          <a:spcPts val="1000"/>
                        </a:spcAft>
                      </a:pPr>
                      <a:r>
                        <a:rPr lang="en-US" sz="1200">
                          <a:latin typeface="Calibri"/>
                          <a:ea typeface="Calibri"/>
                          <a:cs typeface="Calibri"/>
                        </a:rPr>
                        <a:t>Name</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Varchar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30</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Not null</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491261">
                <a:tc>
                  <a:txBody>
                    <a:bodyPr/>
                    <a:lstStyle/>
                    <a:p>
                      <a:pPr>
                        <a:lnSpc>
                          <a:spcPct val="150000"/>
                        </a:lnSpc>
                        <a:spcBef>
                          <a:spcPts val="500"/>
                        </a:spcBef>
                        <a:spcAft>
                          <a:spcPts val="1000"/>
                        </a:spcAft>
                      </a:pPr>
                      <a:r>
                        <a:rPr lang="en-US" sz="1200" dirty="0">
                          <a:latin typeface="Calibri"/>
                          <a:ea typeface="Calibri"/>
                          <a:cs typeface="Calibri"/>
                        </a:rPr>
                        <a:t>Mobile</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Int</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10</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Not null</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491261">
                <a:tc>
                  <a:txBody>
                    <a:bodyPr/>
                    <a:lstStyle/>
                    <a:p>
                      <a:pPr>
                        <a:lnSpc>
                          <a:spcPct val="150000"/>
                        </a:lnSpc>
                        <a:spcBef>
                          <a:spcPts val="500"/>
                        </a:spcBef>
                        <a:spcAft>
                          <a:spcPts val="1000"/>
                        </a:spcAft>
                      </a:pPr>
                      <a:r>
                        <a:rPr lang="en-IN" sz="1200" dirty="0" smtClean="0">
                          <a:latin typeface="Calibri"/>
                          <a:ea typeface="Calibri"/>
                          <a:cs typeface="Calibri"/>
                        </a:rPr>
                        <a:t>Email</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smtClean="0">
                          <a:latin typeface="Calibri"/>
                          <a:ea typeface="Calibri"/>
                          <a:cs typeface="Calibri"/>
                        </a:rPr>
                        <a:t>varchar</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10</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Not null</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r h="491261">
                <a:tc>
                  <a:txBody>
                    <a:bodyPr/>
                    <a:lstStyle/>
                    <a:p>
                      <a:pPr>
                        <a:lnSpc>
                          <a:spcPct val="150000"/>
                        </a:lnSpc>
                        <a:spcBef>
                          <a:spcPts val="500"/>
                        </a:spcBef>
                        <a:spcAft>
                          <a:spcPts val="1000"/>
                        </a:spcAft>
                      </a:pPr>
                      <a:r>
                        <a:rPr lang="en-US" sz="1200">
                          <a:latin typeface="Calibri"/>
                          <a:ea typeface="Calibri"/>
                          <a:cs typeface="Calibri"/>
                        </a:rPr>
                        <a:t>Address</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Varchar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50</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Not null</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491261">
                <a:tc>
                  <a:txBody>
                    <a:bodyPr/>
                    <a:lstStyle/>
                    <a:p>
                      <a:pPr>
                        <a:lnSpc>
                          <a:spcPct val="150000"/>
                        </a:lnSpc>
                        <a:spcBef>
                          <a:spcPts val="500"/>
                        </a:spcBef>
                        <a:spcAft>
                          <a:spcPts val="1000"/>
                        </a:spcAft>
                      </a:pPr>
                      <a:r>
                        <a:rPr lang="en-US" sz="1200">
                          <a:latin typeface="Calibri"/>
                          <a:ea typeface="Calibri"/>
                          <a:cs typeface="Calibri"/>
                        </a:rPr>
                        <a:t>Gender</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Varchar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10</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Not null</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2009966" y="3194891"/>
          <a:ext cx="8128000" cy="2614200"/>
        </p:xfrm>
        <a:graphic>
          <a:graphicData uri="http://schemas.openxmlformats.org/drawingml/2006/table">
            <a:tbl>
              <a:tblPr firstRow="1" bandRow="1">
                <a:tableStyleId>{5940675A-B579-460E-94D1-54222C63F5DA}</a:tableStyleId>
              </a:tblPr>
              <a:tblGrid>
                <a:gridCol w="2032000"/>
                <a:gridCol w="2032000"/>
                <a:gridCol w="2032000"/>
                <a:gridCol w="2032000"/>
              </a:tblGrid>
              <a:tr h="435700">
                <a:tc>
                  <a:txBody>
                    <a:bodyPr/>
                    <a:lstStyle/>
                    <a:p>
                      <a:r>
                        <a:rPr lang="en-IN" sz="1100" b="1" dirty="0" smtClean="0"/>
                        <a:t>FIELD</a:t>
                      </a:r>
                      <a:endParaRPr lang="en-US" sz="1100" b="1" dirty="0"/>
                    </a:p>
                  </a:txBody>
                  <a:tcPr/>
                </a:tc>
                <a:tc>
                  <a:txBody>
                    <a:bodyPr/>
                    <a:lstStyle/>
                    <a:p>
                      <a:r>
                        <a:rPr lang="en-IN" sz="1100" b="1" dirty="0" smtClean="0"/>
                        <a:t>DATATYPE</a:t>
                      </a:r>
                      <a:endParaRPr lang="en-US" sz="1100" b="1" dirty="0"/>
                    </a:p>
                  </a:txBody>
                  <a:tcPr/>
                </a:tc>
                <a:tc>
                  <a:txBody>
                    <a:bodyPr/>
                    <a:lstStyle/>
                    <a:p>
                      <a:r>
                        <a:rPr lang="en-IN" sz="1100" b="1" dirty="0" smtClean="0"/>
                        <a:t>SIZE</a:t>
                      </a:r>
                      <a:endParaRPr lang="en-US" sz="1100" b="1" dirty="0"/>
                    </a:p>
                  </a:txBody>
                  <a:tcPr/>
                </a:tc>
                <a:tc>
                  <a:txBody>
                    <a:bodyPr/>
                    <a:lstStyle/>
                    <a:p>
                      <a:r>
                        <a:rPr lang="en-IN" sz="1100" b="1" dirty="0" smtClean="0"/>
                        <a:t>CONSTRAINT</a:t>
                      </a:r>
                      <a:endParaRPr lang="en-US" sz="1100" b="1" dirty="0"/>
                    </a:p>
                  </a:txBody>
                  <a:tcPr/>
                </a:tc>
              </a:tr>
              <a:tr h="435700">
                <a:tc>
                  <a:txBody>
                    <a:bodyPr/>
                    <a:lstStyle/>
                    <a:p>
                      <a:r>
                        <a:rPr lang="en-IN" sz="1100" dirty="0" smtClean="0"/>
                        <a:t>Product id</a:t>
                      </a:r>
                      <a:endParaRPr lang="en-US" sz="1100" dirty="0"/>
                    </a:p>
                  </a:txBody>
                  <a:tcPr/>
                </a:tc>
                <a:tc>
                  <a:txBody>
                    <a:bodyPr/>
                    <a:lstStyle/>
                    <a:p>
                      <a:r>
                        <a:rPr lang="en-IN" sz="1100" dirty="0" smtClean="0"/>
                        <a:t>Int</a:t>
                      </a:r>
                      <a:endParaRPr lang="en-US" sz="1100" dirty="0"/>
                    </a:p>
                  </a:txBody>
                  <a:tcPr/>
                </a:tc>
                <a:tc>
                  <a:txBody>
                    <a:bodyPr/>
                    <a:lstStyle/>
                    <a:p>
                      <a:r>
                        <a:rPr lang="en-IN" sz="1100" dirty="0" smtClean="0"/>
                        <a:t>10</a:t>
                      </a:r>
                      <a:endParaRPr lang="en-US" sz="1100" dirty="0"/>
                    </a:p>
                  </a:txBody>
                  <a:tcPr/>
                </a:tc>
                <a:tc>
                  <a:txBody>
                    <a:bodyPr/>
                    <a:lstStyle/>
                    <a:p>
                      <a:r>
                        <a:rPr lang="en-IN" sz="1100" dirty="0" smtClean="0"/>
                        <a:t>Product id</a:t>
                      </a:r>
                      <a:endParaRPr lang="en-US" sz="1100" dirty="0"/>
                    </a:p>
                  </a:txBody>
                  <a:tcPr/>
                </a:tc>
              </a:tr>
              <a:tr h="435700">
                <a:tc>
                  <a:txBody>
                    <a:bodyPr/>
                    <a:lstStyle/>
                    <a:p>
                      <a:r>
                        <a:rPr lang="en-IN" sz="1100" dirty="0" smtClean="0"/>
                        <a:t>Company</a:t>
                      </a:r>
                      <a:r>
                        <a:rPr lang="en-IN" sz="1100" baseline="0" dirty="0" smtClean="0"/>
                        <a:t> name</a:t>
                      </a:r>
                      <a:endParaRPr lang="en-US" sz="1100" dirty="0"/>
                    </a:p>
                  </a:txBody>
                  <a:tcPr/>
                </a:tc>
                <a:tc>
                  <a:txBody>
                    <a:bodyPr/>
                    <a:lstStyle/>
                    <a:p>
                      <a:r>
                        <a:rPr lang="en-IN" sz="1100" dirty="0" smtClean="0"/>
                        <a:t>varchar</a:t>
                      </a:r>
                      <a:endParaRPr lang="en-US" sz="1100" dirty="0"/>
                    </a:p>
                  </a:txBody>
                  <a:tcPr/>
                </a:tc>
                <a:tc>
                  <a:txBody>
                    <a:bodyPr/>
                    <a:lstStyle/>
                    <a:p>
                      <a:r>
                        <a:rPr lang="en-IN" sz="1100" dirty="0" smtClean="0"/>
                        <a:t>10</a:t>
                      </a:r>
                      <a:endParaRPr lang="en-US" sz="1100" dirty="0"/>
                    </a:p>
                  </a:txBody>
                  <a:tcPr/>
                </a:tc>
                <a:tc>
                  <a:txBody>
                    <a:bodyPr/>
                    <a:lstStyle/>
                    <a:p>
                      <a:r>
                        <a:rPr lang="en-IN" sz="1100" dirty="0" smtClean="0"/>
                        <a:t>Not null</a:t>
                      </a:r>
                      <a:endParaRPr lang="en-US" sz="1100" dirty="0"/>
                    </a:p>
                  </a:txBody>
                  <a:tcPr/>
                </a:tc>
              </a:tr>
              <a:tr h="435700">
                <a:tc>
                  <a:txBody>
                    <a:bodyPr/>
                    <a:lstStyle/>
                    <a:p>
                      <a:r>
                        <a:rPr lang="en-IN" sz="1100" dirty="0" smtClean="0"/>
                        <a:t>Product </a:t>
                      </a:r>
                      <a:r>
                        <a:rPr lang="en-IN" sz="1100" baseline="0" dirty="0" smtClean="0"/>
                        <a:t> Name</a:t>
                      </a:r>
                      <a:endParaRPr lang="en-US" sz="1100" dirty="0"/>
                    </a:p>
                  </a:txBody>
                  <a:tcPr/>
                </a:tc>
                <a:tc>
                  <a:txBody>
                    <a:bodyPr/>
                    <a:lstStyle/>
                    <a:p>
                      <a:r>
                        <a:rPr lang="en-IN" sz="1100" dirty="0" smtClean="0"/>
                        <a:t>Varchar</a:t>
                      </a:r>
                      <a:endParaRPr lang="en-US" sz="1100" dirty="0"/>
                    </a:p>
                  </a:txBody>
                  <a:tcPr/>
                </a:tc>
                <a:tc>
                  <a:txBody>
                    <a:bodyPr/>
                    <a:lstStyle/>
                    <a:p>
                      <a:r>
                        <a:rPr lang="en-IN" sz="1100" dirty="0" smtClean="0"/>
                        <a:t>30</a:t>
                      </a:r>
                      <a:endParaRPr lang="en-US" sz="1100" dirty="0"/>
                    </a:p>
                  </a:txBody>
                  <a:tcPr/>
                </a:tc>
                <a:tc>
                  <a:txBody>
                    <a:bodyPr/>
                    <a:lstStyle/>
                    <a:p>
                      <a:r>
                        <a:rPr lang="en-IN" sz="1100" dirty="0" smtClean="0"/>
                        <a:t>Not null</a:t>
                      </a:r>
                      <a:endParaRPr lang="en-US" sz="1100" dirty="0"/>
                    </a:p>
                  </a:txBody>
                  <a:tcPr/>
                </a:tc>
              </a:tr>
              <a:tr h="435700">
                <a:tc>
                  <a:txBody>
                    <a:bodyPr/>
                    <a:lstStyle/>
                    <a:p>
                      <a:r>
                        <a:rPr lang="en-IN" sz="1100" dirty="0" smtClean="0"/>
                        <a:t>Weight</a:t>
                      </a:r>
                      <a:endParaRPr lang="en-US" sz="1100" dirty="0"/>
                    </a:p>
                  </a:txBody>
                  <a:tcPr/>
                </a:tc>
                <a:tc>
                  <a:txBody>
                    <a:bodyPr/>
                    <a:lstStyle/>
                    <a:p>
                      <a:r>
                        <a:rPr lang="en-IN" sz="1100" dirty="0" smtClean="0"/>
                        <a:t>Int</a:t>
                      </a:r>
                      <a:endParaRPr lang="en-US" sz="1100" dirty="0"/>
                    </a:p>
                  </a:txBody>
                  <a:tcPr/>
                </a:tc>
                <a:tc>
                  <a:txBody>
                    <a:bodyPr/>
                    <a:lstStyle/>
                    <a:p>
                      <a:r>
                        <a:rPr lang="en-IN" sz="1100" dirty="0" smtClean="0"/>
                        <a:t>10</a:t>
                      </a:r>
                      <a:endParaRPr lang="en-US" sz="1100" dirty="0"/>
                    </a:p>
                  </a:txBody>
                  <a:tcPr/>
                </a:tc>
                <a:tc>
                  <a:txBody>
                    <a:bodyPr/>
                    <a:lstStyle/>
                    <a:p>
                      <a:r>
                        <a:rPr lang="en-IN" sz="1100" dirty="0" smtClean="0"/>
                        <a:t>Not null</a:t>
                      </a:r>
                      <a:endParaRPr lang="en-US" sz="1100" dirty="0"/>
                    </a:p>
                  </a:txBody>
                  <a:tcPr/>
                </a:tc>
              </a:tr>
              <a:tr h="435700">
                <a:tc>
                  <a:txBody>
                    <a:bodyPr/>
                    <a:lstStyle/>
                    <a:p>
                      <a:r>
                        <a:rPr lang="en-IN" sz="1100" dirty="0" smtClean="0"/>
                        <a:t>Price</a:t>
                      </a:r>
                      <a:endParaRPr lang="en-US" sz="1100" dirty="0"/>
                    </a:p>
                  </a:txBody>
                  <a:tcPr/>
                </a:tc>
                <a:tc>
                  <a:txBody>
                    <a:bodyPr/>
                    <a:lstStyle/>
                    <a:p>
                      <a:r>
                        <a:rPr lang="en-IN" sz="1100" dirty="0" smtClean="0"/>
                        <a:t>int</a:t>
                      </a:r>
                      <a:endParaRPr lang="en-US" sz="1100" dirty="0"/>
                    </a:p>
                  </a:txBody>
                  <a:tcPr/>
                </a:tc>
                <a:tc>
                  <a:txBody>
                    <a:bodyPr/>
                    <a:lstStyle/>
                    <a:p>
                      <a:r>
                        <a:rPr lang="en-IN" sz="1100" dirty="0" smtClean="0"/>
                        <a:t>10</a:t>
                      </a:r>
                      <a:endParaRPr lang="en-US" sz="1100" dirty="0"/>
                    </a:p>
                  </a:txBody>
                  <a:tcPr/>
                </a:tc>
                <a:tc>
                  <a:txBody>
                    <a:bodyPr/>
                    <a:lstStyle/>
                    <a:p>
                      <a:r>
                        <a:rPr lang="en-IN" sz="1100" dirty="0" smtClean="0"/>
                        <a:t>Not null</a:t>
                      </a:r>
                      <a:endParaRPr lang="en-US" sz="1100" dirty="0"/>
                    </a:p>
                  </a:txBody>
                  <a:tcPr/>
                </a:tc>
              </a:tr>
            </a:tbl>
          </a:graphicData>
        </a:graphic>
      </p:graphicFrame>
      <p:sp>
        <p:nvSpPr>
          <p:cNvPr id="6" name="Title 1"/>
          <p:cNvSpPr>
            <a:spLocks noGrp="1"/>
          </p:cNvSpPr>
          <p:nvPr>
            <p:ph type="title"/>
          </p:nvPr>
        </p:nvSpPr>
        <p:spPr>
          <a:xfrm>
            <a:off x="2060154" y="2467778"/>
            <a:ext cx="7856213" cy="539826"/>
          </a:xfrm>
        </p:spPr>
        <p:txBody>
          <a:bodyPr/>
          <a:lstStyle/>
          <a:p>
            <a:r>
              <a:rPr lang="en-IN" sz="1600" b="1" dirty="0" smtClean="0">
                <a:solidFill>
                  <a:schemeClr val="tx1"/>
                </a:solidFill>
              </a:rPr>
              <a:t>TABLE NAME:PRODUCT</a:t>
            </a:r>
            <a:endParaRPr lang="en-US" sz="1600" b="1"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104221" y="3437263"/>
          <a:ext cx="7381302" cy="2677100"/>
        </p:xfrm>
        <a:graphic>
          <a:graphicData uri="http://schemas.openxmlformats.org/drawingml/2006/table">
            <a:tbl>
              <a:tblPr/>
              <a:tblGrid>
                <a:gridCol w="1844926">
                  <a:extLst>
                    <a:ext uri="{9D8B030D-6E8A-4147-A177-3AD203B41FA5}">
                      <a16:colId xmlns:a16="http://schemas.microsoft.com/office/drawing/2014/main" xmlns="" val="20000"/>
                    </a:ext>
                  </a:extLst>
                </a:gridCol>
                <a:gridCol w="1844926">
                  <a:extLst>
                    <a:ext uri="{9D8B030D-6E8A-4147-A177-3AD203B41FA5}">
                      <a16:colId xmlns:a16="http://schemas.microsoft.com/office/drawing/2014/main" xmlns="" val="20001"/>
                    </a:ext>
                  </a:extLst>
                </a:gridCol>
                <a:gridCol w="1845725">
                  <a:extLst>
                    <a:ext uri="{9D8B030D-6E8A-4147-A177-3AD203B41FA5}">
                      <a16:colId xmlns:a16="http://schemas.microsoft.com/office/drawing/2014/main" xmlns="" val="20002"/>
                    </a:ext>
                  </a:extLst>
                </a:gridCol>
                <a:gridCol w="1845725">
                  <a:extLst>
                    <a:ext uri="{9D8B030D-6E8A-4147-A177-3AD203B41FA5}">
                      <a16:colId xmlns:a16="http://schemas.microsoft.com/office/drawing/2014/main" xmlns="" val="20003"/>
                    </a:ext>
                  </a:extLst>
                </a:gridCol>
              </a:tblGrid>
              <a:tr h="535420">
                <a:tc>
                  <a:txBody>
                    <a:bodyPr/>
                    <a:lstStyle/>
                    <a:p>
                      <a:pPr>
                        <a:lnSpc>
                          <a:spcPct val="150000"/>
                        </a:lnSpc>
                        <a:spcBef>
                          <a:spcPts val="500"/>
                        </a:spcBef>
                        <a:spcAft>
                          <a:spcPts val="1000"/>
                        </a:spcAft>
                      </a:pPr>
                      <a:r>
                        <a:rPr lang="en-US" sz="1200" b="1" dirty="0">
                          <a:latin typeface="Calibri"/>
                          <a:ea typeface="Calibri"/>
                          <a:cs typeface="Calibri"/>
                        </a:rPr>
                        <a:t>FIELD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a:latin typeface="Calibri"/>
                          <a:ea typeface="Calibri"/>
                          <a:cs typeface="Calibri"/>
                        </a:rPr>
                        <a:t>DATA TYPE</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dirty="0">
                          <a:latin typeface="Calibri"/>
                          <a:ea typeface="Calibri"/>
                          <a:cs typeface="Calibri"/>
                        </a:rPr>
                        <a:t>SIZE</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b="1">
                          <a:latin typeface="Calibri"/>
                          <a:ea typeface="Calibri"/>
                          <a:cs typeface="Calibri"/>
                        </a:rPr>
                        <a:t>CONSTRAINT</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535420">
                <a:tc>
                  <a:txBody>
                    <a:bodyPr/>
                    <a:lstStyle/>
                    <a:p>
                      <a:pPr>
                        <a:lnSpc>
                          <a:spcPct val="150000"/>
                        </a:lnSpc>
                        <a:spcBef>
                          <a:spcPts val="500"/>
                        </a:spcBef>
                        <a:spcAft>
                          <a:spcPts val="1000"/>
                        </a:spcAft>
                      </a:pPr>
                      <a:r>
                        <a:rPr lang="en-US" sz="1200" dirty="0" smtClean="0">
                          <a:latin typeface="Calibri"/>
                          <a:ea typeface="Calibri"/>
                          <a:cs typeface="Calibri"/>
                        </a:rPr>
                        <a:t>Purchas</a:t>
                      </a:r>
                      <a:r>
                        <a:rPr lang="en-US" sz="1200" baseline="0" dirty="0" smtClean="0">
                          <a:latin typeface="Calibri"/>
                          <a:ea typeface="Calibri"/>
                          <a:cs typeface="Calibri"/>
                        </a:rPr>
                        <a:t> </a:t>
                      </a:r>
                      <a:r>
                        <a:rPr lang="en-US" sz="1200" dirty="0">
                          <a:latin typeface="Calibri"/>
                          <a:ea typeface="Calibri"/>
                          <a:cs typeface="Calibri"/>
                        </a:rPr>
                        <a:t>id</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Int</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10</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Primary key</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535420">
                <a:tc>
                  <a:txBody>
                    <a:bodyPr/>
                    <a:lstStyle/>
                    <a:p>
                      <a:pPr>
                        <a:lnSpc>
                          <a:spcPct val="150000"/>
                        </a:lnSpc>
                        <a:spcBef>
                          <a:spcPts val="500"/>
                        </a:spcBef>
                        <a:spcAft>
                          <a:spcPts val="1000"/>
                        </a:spcAft>
                      </a:pPr>
                      <a:r>
                        <a:rPr lang="en-US" sz="1200" dirty="0">
                          <a:latin typeface="Calibri"/>
                          <a:ea typeface="Calibri"/>
                          <a:cs typeface="Calibri"/>
                        </a:rPr>
                        <a:t>Product </a:t>
                      </a:r>
                      <a:r>
                        <a:rPr lang="en-US" sz="1200" dirty="0" smtClean="0">
                          <a:latin typeface="Calibri"/>
                          <a:ea typeface="Calibri"/>
                          <a:cs typeface="Calibri"/>
                        </a:rPr>
                        <a:t>Name</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smtClean="0">
                          <a:latin typeface="Calibri"/>
                          <a:ea typeface="Calibri"/>
                          <a:cs typeface="Calibri"/>
                        </a:rPr>
                        <a:t>Varchar</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10</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a:latin typeface="Calibri"/>
                          <a:ea typeface="Calibri"/>
                          <a:cs typeface="Calibri"/>
                        </a:rPr>
                        <a:t>Foreign key</a:t>
                      </a:r>
                      <a:endParaRPr lang="en-US" sz="110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535420">
                <a:tc>
                  <a:txBody>
                    <a:bodyPr/>
                    <a:lstStyle/>
                    <a:p>
                      <a:pPr>
                        <a:lnSpc>
                          <a:spcPct val="150000"/>
                        </a:lnSpc>
                        <a:spcBef>
                          <a:spcPts val="500"/>
                        </a:spcBef>
                        <a:spcAft>
                          <a:spcPts val="1000"/>
                        </a:spcAft>
                      </a:pPr>
                      <a:r>
                        <a:rPr lang="en-US" sz="1200" dirty="0">
                          <a:latin typeface="Calibri"/>
                          <a:ea typeface="Calibri"/>
                          <a:cs typeface="Calibri"/>
                        </a:rPr>
                        <a:t>Quantity</a:t>
                      </a:r>
                      <a:r>
                        <a:rPr lang="en-US" sz="1200" baseline="0" dirty="0">
                          <a:latin typeface="Calibri"/>
                          <a:ea typeface="Calibri"/>
                          <a:cs typeface="Calibri"/>
                        </a:rPr>
                        <a:t> </a:t>
                      </a:r>
                      <a:r>
                        <a:rPr lang="en-US" sz="1200" dirty="0">
                          <a:latin typeface="Calibri"/>
                          <a:ea typeface="Calibri"/>
                          <a:cs typeface="Calibri"/>
                        </a:rPr>
                        <a:t> </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Int</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a:latin typeface="Calibri"/>
                          <a:ea typeface="Calibri"/>
                          <a:cs typeface="Calibri"/>
                        </a:rPr>
                        <a:t>5</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a:latin typeface="Calibri"/>
                          <a:ea typeface="Calibri"/>
                          <a:cs typeface="Calibri"/>
                        </a:rPr>
                        <a:t>Not</a:t>
                      </a:r>
                      <a:r>
                        <a:rPr lang="en-IN" sz="1200" baseline="0" dirty="0">
                          <a:latin typeface="Calibri"/>
                          <a:ea typeface="Calibri"/>
                          <a:cs typeface="Calibri"/>
                        </a:rPr>
                        <a:t> null</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535420">
                <a:tc>
                  <a:txBody>
                    <a:bodyPr/>
                    <a:lstStyle/>
                    <a:p>
                      <a:pPr>
                        <a:lnSpc>
                          <a:spcPct val="150000"/>
                        </a:lnSpc>
                        <a:spcBef>
                          <a:spcPts val="500"/>
                        </a:spcBef>
                        <a:spcAft>
                          <a:spcPts val="1000"/>
                        </a:spcAft>
                      </a:pPr>
                      <a:r>
                        <a:rPr lang="en-IN" sz="1200" dirty="0" smtClean="0">
                          <a:latin typeface="Calibri"/>
                          <a:ea typeface="Calibri"/>
                          <a:cs typeface="Calibri"/>
                        </a:rPr>
                        <a:t>Price</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smtClean="0">
                          <a:latin typeface="Calibri"/>
                          <a:ea typeface="Calibri"/>
                          <a:cs typeface="Calibri"/>
                        </a:rPr>
                        <a:t>Int</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IN" sz="1200" dirty="0">
                          <a:latin typeface="Calibri"/>
                          <a:ea typeface="Calibri"/>
                          <a:cs typeface="Calibri"/>
                        </a:rPr>
                        <a:t>10</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50000"/>
                        </a:lnSpc>
                        <a:spcBef>
                          <a:spcPts val="500"/>
                        </a:spcBef>
                        <a:spcAft>
                          <a:spcPts val="1000"/>
                        </a:spcAft>
                      </a:pPr>
                      <a:r>
                        <a:rPr lang="en-US" sz="1200" dirty="0">
                          <a:latin typeface="Calibri"/>
                          <a:ea typeface="Calibri"/>
                          <a:cs typeface="Calibri"/>
                        </a:rPr>
                        <a:t>Not null</a:t>
                      </a:r>
                      <a:endParaRPr lang="en-US" sz="1100" dirty="0">
                        <a:latin typeface="Calibri"/>
                        <a:ea typeface="Calibri"/>
                        <a:cs typeface="Lath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bl>
          </a:graphicData>
        </a:graphic>
      </p:graphicFrame>
      <p:sp>
        <p:nvSpPr>
          <p:cNvPr id="5" name="Rectangle 4"/>
          <p:cNvSpPr/>
          <p:nvPr/>
        </p:nvSpPr>
        <p:spPr>
          <a:xfrm>
            <a:off x="2104222" y="2721166"/>
            <a:ext cx="5144497" cy="369332"/>
          </a:xfrm>
          <a:prstGeom prst="rect">
            <a:avLst/>
          </a:prstGeom>
        </p:spPr>
        <p:txBody>
          <a:bodyPr wrap="square">
            <a:spAutoFit/>
          </a:bodyPr>
          <a:lstStyle/>
          <a:p>
            <a:r>
              <a:rPr lang="en-US" b="1" dirty="0"/>
              <a:t>TABLE NAME: PURCHASE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126255" y="2710148"/>
            <a:ext cx="5172158" cy="369332"/>
          </a:xfrm>
          <a:prstGeom prst="rect">
            <a:avLst/>
          </a:prstGeom>
        </p:spPr>
        <p:txBody>
          <a:bodyPr wrap="square">
            <a:spAutoFit/>
          </a:bodyPr>
          <a:lstStyle/>
          <a:p>
            <a:r>
              <a:rPr lang="en-US" b="1" dirty="0"/>
              <a:t>  TABLE NAME: SALES</a:t>
            </a:r>
          </a:p>
        </p:txBody>
      </p:sp>
      <p:graphicFrame>
        <p:nvGraphicFramePr>
          <p:cNvPr id="8" name="Table 7"/>
          <p:cNvGraphicFramePr>
            <a:graphicFrameLocks noGrp="1"/>
          </p:cNvGraphicFramePr>
          <p:nvPr/>
        </p:nvGraphicFramePr>
        <p:xfrm>
          <a:off x="2142168" y="3481332"/>
          <a:ext cx="8128000" cy="2786735"/>
        </p:xfrm>
        <a:graphic>
          <a:graphicData uri="http://schemas.openxmlformats.org/drawingml/2006/table">
            <a:tbl>
              <a:tblPr firstRow="1" bandRow="1">
                <a:tableStyleId>{5940675A-B579-460E-94D1-54222C63F5DA}</a:tableStyleId>
              </a:tblPr>
              <a:tblGrid>
                <a:gridCol w="2032000"/>
                <a:gridCol w="2032000"/>
                <a:gridCol w="2032000"/>
                <a:gridCol w="2032000"/>
              </a:tblGrid>
              <a:tr h="398105">
                <a:tc>
                  <a:txBody>
                    <a:bodyPr/>
                    <a:lstStyle/>
                    <a:p>
                      <a:r>
                        <a:rPr lang="en-IN" sz="1200" dirty="0" smtClean="0"/>
                        <a:t>FILED</a:t>
                      </a:r>
                      <a:endParaRPr lang="en-US" sz="1200" dirty="0"/>
                    </a:p>
                  </a:txBody>
                  <a:tcPr/>
                </a:tc>
                <a:tc>
                  <a:txBody>
                    <a:bodyPr/>
                    <a:lstStyle/>
                    <a:p>
                      <a:r>
                        <a:rPr lang="en-IN" sz="1200" dirty="0" smtClean="0"/>
                        <a:t>DATA TYPE</a:t>
                      </a:r>
                      <a:endParaRPr lang="en-US" sz="1200" dirty="0"/>
                    </a:p>
                  </a:txBody>
                  <a:tcPr/>
                </a:tc>
                <a:tc>
                  <a:txBody>
                    <a:bodyPr/>
                    <a:lstStyle/>
                    <a:p>
                      <a:r>
                        <a:rPr lang="en-IN" sz="1200" dirty="0" smtClean="0"/>
                        <a:t>SIZE</a:t>
                      </a:r>
                      <a:endParaRPr lang="en-US" sz="1200" dirty="0"/>
                    </a:p>
                  </a:txBody>
                  <a:tcPr/>
                </a:tc>
                <a:tc>
                  <a:txBody>
                    <a:bodyPr/>
                    <a:lstStyle/>
                    <a:p>
                      <a:r>
                        <a:rPr lang="en-IN" sz="1200" dirty="0" smtClean="0"/>
                        <a:t>CONSTRAINT</a:t>
                      </a:r>
                      <a:endParaRPr lang="en-US" sz="1200" dirty="0"/>
                    </a:p>
                  </a:txBody>
                  <a:tcPr/>
                </a:tc>
              </a:tr>
              <a:tr h="398105">
                <a:tc>
                  <a:txBody>
                    <a:bodyPr/>
                    <a:lstStyle/>
                    <a:p>
                      <a:r>
                        <a:rPr lang="en-IN" sz="1200" dirty="0" smtClean="0"/>
                        <a:t>Sales</a:t>
                      </a:r>
                      <a:r>
                        <a:rPr lang="en-IN" sz="1200" baseline="0" dirty="0" smtClean="0"/>
                        <a:t>id</a:t>
                      </a:r>
                      <a:endParaRPr lang="en-US" sz="1200" dirty="0"/>
                    </a:p>
                  </a:txBody>
                  <a:tcPr/>
                </a:tc>
                <a:tc>
                  <a:txBody>
                    <a:bodyPr/>
                    <a:lstStyle/>
                    <a:p>
                      <a:r>
                        <a:rPr lang="en-IN" sz="1200" dirty="0" smtClean="0"/>
                        <a:t>int</a:t>
                      </a:r>
                      <a:endParaRPr lang="en-US" sz="1200" dirty="0"/>
                    </a:p>
                  </a:txBody>
                  <a:tcPr/>
                </a:tc>
                <a:tc>
                  <a:txBody>
                    <a:bodyPr/>
                    <a:lstStyle/>
                    <a:p>
                      <a:r>
                        <a:rPr lang="en-IN" sz="1200" dirty="0" smtClean="0"/>
                        <a:t>10</a:t>
                      </a:r>
                      <a:endParaRPr lang="en-US" sz="1200" dirty="0"/>
                    </a:p>
                  </a:txBody>
                  <a:tcPr/>
                </a:tc>
                <a:tc>
                  <a:txBody>
                    <a:bodyPr/>
                    <a:lstStyle/>
                    <a:p>
                      <a:r>
                        <a:rPr lang="en-IN" sz="1200" dirty="0" smtClean="0"/>
                        <a:t>Primary key</a:t>
                      </a:r>
                      <a:endParaRPr lang="en-US" sz="1200" dirty="0"/>
                    </a:p>
                  </a:txBody>
                  <a:tcPr/>
                </a:tc>
              </a:tr>
              <a:tr h="398105">
                <a:tc>
                  <a:txBody>
                    <a:bodyPr/>
                    <a:lstStyle/>
                    <a:p>
                      <a:r>
                        <a:rPr lang="en-IN" sz="1200" dirty="0" smtClean="0"/>
                        <a:t>Mobile No</a:t>
                      </a:r>
                      <a:endParaRPr lang="en-US" sz="1200" dirty="0"/>
                    </a:p>
                  </a:txBody>
                  <a:tcPr/>
                </a:tc>
                <a:tc>
                  <a:txBody>
                    <a:bodyPr/>
                    <a:lstStyle/>
                    <a:p>
                      <a:r>
                        <a:rPr lang="en-IN" sz="1200" dirty="0" smtClean="0"/>
                        <a:t>int</a:t>
                      </a:r>
                      <a:endParaRPr lang="en-US" sz="1200" dirty="0"/>
                    </a:p>
                  </a:txBody>
                  <a:tcPr/>
                </a:tc>
                <a:tc>
                  <a:txBody>
                    <a:bodyPr/>
                    <a:lstStyle/>
                    <a:p>
                      <a:r>
                        <a:rPr lang="en-IN" sz="1200" dirty="0" smtClean="0"/>
                        <a:t>10</a:t>
                      </a:r>
                      <a:endParaRPr lang="en-US" sz="1200" dirty="0"/>
                    </a:p>
                  </a:txBody>
                  <a:tcPr/>
                </a:tc>
                <a:tc>
                  <a:txBody>
                    <a:bodyPr/>
                    <a:lstStyle/>
                    <a:p>
                      <a:r>
                        <a:rPr lang="en-IN" sz="1200" dirty="0" smtClean="0"/>
                        <a:t>Foreign</a:t>
                      </a:r>
                      <a:r>
                        <a:rPr lang="en-IN" sz="1200" baseline="0" dirty="0" smtClean="0"/>
                        <a:t> key</a:t>
                      </a:r>
                      <a:endParaRPr lang="en-US" sz="1200" dirty="0"/>
                    </a:p>
                  </a:txBody>
                  <a:tcPr/>
                </a:tc>
              </a:tr>
              <a:tr h="398105">
                <a:tc>
                  <a:txBody>
                    <a:bodyPr/>
                    <a:lstStyle/>
                    <a:p>
                      <a:r>
                        <a:rPr lang="en-IN" sz="1200" dirty="0" smtClean="0"/>
                        <a:t>Customer Name</a:t>
                      </a:r>
                      <a:endParaRPr lang="en-US" sz="1200" dirty="0"/>
                    </a:p>
                  </a:txBody>
                  <a:tcPr/>
                </a:tc>
                <a:tc>
                  <a:txBody>
                    <a:bodyPr/>
                    <a:lstStyle/>
                    <a:p>
                      <a:r>
                        <a:rPr lang="en-IN" sz="1200" dirty="0" smtClean="0"/>
                        <a:t>varchar</a:t>
                      </a:r>
                      <a:endParaRPr lang="en-US" sz="1200" dirty="0"/>
                    </a:p>
                  </a:txBody>
                  <a:tcPr/>
                </a:tc>
                <a:tc>
                  <a:txBody>
                    <a:bodyPr/>
                    <a:lstStyle/>
                    <a:p>
                      <a:r>
                        <a:rPr lang="en-IN" sz="1200" dirty="0" smtClean="0"/>
                        <a:t>10</a:t>
                      </a:r>
                      <a:endParaRPr lang="en-US" sz="1200" dirty="0"/>
                    </a:p>
                  </a:txBody>
                  <a:tcPr/>
                </a:tc>
                <a:tc>
                  <a:txBody>
                    <a:bodyPr/>
                    <a:lstStyle/>
                    <a:p>
                      <a:r>
                        <a:rPr lang="en-IN" sz="1200" dirty="0" smtClean="0"/>
                        <a:t>Foreign key</a:t>
                      </a:r>
                      <a:endParaRPr lang="en-US" sz="1200" dirty="0"/>
                    </a:p>
                  </a:txBody>
                  <a:tcPr/>
                </a:tc>
              </a:tr>
              <a:tr h="398105">
                <a:tc>
                  <a:txBody>
                    <a:bodyPr/>
                    <a:lstStyle/>
                    <a:p>
                      <a:r>
                        <a:rPr lang="en-IN" sz="1200" dirty="0" smtClean="0"/>
                        <a:t>Product Name</a:t>
                      </a:r>
                      <a:endParaRPr lang="en-US" sz="1200" dirty="0"/>
                    </a:p>
                  </a:txBody>
                  <a:tcPr/>
                </a:tc>
                <a:tc>
                  <a:txBody>
                    <a:bodyPr/>
                    <a:lstStyle/>
                    <a:p>
                      <a:r>
                        <a:rPr lang="en-IN" sz="1200" dirty="0" smtClean="0"/>
                        <a:t>varchar</a:t>
                      </a:r>
                      <a:endParaRPr lang="en-US" sz="1200" dirty="0"/>
                    </a:p>
                  </a:txBody>
                  <a:tcPr/>
                </a:tc>
                <a:tc>
                  <a:txBody>
                    <a:bodyPr/>
                    <a:lstStyle/>
                    <a:p>
                      <a:r>
                        <a:rPr lang="en-IN" sz="1200" dirty="0" smtClean="0"/>
                        <a:t>10</a:t>
                      </a:r>
                      <a:endParaRPr lang="en-US" sz="1200" dirty="0"/>
                    </a:p>
                  </a:txBody>
                  <a:tcPr/>
                </a:tc>
                <a:tc>
                  <a:txBody>
                    <a:bodyPr/>
                    <a:lstStyle/>
                    <a:p>
                      <a:r>
                        <a:rPr lang="en-IN" sz="1200" dirty="0" smtClean="0"/>
                        <a:t>Foreign key</a:t>
                      </a:r>
                      <a:endParaRPr lang="en-US" sz="1200" dirty="0"/>
                    </a:p>
                  </a:txBody>
                  <a:tcPr/>
                </a:tc>
              </a:tr>
              <a:tr h="398105">
                <a:tc>
                  <a:txBody>
                    <a:bodyPr/>
                    <a:lstStyle/>
                    <a:p>
                      <a:r>
                        <a:rPr lang="en-IN" sz="1200" dirty="0" smtClean="0"/>
                        <a:t>Quantity</a:t>
                      </a:r>
                      <a:endParaRPr lang="en-US" sz="1200" dirty="0"/>
                    </a:p>
                  </a:txBody>
                  <a:tcPr/>
                </a:tc>
                <a:tc>
                  <a:txBody>
                    <a:bodyPr/>
                    <a:lstStyle/>
                    <a:p>
                      <a:r>
                        <a:rPr lang="en-IN" sz="1200" dirty="0" smtClean="0"/>
                        <a:t>int</a:t>
                      </a:r>
                      <a:endParaRPr lang="en-US" sz="1200" dirty="0"/>
                    </a:p>
                  </a:txBody>
                  <a:tcPr/>
                </a:tc>
                <a:tc>
                  <a:txBody>
                    <a:bodyPr/>
                    <a:lstStyle/>
                    <a:p>
                      <a:r>
                        <a:rPr lang="en-IN" sz="1200" dirty="0" smtClean="0"/>
                        <a:t>5</a:t>
                      </a:r>
                      <a:endParaRPr lang="en-US" sz="1200" dirty="0"/>
                    </a:p>
                  </a:txBody>
                  <a:tcPr/>
                </a:tc>
                <a:tc>
                  <a:txBody>
                    <a:bodyPr/>
                    <a:lstStyle/>
                    <a:p>
                      <a:r>
                        <a:rPr lang="en-IN" sz="1200" dirty="0" smtClean="0"/>
                        <a:t>Not null</a:t>
                      </a:r>
                      <a:endParaRPr lang="en-US" sz="1200" dirty="0"/>
                    </a:p>
                  </a:txBody>
                  <a:tcPr/>
                </a:tc>
              </a:tr>
              <a:tr h="398105">
                <a:tc>
                  <a:txBody>
                    <a:bodyPr/>
                    <a:lstStyle/>
                    <a:p>
                      <a:r>
                        <a:rPr lang="en-IN" sz="1200" dirty="0" smtClean="0"/>
                        <a:t>Price</a:t>
                      </a:r>
                      <a:endParaRPr lang="en-US" sz="1200" dirty="0"/>
                    </a:p>
                  </a:txBody>
                  <a:tcPr/>
                </a:tc>
                <a:tc>
                  <a:txBody>
                    <a:bodyPr/>
                    <a:lstStyle/>
                    <a:p>
                      <a:r>
                        <a:rPr lang="en-IN" sz="1200" dirty="0" smtClean="0"/>
                        <a:t>int</a:t>
                      </a:r>
                      <a:endParaRPr lang="en-US" sz="1200" dirty="0"/>
                    </a:p>
                  </a:txBody>
                  <a:tcPr/>
                </a:tc>
                <a:tc>
                  <a:txBody>
                    <a:bodyPr/>
                    <a:lstStyle/>
                    <a:p>
                      <a:r>
                        <a:rPr lang="en-IN" sz="1200" dirty="0" smtClean="0"/>
                        <a:t>10</a:t>
                      </a:r>
                      <a:endParaRPr lang="en-US" sz="1200" dirty="0"/>
                    </a:p>
                  </a:txBody>
                  <a:tcPr/>
                </a:tc>
                <a:tc>
                  <a:txBody>
                    <a:bodyPr/>
                    <a:lstStyle/>
                    <a:p>
                      <a:r>
                        <a:rPr lang="en-IN" sz="1200" dirty="0" smtClean="0"/>
                        <a:t>Not</a:t>
                      </a:r>
                      <a:r>
                        <a:rPr lang="en-IN" sz="1200" baseline="0" dirty="0" smtClean="0"/>
                        <a:t> null</a:t>
                      </a:r>
                      <a:endParaRPr lang="en-US" sz="1200" dirty="0"/>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6" name="Rectangle 5"/>
          <p:cNvSpPr/>
          <p:nvPr/>
        </p:nvSpPr>
        <p:spPr>
          <a:xfrm>
            <a:off x="1476260" y="2533880"/>
            <a:ext cx="5822154" cy="646331"/>
          </a:xfrm>
          <a:prstGeom prst="rect">
            <a:avLst/>
          </a:prstGeom>
        </p:spPr>
        <p:txBody>
          <a:bodyPr wrap="square">
            <a:spAutoFit/>
          </a:bodyPr>
          <a:lstStyle/>
          <a:p>
            <a:endParaRPr lang="en-IN" b="1" dirty="0"/>
          </a:p>
          <a:p>
            <a:endParaRPr lang="en-US" b="1" dirty="0"/>
          </a:p>
        </p:txBody>
      </p:sp>
      <p:sp>
        <p:nvSpPr>
          <p:cNvPr id="7" name="Rectangle 6"/>
          <p:cNvSpPr/>
          <p:nvPr/>
        </p:nvSpPr>
        <p:spPr>
          <a:xfrm>
            <a:off x="2181340" y="2467778"/>
            <a:ext cx="5117073" cy="646331"/>
          </a:xfrm>
          <a:prstGeom prst="rect">
            <a:avLst/>
          </a:prstGeom>
        </p:spPr>
        <p:txBody>
          <a:bodyPr wrap="square">
            <a:spAutoFit/>
          </a:bodyPr>
          <a:lstStyle/>
          <a:p>
            <a:r>
              <a:rPr lang="en-US" b="1" dirty="0"/>
              <a:t>TABLE NAME: STOCK</a:t>
            </a:r>
          </a:p>
          <a:p>
            <a:endParaRPr lang="en-US" b="1" dirty="0"/>
          </a:p>
        </p:txBody>
      </p:sp>
      <p:graphicFrame>
        <p:nvGraphicFramePr>
          <p:cNvPr id="8" name="Table 7"/>
          <p:cNvGraphicFramePr>
            <a:graphicFrameLocks noGrp="1"/>
          </p:cNvGraphicFramePr>
          <p:nvPr/>
        </p:nvGraphicFramePr>
        <p:xfrm>
          <a:off x="2230303" y="3569465"/>
          <a:ext cx="8128000" cy="2754219"/>
        </p:xfrm>
        <a:graphic>
          <a:graphicData uri="http://schemas.openxmlformats.org/drawingml/2006/table">
            <a:tbl>
              <a:tblPr firstRow="1" bandRow="1">
                <a:tableStyleId>{5940675A-B579-460E-94D1-54222C63F5DA}</a:tableStyleId>
              </a:tblPr>
              <a:tblGrid>
                <a:gridCol w="2032000"/>
                <a:gridCol w="2032000"/>
                <a:gridCol w="2032000"/>
                <a:gridCol w="2032000"/>
              </a:tblGrid>
              <a:tr h="434469">
                <a:tc>
                  <a:txBody>
                    <a:bodyPr/>
                    <a:lstStyle/>
                    <a:p>
                      <a:r>
                        <a:rPr lang="en-IN" sz="1200" dirty="0" smtClean="0"/>
                        <a:t>FIELD</a:t>
                      </a:r>
                      <a:endParaRPr lang="en-US" sz="1200" dirty="0"/>
                    </a:p>
                  </a:txBody>
                  <a:tcPr/>
                </a:tc>
                <a:tc>
                  <a:txBody>
                    <a:bodyPr/>
                    <a:lstStyle/>
                    <a:p>
                      <a:r>
                        <a:rPr lang="en-IN" sz="1200" dirty="0" smtClean="0"/>
                        <a:t>DATA TYPE </a:t>
                      </a:r>
                      <a:endParaRPr lang="en-US" sz="1200" dirty="0"/>
                    </a:p>
                  </a:txBody>
                  <a:tcPr/>
                </a:tc>
                <a:tc>
                  <a:txBody>
                    <a:bodyPr/>
                    <a:lstStyle/>
                    <a:p>
                      <a:r>
                        <a:rPr lang="en-IN" sz="1200" dirty="0" smtClean="0"/>
                        <a:t>SIZE</a:t>
                      </a:r>
                      <a:endParaRPr lang="en-US" sz="1200" dirty="0"/>
                    </a:p>
                  </a:txBody>
                  <a:tcPr/>
                </a:tc>
                <a:tc>
                  <a:txBody>
                    <a:bodyPr/>
                    <a:lstStyle/>
                    <a:p>
                      <a:r>
                        <a:rPr lang="en-IN" sz="1200" dirty="0" smtClean="0"/>
                        <a:t>CONSTRAINT</a:t>
                      </a:r>
                      <a:endParaRPr lang="en-US" sz="1200" dirty="0"/>
                    </a:p>
                  </a:txBody>
                  <a:tcPr/>
                </a:tc>
              </a:tr>
              <a:tr h="463950">
                <a:tc>
                  <a:txBody>
                    <a:bodyPr/>
                    <a:lstStyle/>
                    <a:p>
                      <a:r>
                        <a:rPr lang="en-IN" sz="1200" dirty="0" smtClean="0"/>
                        <a:t>Stockid</a:t>
                      </a:r>
                      <a:endParaRPr lang="en-US" sz="1200" dirty="0"/>
                    </a:p>
                  </a:txBody>
                  <a:tcPr/>
                </a:tc>
                <a:tc>
                  <a:txBody>
                    <a:bodyPr/>
                    <a:lstStyle/>
                    <a:p>
                      <a:r>
                        <a:rPr lang="en-IN" sz="1200" dirty="0" smtClean="0"/>
                        <a:t>int</a:t>
                      </a:r>
                      <a:endParaRPr lang="en-US" sz="1200" dirty="0"/>
                    </a:p>
                  </a:txBody>
                  <a:tcPr/>
                </a:tc>
                <a:tc>
                  <a:txBody>
                    <a:bodyPr/>
                    <a:lstStyle/>
                    <a:p>
                      <a:r>
                        <a:rPr lang="en-IN" sz="1200" dirty="0" smtClean="0"/>
                        <a:t>10</a:t>
                      </a:r>
                      <a:endParaRPr lang="en-US" sz="1200" dirty="0"/>
                    </a:p>
                  </a:txBody>
                  <a:tcPr/>
                </a:tc>
                <a:tc>
                  <a:txBody>
                    <a:bodyPr/>
                    <a:lstStyle/>
                    <a:p>
                      <a:r>
                        <a:rPr lang="en-IN" sz="1200" dirty="0" smtClean="0"/>
                        <a:t>Primary key</a:t>
                      </a:r>
                      <a:endParaRPr lang="en-US" sz="1200" dirty="0"/>
                    </a:p>
                  </a:txBody>
                  <a:tcPr/>
                </a:tc>
              </a:tr>
              <a:tr h="463950">
                <a:tc>
                  <a:txBody>
                    <a:bodyPr/>
                    <a:lstStyle/>
                    <a:p>
                      <a:r>
                        <a:rPr lang="en-IN" sz="1200" dirty="0" smtClean="0"/>
                        <a:t>Company Name</a:t>
                      </a:r>
                      <a:endParaRPr lang="en-US" sz="1200" dirty="0"/>
                    </a:p>
                  </a:txBody>
                  <a:tcPr/>
                </a:tc>
                <a:tc>
                  <a:txBody>
                    <a:bodyPr/>
                    <a:lstStyle/>
                    <a:p>
                      <a:r>
                        <a:rPr lang="en-IN" sz="1200" dirty="0" smtClean="0"/>
                        <a:t>Varchar</a:t>
                      </a:r>
                      <a:endParaRPr lang="en-US" sz="1200" dirty="0"/>
                    </a:p>
                  </a:txBody>
                  <a:tcPr/>
                </a:tc>
                <a:tc>
                  <a:txBody>
                    <a:bodyPr/>
                    <a:lstStyle/>
                    <a:p>
                      <a:r>
                        <a:rPr lang="en-IN" sz="1200" dirty="0" smtClean="0"/>
                        <a:t>10</a:t>
                      </a:r>
                      <a:endParaRPr lang="en-US" sz="1200" dirty="0"/>
                    </a:p>
                  </a:txBody>
                  <a:tcPr/>
                </a:tc>
                <a:tc>
                  <a:txBody>
                    <a:bodyPr/>
                    <a:lstStyle/>
                    <a:p>
                      <a:r>
                        <a:rPr lang="en-IN" sz="1200" dirty="0" smtClean="0"/>
                        <a:t>Foreign key</a:t>
                      </a:r>
                      <a:endParaRPr lang="en-US" sz="1200" dirty="0"/>
                    </a:p>
                  </a:txBody>
                  <a:tcPr/>
                </a:tc>
              </a:tr>
              <a:tr h="463950">
                <a:tc>
                  <a:txBody>
                    <a:bodyPr/>
                    <a:lstStyle/>
                    <a:p>
                      <a:r>
                        <a:rPr lang="en-IN" sz="1200" dirty="0" smtClean="0"/>
                        <a:t>Product Name</a:t>
                      </a:r>
                      <a:endParaRPr lang="en-US" sz="1200" dirty="0"/>
                    </a:p>
                  </a:txBody>
                  <a:tcPr/>
                </a:tc>
                <a:tc>
                  <a:txBody>
                    <a:bodyPr/>
                    <a:lstStyle/>
                    <a:p>
                      <a:r>
                        <a:rPr lang="en-IN" sz="1200" dirty="0" smtClean="0"/>
                        <a:t>Varchar</a:t>
                      </a:r>
                      <a:endParaRPr lang="en-US" sz="1200" dirty="0"/>
                    </a:p>
                  </a:txBody>
                  <a:tcPr/>
                </a:tc>
                <a:tc>
                  <a:txBody>
                    <a:bodyPr/>
                    <a:lstStyle/>
                    <a:p>
                      <a:r>
                        <a:rPr lang="en-IN" sz="1200" dirty="0" smtClean="0"/>
                        <a:t>10</a:t>
                      </a:r>
                      <a:endParaRPr lang="en-US" sz="1200" dirty="0"/>
                    </a:p>
                  </a:txBody>
                  <a:tcPr/>
                </a:tc>
                <a:tc>
                  <a:txBody>
                    <a:bodyPr/>
                    <a:lstStyle/>
                    <a:p>
                      <a:r>
                        <a:rPr lang="en-IN" sz="1200" dirty="0" smtClean="0"/>
                        <a:t>Foreign key</a:t>
                      </a:r>
                      <a:endParaRPr lang="en-US" sz="1200" dirty="0"/>
                    </a:p>
                  </a:txBody>
                  <a:tcPr/>
                </a:tc>
              </a:tr>
              <a:tr h="463950">
                <a:tc>
                  <a:txBody>
                    <a:bodyPr/>
                    <a:lstStyle/>
                    <a:p>
                      <a:r>
                        <a:rPr lang="en-IN" sz="1200" dirty="0" smtClean="0"/>
                        <a:t>Quantity</a:t>
                      </a:r>
                      <a:endParaRPr lang="en-US" sz="1200" dirty="0"/>
                    </a:p>
                  </a:txBody>
                  <a:tcPr/>
                </a:tc>
                <a:tc>
                  <a:txBody>
                    <a:bodyPr/>
                    <a:lstStyle/>
                    <a:p>
                      <a:r>
                        <a:rPr lang="en-IN" sz="1200" dirty="0" smtClean="0"/>
                        <a:t>Int</a:t>
                      </a:r>
                      <a:endParaRPr lang="en-US" sz="1200" dirty="0"/>
                    </a:p>
                  </a:txBody>
                  <a:tcPr/>
                </a:tc>
                <a:tc>
                  <a:txBody>
                    <a:bodyPr/>
                    <a:lstStyle/>
                    <a:p>
                      <a:r>
                        <a:rPr lang="en-IN" sz="1200" dirty="0" smtClean="0"/>
                        <a:t>5</a:t>
                      </a:r>
                      <a:endParaRPr lang="en-US" sz="1200" dirty="0"/>
                    </a:p>
                  </a:txBody>
                  <a:tcPr/>
                </a:tc>
                <a:tc>
                  <a:txBody>
                    <a:bodyPr/>
                    <a:lstStyle/>
                    <a:p>
                      <a:r>
                        <a:rPr lang="en-IN" sz="1200" dirty="0" smtClean="0"/>
                        <a:t>Not null</a:t>
                      </a:r>
                      <a:endParaRPr lang="en-US" sz="1200" dirty="0"/>
                    </a:p>
                  </a:txBody>
                  <a:tcPr/>
                </a:tc>
              </a:tr>
              <a:tr h="463950">
                <a:tc>
                  <a:txBody>
                    <a:bodyPr/>
                    <a:lstStyle/>
                    <a:p>
                      <a:r>
                        <a:rPr lang="en-IN" sz="1200" dirty="0" smtClean="0"/>
                        <a:t>Price</a:t>
                      </a:r>
                      <a:endParaRPr lang="en-US" sz="1200" dirty="0"/>
                    </a:p>
                  </a:txBody>
                  <a:tcPr/>
                </a:tc>
                <a:tc>
                  <a:txBody>
                    <a:bodyPr/>
                    <a:lstStyle/>
                    <a:p>
                      <a:r>
                        <a:rPr lang="en-IN" sz="1200" dirty="0" smtClean="0"/>
                        <a:t>int</a:t>
                      </a:r>
                      <a:endParaRPr lang="en-US" sz="1200" dirty="0"/>
                    </a:p>
                  </a:txBody>
                  <a:tcPr/>
                </a:tc>
                <a:tc>
                  <a:txBody>
                    <a:bodyPr/>
                    <a:lstStyle/>
                    <a:p>
                      <a:r>
                        <a:rPr lang="en-IN" sz="1200" dirty="0" smtClean="0"/>
                        <a:t>10</a:t>
                      </a:r>
                      <a:endParaRPr lang="en-US" sz="1200" dirty="0"/>
                    </a:p>
                  </a:txBody>
                  <a:tcPr/>
                </a:tc>
                <a:tc>
                  <a:txBody>
                    <a:bodyPr/>
                    <a:lstStyle/>
                    <a:p>
                      <a:r>
                        <a:rPr lang="en-IN" sz="1200" dirty="0" smtClean="0"/>
                        <a:t>Not</a:t>
                      </a:r>
                      <a:r>
                        <a:rPr lang="en-IN" sz="1200" baseline="0" dirty="0" smtClean="0"/>
                        <a:t> null</a:t>
                      </a:r>
                      <a:endParaRPr lang="en-US" sz="1200" dirty="0"/>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6" name="Rectangle 5"/>
          <p:cNvSpPr/>
          <p:nvPr/>
        </p:nvSpPr>
        <p:spPr>
          <a:xfrm>
            <a:off x="1476260" y="2533880"/>
            <a:ext cx="5822154" cy="646331"/>
          </a:xfrm>
          <a:prstGeom prst="rect">
            <a:avLst/>
          </a:prstGeom>
        </p:spPr>
        <p:txBody>
          <a:bodyPr wrap="square">
            <a:spAutoFit/>
          </a:bodyPr>
          <a:lstStyle/>
          <a:p>
            <a:endParaRPr lang="en-IN" b="1" dirty="0"/>
          </a:p>
          <a:p>
            <a:endParaRPr lang="en-US" b="1" dirty="0"/>
          </a:p>
        </p:txBody>
      </p:sp>
      <p:sp>
        <p:nvSpPr>
          <p:cNvPr id="7" name="Rectangle 6"/>
          <p:cNvSpPr/>
          <p:nvPr/>
        </p:nvSpPr>
        <p:spPr>
          <a:xfrm>
            <a:off x="2181340" y="2467778"/>
            <a:ext cx="5117073" cy="646331"/>
          </a:xfrm>
          <a:prstGeom prst="rect">
            <a:avLst/>
          </a:prstGeom>
        </p:spPr>
        <p:txBody>
          <a:bodyPr wrap="square">
            <a:spAutoFit/>
          </a:bodyPr>
          <a:lstStyle/>
          <a:p>
            <a:r>
              <a:rPr lang="en-US" b="1" dirty="0"/>
              <a:t>TABLE NAME: BILLING</a:t>
            </a:r>
          </a:p>
          <a:p>
            <a:endParaRPr lang="en-US" b="1" dirty="0"/>
          </a:p>
        </p:txBody>
      </p:sp>
      <p:graphicFrame>
        <p:nvGraphicFramePr>
          <p:cNvPr id="10" name="Table 9"/>
          <p:cNvGraphicFramePr>
            <a:graphicFrameLocks noGrp="1"/>
          </p:cNvGraphicFramePr>
          <p:nvPr/>
        </p:nvGraphicFramePr>
        <p:xfrm>
          <a:off x="2175219" y="3176428"/>
          <a:ext cx="8128000" cy="3037086"/>
        </p:xfrm>
        <a:graphic>
          <a:graphicData uri="http://schemas.openxmlformats.org/drawingml/2006/table">
            <a:tbl>
              <a:tblPr firstRow="1" bandRow="1">
                <a:tableStyleId>{5940675A-B579-460E-94D1-54222C63F5DA}</a:tableStyleId>
              </a:tblPr>
              <a:tblGrid>
                <a:gridCol w="2032000"/>
                <a:gridCol w="2032000"/>
                <a:gridCol w="2032000"/>
                <a:gridCol w="2032000"/>
              </a:tblGrid>
              <a:tr h="341144">
                <a:tc>
                  <a:txBody>
                    <a:bodyPr/>
                    <a:lstStyle/>
                    <a:p>
                      <a:r>
                        <a:rPr lang="en-IN" sz="1200" dirty="0" smtClean="0"/>
                        <a:t>FIIELD</a:t>
                      </a:r>
                      <a:endParaRPr lang="en-US" sz="1200" dirty="0"/>
                    </a:p>
                  </a:txBody>
                  <a:tcPr/>
                </a:tc>
                <a:tc>
                  <a:txBody>
                    <a:bodyPr/>
                    <a:lstStyle/>
                    <a:p>
                      <a:r>
                        <a:rPr lang="en-IN" sz="1200" dirty="0" smtClean="0"/>
                        <a:t>DATA TYPE</a:t>
                      </a:r>
                      <a:endParaRPr lang="en-US" sz="1200" dirty="0"/>
                    </a:p>
                  </a:txBody>
                  <a:tcPr/>
                </a:tc>
                <a:tc>
                  <a:txBody>
                    <a:bodyPr/>
                    <a:lstStyle/>
                    <a:p>
                      <a:r>
                        <a:rPr lang="en-IN" sz="1200" dirty="0" smtClean="0"/>
                        <a:t>SIZE</a:t>
                      </a:r>
                      <a:endParaRPr lang="en-US" sz="1200" dirty="0"/>
                    </a:p>
                  </a:txBody>
                  <a:tcPr/>
                </a:tc>
                <a:tc>
                  <a:txBody>
                    <a:bodyPr/>
                    <a:lstStyle/>
                    <a:p>
                      <a:r>
                        <a:rPr lang="en-IN" sz="1200" dirty="0" smtClean="0"/>
                        <a:t>CONSTRAINT</a:t>
                      </a:r>
                      <a:endParaRPr lang="en-US" sz="1200" dirty="0"/>
                    </a:p>
                  </a:txBody>
                  <a:tcPr/>
                </a:tc>
              </a:tr>
              <a:tr h="34114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dirty="0" smtClean="0"/>
                        <a:t>Billingid</a:t>
                      </a:r>
                      <a:endParaRPr lang="en-US" sz="1200" dirty="0" smtClean="0"/>
                    </a:p>
                  </a:txBody>
                  <a:tcPr/>
                </a:tc>
                <a:tc>
                  <a:txBody>
                    <a:bodyPr/>
                    <a:lstStyle/>
                    <a:p>
                      <a:r>
                        <a:rPr lang="en-IN" sz="1200" dirty="0" smtClean="0"/>
                        <a:t>int</a:t>
                      </a:r>
                      <a:endParaRPr lang="en-US" sz="1200" dirty="0"/>
                    </a:p>
                  </a:txBody>
                  <a:tcPr/>
                </a:tc>
                <a:tc>
                  <a:txBody>
                    <a:bodyPr/>
                    <a:lstStyle/>
                    <a:p>
                      <a:r>
                        <a:rPr lang="en-IN" sz="1200" dirty="0" smtClean="0"/>
                        <a:t>10</a:t>
                      </a:r>
                      <a:endParaRPr lang="en-US" sz="1200" dirty="0"/>
                    </a:p>
                  </a:txBody>
                  <a:tcPr/>
                </a:tc>
                <a:tc>
                  <a:txBody>
                    <a:bodyPr/>
                    <a:lstStyle/>
                    <a:p>
                      <a:r>
                        <a:rPr lang="en-IN" sz="1200" dirty="0" smtClean="0"/>
                        <a:t>Primary key</a:t>
                      </a:r>
                      <a:endParaRPr lang="en-US" sz="1200" dirty="0"/>
                    </a:p>
                  </a:txBody>
                  <a:tcPr/>
                </a:tc>
              </a:tr>
              <a:tr h="341144">
                <a:tc>
                  <a:txBody>
                    <a:bodyPr/>
                    <a:lstStyle/>
                    <a:p>
                      <a:r>
                        <a:rPr lang="en-IN" sz="1200" dirty="0" smtClean="0"/>
                        <a:t>Date</a:t>
                      </a:r>
                      <a:endParaRPr lang="en-US" sz="1200" dirty="0"/>
                    </a:p>
                  </a:txBody>
                  <a:tcPr/>
                </a:tc>
                <a:tc>
                  <a:txBody>
                    <a:bodyPr/>
                    <a:lstStyle/>
                    <a:p>
                      <a:r>
                        <a:rPr lang="en-IN" sz="1200" dirty="0" smtClean="0"/>
                        <a:t>date</a:t>
                      </a:r>
                      <a:endParaRPr lang="en-US" sz="1200" dirty="0"/>
                    </a:p>
                  </a:txBody>
                  <a:tcPr/>
                </a:tc>
                <a:tc>
                  <a:txBody>
                    <a:bodyPr/>
                    <a:lstStyle/>
                    <a:p>
                      <a:r>
                        <a:rPr lang="en-IN" sz="1200" dirty="0" smtClean="0"/>
                        <a:t>10</a:t>
                      </a:r>
                      <a:endParaRPr lang="en-US" sz="1200" dirty="0"/>
                    </a:p>
                  </a:txBody>
                  <a:tcPr/>
                </a:tc>
                <a:tc>
                  <a:txBody>
                    <a:bodyPr/>
                    <a:lstStyle/>
                    <a:p>
                      <a:r>
                        <a:rPr lang="en-IN" sz="1200" dirty="0" smtClean="0"/>
                        <a:t>Not</a:t>
                      </a:r>
                      <a:r>
                        <a:rPr lang="en-IN" sz="1200" baseline="0" dirty="0" smtClean="0"/>
                        <a:t> null</a:t>
                      </a:r>
                      <a:endParaRPr lang="en-US" sz="1200" dirty="0"/>
                    </a:p>
                  </a:txBody>
                  <a:tcPr/>
                </a:tc>
              </a:tr>
              <a:tr h="341144">
                <a:tc>
                  <a:txBody>
                    <a:bodyPr/>
                    <a:lstStyle/>
                    <a:p>
                      <a:r>
                        <a:rPr lang="en-IN" sz="1200" dirty="0" smtClean="0"/>
                        <a:t>Customer</a:t>
                      </a:r>
                      <a:r>
                        <a:rPr lang="en-IN" sz="1200" baseline="0" dirty="0" smtClean="0"/>
                        <a:t> Name</a:t>
                      </a:r>
                      <a:endParaRPr lang="en-US" sz="1200" dirty="0"/>
                    </a:p>
                  </a:txBody>
                  <a:tcPr/>
                </a:tc>
                <a:tc>
                  <a:txBody>
                    <a:bodyPr/>
                    <a:lstStyle/>
                    <a:p>
                      <a:r>
                        <a:rPr lang="en-IN" sz="1200" dirty="0" smtClean="0"/>
                        <a:t>Var</a:t>
                      </a:r>
                      <a:r>
                        <a:rPr lang="en-US" sz="1200" dirty="0" smtClean="0"/>
                        <a:t>char</a:t>
                      </a:r>
                      <a:endParaRPr lang="en-IN" sz="1200" dirty="0" smtClean="0"/>
                    </a:p>
                  </a:txBody>
                  <a:tcPr/>
                </a:tc>
                <a:tc>
                  <a:txBody>
                    <a:bodyPr/>
                    <a:lstStyle/>
                    <a:p>
                      <a:r>
                        <a:rPr lang="en-IN" sz="1200" dirty="0" smtClean="0"/>
                        <a:t>10</a:t>
                      </a:r>
                      <a:endParaRPr lang="en-US" sz="1200" dirty="0"/>
                    </a:p>
                  </a:txBody>
                  <a:tcPr/>
                </a:tc>
                <a:tc>
                  <a:txBody>
                    <a:bodyPr/>
                    <a:lstStyle/>
                    <a:p>
                      <a:r>
                        <a:rPr lang="en-IN" sz="1200" dirty="0" smtClean="0"/>
                        <a:t>Foreign</a:t>
                      </a:r>
                      <a:r>
                        <a:rPr lang="en-IN" sz="1200" baseline="0" dirty="0" smtClean="0"/>
                        <a:t> key</a:t>
                      </a:r>
                      <a:endParaRPr lang="en-US" sz="1200" dirty="0"/>
                    </a:p>
                  </a:txBody>
                  <a:tcPr/>
                </a:tc>
              </a:tr>
              <a:tr h="341144">
                <a:tc>
                  <a:txBody>
                    <a:bodyPr/>
                    <a:lstStyle/>
                    <a:p>
                      <a:r>
                        <a:rPr lang="en-IN" sz="1200" dirty="0" smtClean="0"/>
                        <a:t>Company Name</a:t>
                      </a:r>
                      <a:endParaRPr lang="en-US" sz="1200" dirty="0"/>
                    </a:p>
                  </a:txBody>
                  <a:tcPr/>
                </a:tc>
                <a:tc>
                  <a:txBody>
                    <a:bodyPr/>
                    <a:lstStyle/>
                    <a:p>
                      <a:r>
                        <a:rPr lang="en-IN" sz="1200" dirty="0" smtClean="0"/>
                        <a:t>varchar</a:t>
                      </a:r>
                      <a:endParaRPr lang="en-US" sz="1200" dirty="0"/>
                    </a:p>
                  </a:txBody>
                  <a:tcPr/>
                </a:tc>
                <a:tc>
                  <a:txBody>
                    <a:bodyPr/>
                    <a:lstStyle/>
                    <a:p>
                      <a:r>
                        <a:rPr lang="en-IN" sz="1200" dirty="0" smtClean="0"/>
                        <a:t>10</a:t>
                      </a:r>
                      <a:endParaRPr lang="en-US" sz="1200" dirty="0"/>
                    </a:p>
                  </a:txBody>
                  <a:tcPr/>
                </a:tc>
                <a:tc>
                  <a:txBody>
                    <a:bodyPr/>
                    <a:lstStyle/>
                    <a:p>
                      <a:r>
                        <a:rPr lang="en-IN" sz="1200" dirty="0" smtClean="0"/>
                        <a:t>Foreign key</a:t>
                      </a:r>
                      <a:endParaRPr lang="en-US" sz="1200" dirty="0"/>
                    </a:p>
                  </a:txBody>
                  <a:tcPr/>
                </a:tc>
              </a:tr>
              <a:tr h="341144">
                <a:tc>
                  <a:txBody>
                    <a:bodyPr/>
                    <a:lstStyle/>
                    <a:p>
                      <a:r>
                        <a:rPr lang="en-IN" sz="1200" dirty="0" smtClean="0"/>
                        <a:t>Product</a:t>
                      </a:r>
                      <a:r>
                        <a:rPr lang="en-IN" sz="1200" baseline="0" dirty="0" smtClean="0"/>
                        <a:t> Name</a:t>
                      </a:r>
                      <a:endParaRPr lang="en-US" sz="1200" dirty="0"/>
                    </a:p>
                  </a:txBody>
                  <a:tcPr/>
                </a:tc>
                <a:tc>
                  <a:txBody>
                    <a:bodyPr/>
                    <a:lstStyle/>
                    <a:p>
                      <a:r>
                        <a:rPr lang="en-IN" sz="1200" dirty="0" smtClean="0"/>
                        <a:t>varchar</a:t>
                      </a:r>
                      <a:endParaRPr lang="en-US" sz="1200" dirty="0"/>
                    </a:p>
                  </a:txBody>
                  <a:tcPr/>
                </a:tc>
                <a:tc>
                  <a:txBody>
                    <a:bodyPr/>
                    <a:lstStyle/>
                    <a:p>
                      <a:r>
                        <a:rPr lang="en-IN" sz="1200" dirty="0" smtClean="0"/>
                        <a:t>10</a:t>
                      </a:r>
                      <a:endParaRPr lang="en-US" sz="1200" dirty="0"/>
                    </a:p>
                  </a:txBody>
                  <a:tcPr/>
                </a:tc>
                <a:tc>
                  <a:txBody>
                    <a:bodyPr/>
                    <a:lstStyle/>
                    <a:p>
                      <a:r>
                        <a:rPr lang="en-IN" sz="1200" dirty="0" smtClean="0"/>
                        <a:t>Foreign key</a:t>
                      </a:r>
                      <a:endParaRPr lang="en-US" sz="1200" dirty="0"/>
                    </a:p>
                  </a:txBody>
                  <a:tcPr/>
                </a:tc>
              </a:tr>
              <a:tr h="454859">
                <a:tc>
                  <a:txBody>
                    <a:bodyPr/>
                    <a:lstStyle/>
                    <a:p>
                      <a:r>
                        <a:rPr lang="en-IN" sz="1200" dirty="0" smtClean="0"/>
                        <a:t>Quantity</a:t>
                      </a:r>
                      <a:endParaRPr lang="en-US" sz="1200" dirty="0"/>
                    </a:p>
                  </a:txBody>
                  <a:tcPr/>
                </a:tc>
                <a:tc>
                  <a:txBody>
                    <a:bodyPr/>
                    <a:lstStyle/>
                    <a:p>
                      <a:r>
                        <a:rPr lang="en-IN" sz="1200" dirty="0" smtClean="0"/>
                        <a:t>int</a:t>
                      </a:r>
                      <a:endParaRPr lang="en-US" sz="1200" dirty="0"/>
                    </a:p>
                  </a:txBody>
                  <a:tcPr/>
                </a:tc>
                <a:tc>
                  <a:txBody>
                    <a:bodyPr/>
                    <a:lstStyle/>
                    <a:p>
                      <a:r>
                        <a:rPr lang="en-IN" sz="1200" dirty="0" smtClean="0"/>
                        <a:t>5</a:t>
                      </a:r>
                      <a:endParaRPr lang="en-US" sz="1200" dirty="0"/>
                    </a:p>
                  </a:txBody>
                  <a:tcPr/>
                </a:tc>
                <a:tc>
                  <a:txBody>
                    <a:bodyPr/>
                    <a:lstStyle/>
                    <a:p>
                      <a:r>
                        <a:rPr lang="en-IN" sz="1200" dirty="0" smtClean="0"/>
                        <a:t>Not null</a:t>
                      </a:r>
                      <a:endParaRPr lang="en-US" sz="1200" dirty="0"/>
                    </a:p>
                  </a:txBody>
                  <a:tcPr/>
                </a:tc>
              </a:tr>
              <a:tr h="535363">
                <a:tc>
                  <a:txBody>
                    <a:bodyPr/>
                    <a:lstStyle/>
                    <a:p>
                      <a:r>
                        <a:rPr lang="en-IN" sz="1200" dirty="0" smtClean="0"/>
                        <a:t>price</a:t>
                      </a:r>
                      <a:endParaRPr lang="en-US" sz="1200" dirty="0"/>
                    </a:p>
                  </a:txBody>
                  <a:tcPr/>
                </a:tc>
                <a:tc>
                  <a:txBody>
                    <a:bodyPr/>
                    <a:lstStyle/>
                    <a:p>
                      <a:r>
                        <a:rPr lang="en-IN" sz="1200" dirty="0" smtClean="0"/>
                        <a:t>int</a:t>
                      </a:r>
                      <a:endParaRPr lang="en-US" sz="1200" dirty="0"/>
                    </a:p>
                  </a:txBody>
                  <a:tcPr/>
                </a:tc>
                <a:tc>
                  <a:txBody>
                    <a:bodyPr/>
                    <a:lstStyle/>
                    <a:p>
                      <a:r>
                        <a:rPr lang="en-IN" sz="1200" dirty="0" smtClean="0"/>
                        <a:t>10</a:t>
                      </a:r>
                      <a:endParaRPr lang="en-US" sz="1200" dirty="0"/>
                    </a:p>
                  </a:txBody>
                  <a:tcPr/>
                </a:tc>
                <a:tc>
                  <a:txBody>
                    <a:bodyPr/>
                    <a:lstStyle/>
                    <a:p>
                      <a:r>
                        <a:rPr lang="en-IN" sz="1200" dirty="0" smtClean="0"/>
                        <a:t>Not</a:t>
                      </a:r>
                      <a:r>
                        <a:rPr lang="en-IN" sz="1200" baseline="0" dirty="0" smtClean="0"/>
                        <a:t> null</a:t>
                      </a:r>
                      <a:endParaRPr lang="en-US" sz="1200" dirty="0"/>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A4659AB7-0DC0-414D-9AC7-7A9642C6A01C}"/>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679806" y="2555913"/>
            <a:ext cx="10220486" cy="4032174"/>
          </a:xfrm>
        </p:spPr>
      </p:pic>
      <p:sp>
        <p:nvSpPr>
          <p:cNvPr id="3" name="Title 1">
            <a:extLst>
              <a:ext uri="{FF2B5EF4-FFF2-40B4-BE49-F238E27FC236}">
                <a16:creationId xmlns:lc="http://schemas.openxmlformats.org/drawingml/2006/lockedCanvas" xmlns:a16="http://schemas.microsoft.com/office/drawing/2014/main" xmlns="" id="{892D31D7-879D-48CE-A135-4AE7D04BF5EF}"/>
              </a:ext>
            </a:extLst>
          </p:cNvPr>
          <p:cNvSpPr>
            <a:spLocks noGrp="1"/>
          </p:cNvSpPr>
          <p:nvPr/>
        </p:nvSpPr>
        <p:spPr bwMode="gray">
          <a:xfrm>
            <a:off x="1715293" y="3075518"/>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4" name="Title 1">
            <a:extLst>
              <a:ext uri="{FF2B5EF4-FFF2-40B4-BE49-F238E27FC236}">
                <a16:creationId xmlns:lc="http://schemas.openxmlformats.org/drawingml/2006/lockedCanvas" xmlns:a16="http://schemas.microsoft.com/office/drawing/2014/main" xmlns="" id="{892D31D7-879D-48CE-A135-4AE7D04BF5EF}"/>
              </a:ext>
            </a:extLst>
          </p:cNvPr>
          <p:cNvSpPr>
            <a:spLocks noGrp="1"/>
          </p:cNvSpPr>
          <p:nvPr/>
        </p:nvSpPr>
        <p:spPr bwMode="gray">
          <a:xfrm>
            <a:off x="1867693" y="804231"/>
            <a:ext cx="8761413" cy="1046603"/>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smtClean="0"/>
              <a:t>FORM    DESIGN</a:t>
            </a:r>
            <a:endParaRPr lang="en-US" dirty="0"/>
          </a:p>
        </p:txBody>
      </p:sp>
    </p:spTree>
    <p:extLst>
      <p:ext uri="{BB962C8B-B14F-4D97-AF65-F5344CB8AC3E}">
        <p14:creationId xmlns:p14="http://schemas.microsoft.com/office/powerpoint/2010/main" xmlns="" val="2417851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173A8726-132B-47C5-8C41-6162707071DC}"/>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493123" y="2379642"/>
            <a:ext cx="10543923" cy="4076241"/>
          </a:xfrm>
        </p:spPr>
      </p:pic>
    </p:spTree>
    <p:extLst>
      <p:ext uri="{BB962C8B-B14F-4D97-AF65-F5344CB8AC3E}">
        <p14:creationId xmlns:p14="http://schemas.microsoft.com/office/powerpoint/2010/main" xmlns="" val="1720294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78C2102E-8119-4452-9805-9DEBE217EF22}"/>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331841" y="2522863"/>
            <a:ext cx="11276955" cy="4033498"/>
          </a:xfrm>
        </p:spPr>
      </p:pic>
    </p:spTree>
    <p:extLst>
      <p:ext uri="{BB962C8B-B14F-4D97-AF65-F5344CB8AC3E}">
        <p14:creationId xmlns:p14="http://schemas.microsoft.com/office/powerpoint/2010/main" xmlns="" val="1635150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75B125CC-5A1E-4981-9925-3020C81E3EC3}"/>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606292" y="2401677"/>
            <a:ext cx="10747491" cy="4456324"/>
          </a:xfrm>
        </p:spPr>
      </p:pic>
    </p:spTree>
    <p:extLst>
      <p:ext uri="{BB962C8B-B14F-4D97-AF65-F5344CB8AC3E}">
        <p14:creationId xmlns:p14="http://schemas.microsoft.com/office/powerpoint/2010/main" xmlns="" val="4235704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CC3B40C2-44A5-4EE1-859C-F8823526ACD3}"/>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417715" y="2324559"/>
            <a:ext cx="10947947" cy="4109291"/>
          </a:xfrm>
        </p:spPr>
      </p:pic>
    </p:spTree>
    <p:extLst>
      <p:ext uri="{BB962C8B-B14F-4D97-AF65-F5344CB8AC3E}">
        <p14:creationId xmlns:p14="http://schemas.microsoft.com/office/powerpoint/2010/main" xmlns="" val="125545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B05A6F62-6A3B-4584-894F-763B3A9AE747}"/>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334281" y="2644048"/>
            <a:ext cx="11386409" cy="4010139"/>
          </a:xfrm>
        </p:spPr>
      </p:pic>
    </p:spTree>
    <p:extLst>
      <p:ext uri="{BB962C8B-B14F-4D97-AF65-F5344CB8AC3E}">
        <p14:creationId xmlns:p14="http://schemas.microsoft.com/office/powerpoint/2010/main" xmlns="" val="10007643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260</TotalTime>
  <Words>628</Words>
  <Application>Microsoft Office PowerPoint</Application>
  <PresentationFormat>Custom</PresentationFormat>
  <Paragraphs>229</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Ion Boardroom</vt:lpstr>
      <vt:lpstr>GRANITE SHOP MANAGEMENT SYSTEM</vt:lpstr>
      <vt:lpstr>ABSTRACT</vt:lpstr>
      <vt:lpstr> HARDWARE SPECFICATION</vt:lpstr>
      <vt:lpstr> SOFTWARE SPECIFICATION </vt:lpstr>
      <vt:lpstr>EXISTING SYSTEM</vt:lpstr>
      <vt:lpstr>PROPOSED SYSTEM</vt:lpstr>
      <vt:lpstr>Modules</vt:lpstr>
      <vt:lpstr>Slide 8</vt:lpstr>
      <vt:lpstr>Slide 9</vt:lpstr>
      <vt:lpstr>Data Flow Diagram</vt:lpstr>
      <vt:lpstr>Level 1:</vt:lpstr>
      <vt:lpstr> </vt:lpstr>
      <vt:lpstr>     TABLE NAME: CUSTOMER </vt:lpstr>
      <vt:lpstr>TABLE NAME:PRODUCT</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ELCOT</cp:lastModifiedBy>
  <cp:revision>68</cp:revision>
  <dcterms:created xsi:type="dcterms:W3CDTF">2021-01-26T14:06:30Z</dcterms:created>
  <dcterms:modified xsi:type="dcterms:W3CDTF">2021-02-20T10:03:39Z</dcterms:modified>
</cp:coreProperties>
</file>